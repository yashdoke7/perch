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3" r:id="rId1"/>
  </p:sldMasterIdLst>
  <p:notesMasterIdLst>
    <p:notesMasterId r:id="rId28"/>
  </p:notes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7"/>
    <p:sldId id="278" r:id="rId6"/>
    <p:sldId id="279" r:id="rId5"/>
    <p:sldId id="280" r:id="rId4"/>
    <p:sldId id="281" r:id="rId3"/>
    <p:sldId id="282" r:id="rId33"/>
    <p:sldId id="283" r:id="rId34"/>
    <p:sldId id="284" r:id="rId35"/>
  </p:sldIdLst>
  <p:sldSz cx="4610100" cy="3460750"/>
  <p:notesSz cx="4610100" cy="346075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74D2197-0E76-4BC1-8782-7AAC463DF250}">
  <a:tblStyle styleId="{D74D2197-0E76-4BC1-8782-7AAC463DF25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218" autoAdjust="0"/>
    <p:restoredTop sz="94660"/>
  </p:normalViewPr>
  <p:slideViewPr>
    <p:cSldViewPr snapToGrid="0">
      <p:cViewPr varScale="1">
        <p:scale>
          <a:sx n="215" d="100"/>
          <a:sy n="215" d="100"/>
        </p:scale>
        <p:origin x="1264" y="104"/>
      </p:cViewPr>
      <p:guideLst>
        <p:guide orient="horz" pos="288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6.xml"/><Relationship Id="rId4" Type="http://schemas.openxmlformats.org/officeDocument/2006/relationships/slide" Target="slides/slide25.xml"/><Relationship Id="rId5" Type="http://schemas.openxmlformats.org/officeDocument/2006/relationships/slide" Target="slides/slide24.xml"/><Relationship Id="rId6" Type="http://schemas.openxmlformats.org/officeDocument/2006/relationships/slide" Target="slides/slide23.xml"/><Relationship Id="rId7" Type="http://schemas.openxmlformats.org/officeDocument/2006/relationships/slide" Target="slides/slide22.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768500" y="259550"/>
            <a:ext cx="3073550" cy="129777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461000" y="1643850"/>
            <a:ext cx="3688075" cy="1557325"/>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
        <p:cNvGrpSpPr/>
        <p:nvPr/>
      </p:nvGrpSpPr>
      <p:grpSpPr>
        <a:xfrm>
          <a:off x="0" y="0"/>
          <a:ext cx="0" cy="0"/>
          <a:chOff x="0" y="0"/>
          <a:chExt cx="0" cy="0"/>
        </a:xfrm>
      </p:grpSpPr>
      <p:sp>
        <p:nvSpPr>
          <p:cNvPr id="55" name="Google Shape;55;p1:notes"/>
          <p:cNvSpPr txBox="1">
            <a:spLocks noGrp="1"/>
          </p:cNvSpPr>
          <p:nvPr>
            <p:ph type="body" idx="1"/>
          </p:nvPr>
        </p:nvSpPr>
        <p:spPr>
          <a:xfrm>
            <a:off x="461000" y="1643850"/>
            <a:ext cx="3688075" cy="155732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6" name="Google Shape;56;p1:notes"/>
          <p:cNvSpPr>
            <a:spLocks noGrp="1" noRot="1" noChangeAspect="1"/>
          </p:cNvSpPr>
          <p:nvPr>
            <p:ph type="sldImg" idx="2"/>
          </p:nvPr>
        </p:nvSpPr>
        <p:spPr>
          <a:xfrm>
            <a:off x="1439863" y="258763"/>
            <a:ext cx="1730375" cy="1298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6"/>
        <p:cNvGrpSpPr/>
        <p:nvPr/>
      </p:nvGrpSpPr>
      <p:grpSpPr>
        <a:xfrm>
          <a:off x="0" y="0"/>
          <a:ext cx="0" cy="0"/>
          <a:chOff x="0" y="0"/>
          <a:chExt cx="0" cy="0"/>
        </a:xfrm>
      </p:grpSpPr>
      <p:sp>
        <p:nvSpPr>
          <p:cNvPr id="27" name="Google Shape;27;p2"/>
          <p:cNvSpPr txBox="1">
            <a:spLocks noGrp="1"/>
          </p:cNvSpPr>
          <p:nvPr>
            <p:ph type="title"/>
          </p:nvPr>
        </p:nvSpPr>
        <p:spPr>
          <a:xfrm>
            <a:off x="95300" y="45565"/>
            <a:ext cx="1210945" cy="2444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4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 name="Google Shape;28;p2"/>
          <p:cNvSpPr txBox="1">
            <a:spLocks noGrp="1"/>
          </p:cNvSpPr>
          <p:nvPr>
            <p:ph type="body" idx="1"/>
          </p:nvPr>
        </p:nvSpPr>
        <p:spPr>
          <a:xfrm>
            <a:off x="402932" y="654391"/>
            <a:ext cx="4079240" cy="223647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sz="1100" b="0" i="0">
                <a:solidFill>
                  <a:schemeClr val="dk1"/>
                </a:solidFill>
                <a:latin typeface="Arial"/>
                <a:ea typeface="Arial"/>
                <a:cs typeface="Arial"/>
                <a:sym typeface="Arial"/>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9" name="Google Shape;29;p2"/>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2"/>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32"/>
        <p:cNvGrpSpPr/>
        <p:nvPr/>
      </p:nvGrpSpPr>
      <p:grpSpPr>
        <a:xfrm>
          <a:off x="0" y="0"/>
          <a:ext cx="0" cy="0"/>
          <a:chOff x="0" y="0"/>
          <a:chExt cx="0" cy="0"/>
        </a:xfrm>
      </p:grpSpPr>
      <p:sp>
        <p:nvSpPr>
          <p:cNvPr id="33" name="Google Shape;33;p3"/>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 name="Google Shape;34;p3"/>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3"/>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36"/>
        <p:cNvGrpSpPr/>
        <p:nvPr/>
      </p:nvGrpSpPr>
      <p:grpSpPr>
        <a:xfrm>
          <a:off x="0" y="0"/>
          <a:ext cx="0" cy="0"/>
          <a:chOff x="0" y="0"/>
          <a:chExt cx="0" cy="0"/>
        </a:xfrm>
      </p:grpSpPr>
      <p:sp>
        <p:nvSpPr>
          <p:cNvPr id="37" name="Google Shape;37;p4"/>
          <p:cNvSpPr txBox="1">
            <a:spLocks noGrp="1"/>
          </p:cNvSpPr>
          <p:nvPr>
            <p:ph type="ctrTitle"/>
          </p:nvPr>
        </p:nvSpPr>
        <p:spPr>
          <a:xfrm>
            <a:off x="345757" y="1072832"/>
            <a:ext cx="3918585" cy="726757"/>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4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4"/>
          <p:cNvSpPr txBox="1">
            <a:spLocks noGrp="1"/>
          </p:cNvSpPr>
          <p:nvPr>
            <p:ph type="subTitle" idx="1"/>
          </p:nvPr>
        </p:nvSpPr>
        <p:spPr>
          <a:xfrm>
            <a:off x="691515" y="1938020"/>
            <a:ext cx="3227070" cy="865187"/>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100" b="0" i="0">
                <a:solidFill>
                  <a:schemeClr val="dk1"/>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4"/>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0" name="Google Shape;40;p4"/>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1" name="Google Shape;41;p4"/>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42"/>
        <p:cNvGrpSpPr/>
        <p:nvPr/>
      </p:nvGrpSpPr>
      <p:grpSpPr>
        <a:xfrm>
          <a:off x="0" y="0"/>
          <a:ext cx="0" cy="0"/>
          <a:chOff x="0" y="0"/>
          <a:chExt cx="0" cy="0"/>
        </a:xfrm>
      </p:grpSpPr>
      <p:sp>
        <p:nvSpPr>
          <p:cNvPr id="43" name="Google Shape;43;p5"/>
          <p:cNvSpPr txBox="1">
            <a:spLocks noGrp="1"/>
          </p:cNvSpPr>
          <p:nvPr>
            <p:ph type="title"/>
          </p:nvPr>
        </p:nvSpPr>
        <p:spPr>
          <a:xfrm>
            <a:off x="95300" y="45565"/>
            <a:ext cx="1210945" cy="2444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4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5"/>
          <p:cNvSpPr txBox="1">
            <a:spLocks noGrp="1"/>
          </p:cNvSpPr>
          <p:nvPr>
            <p:ph type="body" idx="1"/>
          </p:nvPr>
        </p:nvSpPr>
        <p:spPr>
          <a:xfrm>
            <a:off x="230505" y="795972"/>
            <a:ext cx="2005393" cy="2284095"/>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5" name="Google Shape;45;p5"/>
          <p:cNvSpPr txBox="1">
            <a:spLocks noGrp="1"/>
          </p:cNvSpPr>
          <p:nvPr>
            <p:ph type="body" idx="2"/>
          </p:nvPr>
        </p:nvSpPr>
        <p:spPr>
          <a:xfrm>
            <a:off x="2374201" y="795972"/>
            <a:ext cx="2005393" cy="2284095"/>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6" name="Google Shape;46;p5"/>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5"/>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8" name="Google Shape;48;p5"/>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49"/>
        <p:cNvGrpSpPr/>
        <p:nvPr/>
      </p:nvGrpSpPr>
      <p:grpSpPr>
        <a:xfrm>
          <a:off x="0" y="0"/>
          <a:ext cx="0" cy="0"/>
          <a:chOff x="0" y="0"/>
          <a:chExt cx="0" cy="0"/>
        </a:xfrm>
      </p:grpSpPr>
      <p:sp>
        <p:nvSpPr>
          <p:cNvPr id="50" name="Google Shape;50;p6"/>
          <p:cNvSpPr txBox="1">
            <a:spLocks noGrp="1"/>
          </p:cNvSpPr>
          <p:nvPr>
            <p:ph type="title"/>
          </p:nvPr>
        </p:nvSpPr>
        <p:spPr>
          <a:xfrm>
            <a:off x="95300" y="45565"/>
            <a:ext cx="1210945" cy="2444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4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6"/>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2" name="Google Shape;52;p6"/>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 name="Google Shape;53;p6"/>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p:nvPr/>
        </p:nvSpPr>
        <p:spPr>
          <a:xfrm>
            <a:off x="3088361" y="3242195"/>
            <a:ext cx="43180" cy="30480"/>
          </a:xfrm>
          <a:custGeom>
            <a:avLst/>
            <a:gdLst/>
            <a:ahLst/>
            <a:cxnLst/>
            <a:rect l="l" t="t" r="r" b="b"/>
            <a:pathLst>
              <a:path w="43180" h="30479" extrusionOk="0">
                <a:moveTo>
                  <a:pt x="0" y="30366"/>
                </a:moveTo>
                <a:lnTo>
                  <a:pt x="43019" y="30366"/>
                </a:lnTo>
                <a:lnTo>
                  <a:pt x="43019" y="0"/>
                </a:lnTo>
                <a:lnTo>
                  <a:pt x="0" y="0"/>
                </a:lnTo>
                <a:lnTo>
                  <a:pt x="0" y="30366"/>
                </a:lnTo>
                <a:close/>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7" name="Google Shape;7;p1"/>
          <p:cNvSpPr/>
          <p:nvPr/>
        </p:nvSpPr>
        <p:spPr>
          <a:xfrm>
            <a:off x="3008744" y="3238232"/>
            <a:ext cx="25400" cy="38100"/>
          </a:xfrm>
          <a:custGeom>
            <a:avLst/>
            <a:gdLst/>
            <a:ahLst/>
            <a:cxnLst/>
            <a:rect l="l" t="t" r="r" b="b"/>
            <a:pathLst>
              <a:path w="25400" h="38100" extrusionOk="0">
                <a:moveTo>
                  <a:pt x="25400" y="0"/>
                </a:moveTo>
                <a:lnTo>
                  <a:pt x="0" y="19050"/>
                </a:lnTo>
                <a:lnTo>
                  <a:pt x="25400" y="38100"/>
                </a:lnTo>
                <a:lnTo>
                  <a:pt x="25400"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 name="Google Shape;8;p1"/>
          <p:cNvSpPr/>
          <p:nvPr/>
        </p:nvSpPr>
        <p:spPr>
          <a:xfrm>
            <a:off x="3186546" y="3238232"/>
            <a:ext cx="25400" cy="38100"/>
          </a:xfrm>
          <a:custGeom>
            <a:avLst/>
            <a:gdLst/>
            <a:ahLst/>
            <a:cxnLst/>
            <a:rect l="l" t="t" r="r" b="b"/>
            <a:pathLst>
              <a:path w="25400" h="38100" extrusionOk="0">
                <a:moveTo>
                  <a:pt x="0" y="0"/>
                </a:moveTo>
                <a:lnTo>
                  <a:pt x="0" y="38100"/>
                </a:lnTo>
                <a:lnTo>
                  <a:pt x="25400" y="19050"/>
                </a:lnTo>
                <a:lnTo>
                  <a:pt x="0"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 name="Google Shape;9;p1"/>
          <p:cNvSpPr/>
          <p:nvPr/>
        </p:nvSpPr>
        <p:spPr>
          <a:xfrm>
            <a:off x="3339032" y="3231882"/>
            <a:ext cx="64135" cy="50800"/>
          </a:xfrm>
          <a:custGeom>
            <a:avLst/>
            <a:gdLst/>
            <a:ahLst/>
            <a:cxnLst/>
            <a:rect l="l" t="t" r="r" b="b"/>
            <a:pathLst>
              <a:path w="64135" h="50800" extrusionOk="0">
                <a:moveTo>
                  <a:pt x="0" y="50800"/>
                </a:moveTo>
                <a:lnTo>
                  <a:pt x="43019" y="50800"/>
                </a:lnTo>
                <a:lnTo>
                  <a:pt x="43019" y="20434"/>
                </a:lnTo>
                <a:lnTo>
                  <a:pt x="0" y="20434"/>
                </a:lnTo>
                <a:lnTo>
                  <a:pt x="0" y="50800"/>
                </a:lnTo>
                <a:close/>
              </a:path>
              <a:path w="64135" h="50800" extrusionOk="0">
                <a:moveTo>
                  <a:pt x="10491" y="20320"/>
                </a:moveTo>
                <a:lnTo>
                  <a:pt x="10491" y="10160"/>
                </a:lnTo>
                <a:lnTo>
                  <a:pt x="53672" y="10160"/>
                </a:lnTo>
                <a:lnTo>
                  <a:pt x="53672" y="40640"/>
                </a:lnTo>
                <a:lnTo>
                  <a:pt x="43512" y="40640"/>
                </a:lnTo>
              </a:path>
              <a:path w="64135" h="50800" extrusionOk="0">
                <a:moveTo>
                  <a:pt x="20652" y="10160"/>
                </a:moveTo>
                <a:lnTo>
                  <a:pt x="20652" y="0"/>
                </a:lnTo>
                <a:lnTo>
                  <a:pt x="63832" y="0"/>
                </a:lnTo>
                <a:lnTo>
                  <a:pt x="63832" y="30480"/>
                </a:lnTo>
                <a:lnTo>
                  <a:pt x="53672" y="3048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0" name="Google Shape;10;p1"/>
          <p:cNvSpPr/>
          <p:nvPr/>
        </p:nvSpPr>
        <p:spPr>
          <a:xfrm>
            <a:off x="3275863" y="3238233"/>
            <a:ext cx="203200" cy="38100"/>
          </a:xfrm>
          <a:custGeom>
            <a:avLst/>
            <a:gdLst/>
            <a:ahLst/>
            <a:cxnLst/>
            <a:rect l="l" t="t" r="r" b="b"/>
            <a:pathLst>
              <a:path w="203200" h="38100" extrusionOk="0">
                <a:moveTo>
                  <a:pt x="25400" y="0"/>
                </a:moveTo>
                <a:lnTo>
                  <a:pt x="0" y="19050"/>
                </a:lnTo>
                <a:lnTo>
                  <a:pt x="25400" y="38100"/>
                </a:lnTo>
                <a:lnTo>
                  <a:pt x="25400" y="0"/>
                </a:lnTo>
                <a:close/>
              </a:path>
              <a:path w="203200" h="38100" extrusionOk="0">
                <a:moveTo>
                  <a:pt x="177802" y="0"/>
                </a:moveTo>
                <a:lnTo>
                  <a:pt x="177802" y="38100"/>
                </a:lnTo>
                <a:lnTo>
                  <a:pt x="203202" y="19050"/>
                </a:lnTo>
                <a:lnTo>
                  <a:pt x="177802"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1" name="Google Shape;11;p1"/>
          <p:cNvSpPr/>
          <p:nvPr/>
        </p:nvSpPr>
        <p:spPr>
          <a:xfrm>
            <a:off x="3631883" y="3244583"/>
            <a:ext cx="38100" cy="0"/>
          </a:xfrm>
          <a:custGeom>
            <a:avLst/>
            <a:gdLst/>
            <a:ahLst/>
            <a:cxnLst/>
            <a:rect l="l" t="t" r="r" b="b"/>
            <a:pathLst>
              <a:path w="38100" h="120000" extrusionOk="0">
                <a:moveTo>
                  <a:pt x="0" y="0"/>
                </a:moveTo>
                <a:lnTo>
                  <a:pt x="38100" y="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2" name="Google Shape;12;p1"/>
          <p:cNvSpPr/>
          <p:nvPr/>
        </p:nvSpPr>
        <p:spPr>
          <a:xfrm>
            <a:off x="3542982" y="3238233"/>
            <a:ext cx="203200" cy="38100"/>
          </a:xfrm>
          <a:custGeom>
            <a:avLst/>
            <a:gdLst/>
            <a:ahLst/>
            <a:cxnLst/>
            <a:rect l="l" t="t" r="r" b="b"/>
            <a:pathLst>
              <a:path w="203200" h="38100" extrusionOk="0">
                <a:moveTo>
                  <a:pt x="25400" y="0"/>
                </a:moveTo>
                <a:lnTo>
                  <a:pt x="0" y="19050"/>
                </a:lnTo>
                <a:lnTo>
                  <a:pt x="25400" y="38100"/>
                </a:lnTo>
                <a:lnTo>
                  <a:pt x="25400" y="0"/>
                </a:lnTo>
                <a:close/>
              </a:path>
              <a:path w="203200" h="38100" extrusionOk="0">
                <a:moveTo>
                  <a:pt x="177802" y="0"/>
                </a:moveTo>
                <a:lnTo>
                  <a:pt x="177802" y="38100"/>
                </a:lnTo>
                <a:lnTo>
                  <a:pt x="203202" y="19050"/>
                </a:lnTo>
                <a:lnTo>
                  <a:pt x="177802"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3" name="Google Shape;13;p1"/>
          <p:cNvSpPr/>
          <p:nvPr/>
        </p:nvSpPr>
        <p:spPr>
          <a:xfrm>
            <a:off x="3619183" y="3231882"/>
            <a:ext cx="50800" cy="50800"/>
          </a:xfrm>
          <a:custGeom>
            <a:avLst/>
            <a:gdLst/>
            <a:ahLst/>
            <a:cxnLst/>
            <a:rect l="l" t="t" r="r" b="b"/>
            <a:pathLst>
              <a:path w="50800" h="50800" extrusionOk="0">
                <a:moveTo>
                  <a:pt x="0" y="0"/>
                </a:moveTo>
                <a:lnTo>
                  <a:pt x="38100" y="0"/>
                </a:lnTo>
              </a:path>
              <a:path w="50800" h="50800" extrusionOk="0">
                <a:moveTo>
                  <a:pt x="12700" y="25400"/>
                </a:moveTo>
                <a:lnTo>
                  <a:pt x="50800" y="25400"/>
                </a:lnTo>
              </a:path>
              <a:path w="50800" h="50800" extrusionOk="0">
                <a:moveTo>
                  <a:pt x="0" y="38100"/>
                </a:moveTo>
                <a:lnTo>
                  <a:pt x="38100" y="38100"/>
                </a:lnTo>
              </a:path>
              <a:path w="50800" h="50800" extrusionOk="0">
                <a:moveTo>
                  <a:pt x="12700" y="50800"/>
                </a:moveTo>
                <a:lnTo>
                  <a:pt x="50800" y="50800"/>
                </a:lnTo>
              </a:path>
            </a:pathLst>
          </a:custGeom>
          <a:noFill/>
          <a:ln w="9525" cap="flat" cmpd="sng">
            <a:solidFill>
              <a:srgbClr val="D6D6E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4" name="Google Shape;14;p1"/>
          <p:cNvSpPr/>
          <p:nvPr/>
        </p:nvSpPr>
        <p:spPr>
          <a:xfrm>
            <a:off x="3886302" y="3231882"/>
            <a:ext cx="50800" cy="25400"/>
          </a:xfrm>
          <a:custGeom>
            <a:avLst/>
            <a:gdLst/>
            <a:ahLst/>
            <a:cxnLst/>
            <a:rect l="l" t="t" r="r" b="b"/>
            <a:pathLst>
              <a:path w="50800" h="25400" extrusionOk="0">
                <a:moveTo>
                  <a:pt x="0" y="0"/>
                </a:moveTo>
                <a:lnTo>
                  <a:pt x="38100" y="0"/>
                </a:lnTo>
              </a:path>
              <a:path w="50800" h="25400" extrusionOk="0">
                <a:moveTo>
                  <a:pt x="12700" y="12700"/>
                </a:moveTo>
                <a:lnTo>
                  <a:pt x="50800" y="12700"/>
                </a:lnTo>
              </a:path>
              <a:path w="50800" h="25400" extrusionOk="0">
                <a:moveTo>
                  <a:pt x="12700" y="25400"/>
                </a:moveTo>
                <a:lnTo>
                  <a:pt x="50800" y="2540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5" name="Google Shape;15;p1"/>
          <p:cNvSpPr/>
          <p:nvPr/>
        </p:nvSpPr>
        <p:spPr>
          <a:xfrm>
            <a:off x="3810101" y="3238233"/>
            <a:ext cx="203200" cy="38100"/>
          </a:xfrm>
          <a:custGeom>
            <a:avLst/>
            <a:gdLst/>
            <a:ahLst/>
            <a:cxnLst/>
            <a:rect l="l" t="t" r="r" b="b"/>
            <a:pathLst>
              <a:path w="203200" h="38100" extrusionOk="0">
                <a:moveTo>
                  <a:pt x="25400" y="0"/>
                </a:moveTo>
                <a:lnTo>
                  <a:pt x="0" y="19050"/>
                </a:lnTo>
                <a:lnTo>
                  <a:pt x="25400" y="38100"/>
                </a:lnTo>
                <a:lnTo>
                  <a:pt x="25400" y="0"/>
                </a:lnTo>
                <a:close/>
              </a:path>
              <a:path w="203200" h="38100" extrusionOk="0">
                <a:moveTo>
                  <a:pt x="177802" y="0"/>
                </a:moveTo>
                <a:lnTo>
                  <a:pt x="177802" y="38100"/>
                </a:lnTo>
                <a:lnTo>
                  <a:pt x="203202" y="19050"/>
                </a:lnTo>
                <a:lnTo>
                  <a:pt x="177802"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6" name="Google Shape;16;p1"/>
          <p:cNvSpPr/>
          <p:nvPr/>
        </p:nvSpPr>
        <p:spPr>
          <a:xfrm>
            <a:off x="3886302" y="3269983"/>
            <a:ext cx="50800" cy="12700"/>
          </a:xfrm>
          <a:custGeom>
            <a:avLst/>
            <a:gdLst/>
            <a:ahLst/>
            <a:cxnLst/>
            <a:rect l="l" t="t" r="r" b="b"/>
            <a:pathLst>
              <a:path w="50800" h="12700" extrusionOk="0">
                <a:moveTo>
                  <a:pt x="0" y="0"/>
                </a:moveTo>
                <a:lnTo>
                  <a:pt x="38100" y="0"/>
                </a:lnTo>
              </a:path>
              <a:path w="50800" h="12700" extrusionOk="0">
                <a:moveTo>
                  <a:pt x="12700" y="12699"/>
                </a:moveTo>
                <a:lnTo>
                  <a:pt x="50800" y="12699"/>
                </a:lnTo>
              </a:path>
            </a:pathLst>
          </a:custGeom>
          <a:noFill/>
          <a:ln w="9525" cap="flat" cmpd="sng">
            <a:solidFill>
              <a:srgbClr val="D6D6E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7" name="Google Shape;17;p1"/>
          <p:cNvSpPr/>
          <p:nvPr/>
        </p:nvSpPr>
        <p:spPr>
          <a:xfrm>
            <a:off x="4153434" y="3231882"/>
            <a:ext cx="50800" cy="50800"/>
          </a:xfrm>
          <a:custGeom>
            <a:avLst/>
            <a:gdLst/>
            <a:ahLst/>
            <a:cxnLst/>
            <a:rect l="l" t="t" r="r" b="b"/>
            <a:pathLst>
              <a:path w="50800" h="50800" extrusionOk="0">
                <a:moveTo>
                  <a:pt x="0" y="0"/>
                </a:moveTo>
                <a:lnTo>
                  <a:pt x="38100" y="0"/>
                </a:lnTo>
              </a:path>
              <a:path w="50800" h="50800" extrusionOk="0">
                <a:moveTo>
                  <a:pt x="12700" y="12700"/>
                </a:moveTo>
                <a:lnTo>
                  <a:pt x="50800" y="12700"/>
                </a:lnTo>
              </a:path>
              <a:path w="50800" h="50800" extrusionOk="0">
                <a:moveTo>
                  <a:pt x="12700" y="25400"/>
                </a:moveTo>
                <a:lnTo>
                  <a:pt x="50800" y="25400"/>
                </a:lnTo>
              </a:path>
              <a:path w="50800" h="50800" extrusionOk="0">
                <a:moveTo>
                  <a:pt x="0" y="38100"/>
                </a:moveTo>
                <a:lnTo>
                  <a:pt x="38100" y="38100"/>
                </a:lnTo>
              </a:path>
              <a:path w="50800" h="50800" extrusionOk="0">
                <a:moveTo>
                  <a:pt x="12700" y="50800"/>
                </a:moveTo>
                <a:lnTo>
                  <a:pt x="50800" y="5080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8" name="Google Shape;18;p1"/>
          <p:cNvSpPr/>
          <p:nvPr/>
        </p:nvSpPr>
        <p:spPr>
          <a:xfrm>
            <a:off x="4451033" y="3262363"/>
            <a:ext cx="20320" cy="20320"/>
          </a:xfrm>
          <a:custGeom>
            <a:avLst/>
            <a:gdLst/>
            <a:ahLst/>
            <a:cxnLst/>
            <a:rect l="l" t="t" r="r" b="b"/>
            <a:pathLst>
              <a:path w="20320" h="20320" extrusionOk="0">
                <a:moveTo>
                  <a:pt x="0" y="0"/>
                </a:moveTo>
                <a:lnTo>
                  <a:pt x="20320" y="2032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9" name="Google Shape;19;p1"/>
          <p:cNvSpPr/>
          <p:nvPr/>
        </p:nvSpPr>
        <p:spPr>
          <a:xfrm>
            <a:off x="4423969" y="3235868"/>
            <a:ext cx="30480" cy="30480"/>
          </a:xfrm>
          <a:custGeom>
            <a:avLst/>
            <a:gdLst/>
            <a:ahLst/>
            <a:cxnLst/>
            <a:rect l="l" t="t" r="r" b="b"/>
            <a:pathLst>
              <a:path w="30479" h="30479" extrusionOk="0">
                <a:moveTo>
                  <a:pt x="30366" y="15183"/>
                </a:moveTo>
                <a:lnTo>
                  <a:pt x="30366" y="6797"/>
                </a:lnTo>
                <a:lnTo>
                  <a:pt x="23568" y="0"/>
                </a:lnTo>
                <a:lnTo>
                  <a:pt x="15183" y="0"/>
                </a:lnTo>
                <a:lnTo>
                  <a:pt x="6797" y="0"/>
                </a:lnTo>
                <a:lnTo>
                  <a:pt x="0" y="6797"/>
                </a:lnTo>
                <a:lnTo>
                  <a:pt x="0" y="15183"/>
                </a:lnTo>
                <a:lnTo>
                  <a:pt x="0" y="23568"/>
                </a:lnTo>
                <a:lnTo>
                  <a:pt x="6797" y="30366"/>
                </a:lnTo>
                <a:lnTo>
                  <a:pt x="15183" y="30366"/>
                </a:lnTo>
                <a:lnTo>
                  <a:pt x="23568" y="30366"/>
                </a:lnTo>
                <a:lnTo>
                  <a:pt x="30366" y="23568"/>
                </a:lnTo>
                <a:lnTo>
                  <a:pt x="30366" y="15183"/>
                </a:lnTo>
                <a:close/>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0" name="Google Shape;20;p1"/>
          <p:cNvSpPr/>
          <p:nvPr/>
        </p:nvSpPr>
        <p:spPr>
          <a:xfrm>
            <a:off x="4329112" y="3231882"/>
            <a:ext cx="233679" cy="50800"/>
          </a:xfrm>
          <a:custGeom>
            <a:avLst/>
            <a:gdLst/>
            <a:ahLst/>
            <a:cxnLst/>
            <a:rect l="l" t="t" r="r" b="b"/>
            <a:pathLst>
              <a:path w="233679" h="50800" extrusionOk="0">
                <a:moveTo>
                  <a:pt x="40640" y="50800"/>
                </a:moveTo>
                <a:lnTo>
                  <a:pt x="50400" y="48796"/>
                </a:lnTo>
                <a:lnTo>
                  <a:pt x="58488" y="43339"/>
                </a:lnTo>
                <a:lnTo>
                  <a:pt x="64002" y="35262"/>
                </a:lnTo>
                <a:lnTo>
                  <a:pt x="66040" y="25400"/>
                </a:lnTo>
                <a:lnTo>
                  <a:pt x="64036" y="15537"/>
                </a:lnTo>
                <a:lnTo>
                  <a:pt x="58579" y="7461"/>
                </a:lnTo>
                <a:lnTo>
                  <a:pt x="50502" y="2004"/>
                </a:lnTo>
                <a:lnTo>
                  <a:pt x="40640" y="0"/>
                </a:lnTo>
                <a:lnTo>
                  <a:pt x="30778" y="2004"/>
                </a:lnTo>
                <a:lnTo>
                  <a:pt x="22701" y="7461"/>
                </a:lnTo>
                <a:lnTo>
                  <a:pt x="17244" y="15537"/>
                </a:lnTo>
                <a:lnTo>
                  <a:pt x="15240" y="25400"/>
                </a:lnTo>
              </a:path>
              <a:path w="233679" h="50800" extrusionOk="0">
                <a:moveTo>
                  <a:pt x="30480" y="17780"/>
                </a:moveTo>
                <a:lnTo>
                  <a:pt x="15240" y="30480"/>
                </a:lnTo>
                <a:lnTo>
                  <a:pt x="0" y="17780"/>
                </a:lnTo>
              </a:path>
              <a:path w="233679" h="50800" extrusionOk="0">
                <a:moveTo>
                  <a:pt x="193042" y="50800"/>
                </a:moveTo>
                <a:lnTo>
                  <a:pt x="183179" y="48796"/>
                </a:lnTo>
                <a:lnTo>
                  <a:pt x="175103" y="43339"/>
                </a:lnTo>
                <a:lnTo>
                  <a:pt x="169646" y="35262"/>
                </a:lnTo>
                <a:lnTo>
                  <a:pt x="167642" y="25400"/>
                </a:lnTo>
                <a:lnTo>
                  <a:pt x="169646" y="15537"/>
                </a:lnTo>
                <a:lnTo>
                  <a:pt x="175103" y="7461"/>
                </a:lnTo>
                <a:lnTo>
                  <a:pt x="183179" y="2004"/>
                </a:lnTo>
                <a:lnTo>
                  <a:pt x="193042" y="0"/>
                </a:lnTo>
                <a:lnTo>
                  <a:pt x="202904" y="2004"/>
                </a:lnTo>
                <a:lnTo>
                  <a:pt x="210981" y="7461"/>
                </a:lnTo>
                <a:lnTo>
                  <a:pt x="216438" y="15537"/>
                </a:lnTo>
                <a:lnTo>
                  <a:pt x="218442" y="25400"/>
                </a:lnTo>
              </a:path>
              <a:path w="233679" h="50800" extrusionOk="0">
                <a:moveTo>
                  <a:pt x="233682" y="17780"/>
                </a:moveTo>
                <a:lnTo>
                  <a:pt x="218442" y="30480"/>
                </a:lnTo>
                <a:lnTo>
                  <a:pt x="203202" y="1778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1" name="Google Shape;21;p1"/>
          <p:cNvSpPr txBox="1">
            <a:spLocks noGrp="1"/>
          </p:cNvSpPr>
          <p:nvPr>
            <p:ph type="title"/>
          </p:nvPr>
        </p:nvSpPr>
        <p:spPr>
          <a:xfrm>
            <a:off x="95300" y="45565"/>
            <a:ext cx="1210945" cy="244475"/>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1400" b="0" i="0" u="none" strike="noStrike" cap="none">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2" name="Google Shape;22;p1"/>
          <p:cNvSpPr txBox="1">
            <a:spLocks noGrp="1"/>
          </p:cNvSpPr>
          <p:nvPr>
            <p:ph type="body" idx="1"/>
          </p:nvPr>
        </p:nvSpPr>
        <p:spPr>
          <a:xfrm>
            <a:off x="402932" y="654391"/>
            <a:ext cx="4079240" cy="2236470"/>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800" b="0" i="0" u="none" strike="noStrike" cap="none">
                <a:latin typeface="Calibri"/>
                <a:ea typeface="Calibri"/>
                <a:cs typeface="Calibri"/>
                <a:sym typeface="Calibri"/>
              </a:defRPr>
            </a:lvl2pPr>
            <a:lvl3pPr marL="1371600" marR="0" lvl="2" indent="-228600" algn="l" rtl="0">
              <a:spcBef>
                <a:spcPts val="0"/>
              </a:spcBef>
              <a:spcAft>
                <a:spcPts val="0"/>
              </a:spcAft>
              <a:buSzPts val="1400"/>
              <a:buNone/>
              <a:defRPr sz="1800" b="0" i="0" u="none" strike="noStrike" cap="none">
                <a:latin typeface="Calibri"/>
                <a:ea typeface="Calibri"/>
                <a:cs typeface="Calibri"/>
                <a:sym typeface="Calibri"/>
              </a:defRPr>
            </a:lvl3pPr>
            <a:lvl4pPr marL="1828800" marR="0" lvl="3" indent="-228600" algn="l" rtl="0">
              <a:spcBef>
                <a:spcPts val="0"/>
              </a:spcBef>
              <a:spcAft>
                <a:spcPts val="0"/>
              </a:spcAft>
              <a:buSzPts val="1400"/>
              <a:buNone/>
              <a:defRPr sz="1800" b="0" i="0" u="none" strike="noStrike" cap="none">
                <a:latin typeface="Calibri"/>
                <a:ea typeface="Calibri"/>
                <a:cs typeface="Calibri"/>
                <a:sym typeface="Calibri"/>
              </a:defRPr>
            </a:lvl4pPr>
            <a:lvl5pPr marL="2286000" marR="0" lvl="4" indent="-228600" algn="l" rtl="0">
              <a:spcBef>
                <a:spcPts val="0"/>
              </a:spcBef>
              <a:spcAft>
                <a:spcPts val="0"/>
              </a:spcAft>
              <a:buSzPts val="1400"/>
              <a:buNone/>
              <a:defRPr sz="1800" b="0" i="0" u="none" strike="noStrike" cap="none">
                <a:latin typeface="Calibri"/>
                <a:ea typeface="Calibri"/>
                <a:cs typeface="Calibri"/>
                <a:sym typeface="Calibri"/>
              </a:defRPr>
            </a:lvl5pPr>
            <a:lvl6pPr marL="2743200" marR="0" lvl="5" indent="-228600" algn="l" rtl="0">
              <a:spcBef>
                <a:spcPts val="0"/>
              </a:spcBef>
              <a:spcAft>
                <a:spcPts val="0"/>
              </a:spcAft>
              <a:buSzPts val="1400"/>
              <a:buNone/>
              <a:defRPr sz="1800" b="0" i="0" u="none" strike="noStrike" cap="none">
                <a:latin typeface="Calibri"/>
                <a:ea typeface="Calibri"/>
                <a:cs typeface="Calibri"/>
                <a:sym typeface="Calibri"/>
              </a:defRPr>
            </a:lvl6pPr>
            <a:lvl7pPr marL="3200400" marR="0" lvl="6" indent="-228600" algn="l" rtl="0">
              <a:spcBef>
                <a:spcPts val="0"/>
              </a:spcBef>
              <a:spcAft>
                <a:spcPts val="0"/>
              </a:spcAft>
              <a:buSzPts val="1400"/>
              <a:buNone/>
              <a:defRPr sz="1800" b="0" i="0" u="none" strike="noStrike" cap="none">
                <a:latin typeface="Calibri"/>
                <a:ea typeface="Calibri"/>
                <a:cs typeface="Calibri"/>
                <a:sym typeface="Calibri"/>
              </a:defRPr>
            </a:lvl7pPr>
            <a:lvl8pPr marL="3657600" marR="0" lvl="7" indent="-228600" algn="l" rtl="0">
              <a:spcBef>
                <a:spcPts val="0"/>
              </a:spcBef>
              <a:spcAft>
                <a:spcPts val="0"/>
              </a:spcAft>
              <a:buSzPts val="1400"/>
              <a:buNone/>
              <a:defRPr sz="1800" b="0" i="0" u="none" strike="noStrike" cap="none">
                <a:latin typeface="Calibri"/>
                <a:ea typeface="Calibri"/>
                <a:cs typeface="Calibri"/>
                <a:sym typeface="Calibri"/>
              </a:defRPr>
            </a:lvl8pPr>
            <a:lvl9pPr marL="4114800" marR="0" lvl="8" indent="-228600" algn="l" rtl="0">
              <a:spcBef>
                <a:spcPts val="0"/>
              </a:spcBef>
              <a:spcAft>
                <a:spcPts val="0"/>
              </a:spcAft>
              <a:buSzPts val="1400"/>
              <a:buNone/>
              <a:defRPr sz="1800" b="0" i="0" u="none" strike="noStrike" cap="none">
                <a:latin typeface="Calibri"/>
                <a:ea typeface="Calibri"/>
                <a:cs typeface="Calibri"/>
                <a:sym typeface="Calibri"/>
              </a:defRPr>
            </a:lvl9pPr>
          </a:lstStyle>
          <a:p>
            <a:endParaRPr/>
          </a:p>
        </p:txBody>
      </p:sp>
      <p:sp>
        <p:nvSpPr>
          <p:cNvPr id="23" name="Google Shape;23;p1"/>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4" name="Google Shape;24;p1"/>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5" name="Google Shape;25;p1"/>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sz="1400">
              <a:solidFill>
                <a:srgbClr val="000000"/>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7"/>
        <p:cNvGrpSpPr/>
        <p:nvPr/>
      </p:nvGrpSpPr>
      <p:grpSpPr>
        <a:xfrm>
          <a:off x="0" y="0"/>
          <a:ext cx="0" cy="0"/>
          <a:chOff x="0" y="0"/>
          <a:chExt cx="0" cy="0"/>
        </a:xfrm>
      </p:grpSpPr>
      <p:grpSp>
        <p:nvGrpSpPr>
          <p:cNvPr id="58" name="Google Shape;58;p7"/>
          <p:cNvGrpSpPr/>
          <p:nvPr/>
        </p:nvGrpSpPr>
        <p:grpSpPr>
          <a:xfrm>
            <a:off x="62118" y="236842"/>
            <a:ext cx="4483736" cy="502047"/>
            <a:chOff x="87743" y="236842"/>
            <a:chExt cx="4483736" cy="502047"/>
          </a:xfrm>
        </p:grpSpPr>
        <p:sp>
          <p:nvSpPr>
            <p:cNvPr id="59" name="Google Shape;59;p7"/>
            <p:cNvSpPr/>
            <p:nvPr/>
          </p:nvSpPr>
          <p:spPr>
            <a:xfrm>
              <a:off x="87743" y="236842"/>
              <a:ext cx="4432935" cy="82550"/>
            </a:xfrm>
            <a:custGeom>
              <a:avLst/>
              <a:gdLst/>
              <a:ahLst/>
              <a:cxnLst/>
              <a:rect l="l" t="t" r="r" b="b"/>
              <a:pathLst>
                <a:path w="4432935" h="82550" extrusionOk="0">
                  <a:moveTo>
                    <a:pt x="4381765" y="0"/>
                  </a:moveTo>
                  <a:lnTo>
                    <a:pt x="50800" y="0"/>
                  </a:lnTo>
                  <a:lnTo>
                    <a:pt x="31075" y="4008"/>
                  </a:lnTo>
                  <a:lnTo>
                    <a:pt x="14922" y="14922"/>
                  </a:lnTo>
                  <a:lnTo>
                    <a:pt x="4008" y="31075"/>
                  </a:lnTo>
                  <a:lnTo>
                    <a:pt x="0" y="50800"/>
                  </a:lnTo>
                  <a:lnTo>
                    <a:pt x="0" y="82384"/>
                  </a:lnTo>
                  <a:lnTo>
                    <a:pt x="4432566" y="82384"/>
                  </a:lnTo>
                  <a:lnTo>
                    <a:pt x="4432566" y="50800"/>
                  </a:lnTo>
                  <a:lnTo>
                    <a:pt x="4428558" y="31075"/>
                  </a:lnTo>
                  <a:lnTo>
                    <a:pt x="4417643" y="14922"/>
                  </a:lnTo>
                  <a:lnTo>
                    <a:pt x="4401490" y="4008"/>
                  </a:lnTo>
                  <a:lnTo>
                    <a:pt x="4381765"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0" name="Google Shape;60;p7"/>
            <p:cNvSpPr/>
            <p:nvPr/>
          </p:nvSpPr>
          <p:spPr>
            <a:xfrm>
              <a:off x="138544" y="300105"/>
              <a:ext cx="4432935" cy="438784"/>
            </a:xfrm>
            <a:custGeom>
              <a:avLst/>
              <a:gdLst/>
              <a:ahLst/>
              <a:cxnLst/>
              <a:rect l="l" t="t" r="r" b="b"/>
              <a:pathLst>
                <a:path w="4432935" h="438784" extrusionOk="0">
                  <a:moveTo>
                    <a:pt x="4432566" y="0"/>
                  </a:moveTo>
                  <a:lnTo>
                    <a:pt x="0" y="0"/>
                  </a:lnTo>
                  <a:lnTo>
                    <a:pt x="0" y="438781"/>
                  </a:lnTo>
                  <a:lnTo>
                    <a:pt x="4432566" y="438781"/>
                  </a:lnTo>
                  <a:lnTo>
                    <a:pt x="4432566"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1" name="Google Shape;61;p7"/>
            <p:cNvSpPr/>
            <p:nvPr/>
          </p:nvSpPr>
          <p:spPr>
            <a:xfrm>
              <a:off x="87743" y="281269"/>
              <a:ext cx="4432935" cy="407034"/>
            </a:xfrm>
            <a:custGeom>
              <a:avLst/>
              <a:gdLst/>
              <a:ahLst/>
              <a:cxnLst/>
              <a:rect l="l" t="t" r="r" b="b"/>
              <a:pathLst>
                <a:path w="4432935" h="407034" extrusionOk="0">
                  <a:moveTo>
                    <a:pt x="4432566" y="0"/>
                  </a:moveTo>
                  <a:lnTo>
                    <a:pt x="0" y="0"/>
                  </a:lnTo>
                  <a:lnTo>
                    <a:pt x="0" y="356017"/>
                  </a:lnTo>
                  <a:lnTo>
                    <a:pt x="4008" y="375741"/>
                  </a:lnTo>
                  <a:lnTo>
                    <a:pt x="14922" y="391894"/>
                  </a:lnTo>
                  <a:lnTo>
                    <a:pt x="31075" y="402808"/>
                  </a:lnTo>
                  <a:lnTo>
                    <a:pt x="50800" y="406817"/>
                  </a:lnTo>
                  <a:lnTo>
                    <a:pt x="4381765" y="406817"/>
                  </a:lnTo>
                  <a:lnTo>
                    <a:pt x="4401490" y="402808"/>
                  </a:lnTo>
                  <a:lnTo>
                    <a:pt x="4417643" y="391894"/>
                  </a:lnTo>
                  <a:lnTo>
                    <a:pt x="4428558" y="375741"/>
                  </a:lnTo>
                  <a:lnTo>
                    <a:pt x="4432566" y="356017"/>
                  </a:lnTo>
                  <a:lnTo>
                    <a:pt x="443256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62" name="Google Shape;62;p7"/>
          <p:cNvSpPr txBox="1">
            <a:spLocks noGrp="1"/>
          </p:cNvSpPr>
          <p:nvPr>
            <p:ph type="title"/>
          </p:nvPr>
        </p:nvSpPr>
        <p:spPr>
          <a:xfrm>
            <a:off x="49664" y="-74873"/>
            <a:ext cx="4432800" cy="788529"/>
          </a:xfrm>
          <a:prstGeom prst="rect">
            <a:avLst/>
          </a:prstGeom>
          <a:noFill/>
          <a:ln>
            <a:noFill/>
          </a:ln>
        </p:spPr>
        <p:txBody>
          <a:bodyPr spcFirstLastPara="1" wrap="square" lIns="0" tIns="61575" rIns="0" bIns="0" anchor="t" anchorCtr="0">
            <a:spAutoFit/>
          </a:bodyPr>
          <a:lstStyle/>
          <a:p>
            <a:pPr marL="0" lvl="0" indent="0" algn="ctr" rtl="0">
              <a:lnSpc>
                <a:spcPct val="115000"/>
              </a:lnSpc>
              <a:spcBef>
                <a:spcPts val="1800"/>
              </a:spcBef>
              <a:spcAft>
                <a:spcPts val="0"/>
              </a:spcAft>
              <a:buSzPts val="1100"/>
              <a:buNone/>
            </a:pPr>
            <a:endParaRPr dirty="0"/>
            <a:r>
              <a:rPr lang="en-US" dirty="0" b="0">
                <a:latin typeface="Times New Roman" panose="02020603050405020304" pitchFamily="18" charset="0"/>
                <a:ea typeface="Roboto"/>
                <a:cs typeface="Times New Roman" panose="02020603050405020304" pitchFamily="18" charset="0"/>
                <a:sym typeface="Roboto"/>
              </a:rPr>
              <a:t>PERCH — A Personal AI Agent for the Desktop</a:t>
            </a:r>
          </a:p>
        </p:txBody>
      </p:sp>
      <p:pic>
        <p:nvPicPr>
          <p:cNvPr id="64" name="Google Shape;64;p7"/>
          <p:cNvPicPr preferRelativeResize="0"/>
          <p:nvPr/>
        </p:nvPicPr>
        <p:blipFill rotWithShape="1">
          <a:blip r:embed="rId3">
            <a:alphaModFix/>
          </a:blip>
          <a:srcRect/>
          <a:stretch/>
        </p:blipFill>
        <p:spPr>
          <a:xfrm>
            <a:off x="2012699" y="1730375"/>
            <a:ext cx="506730" cy="647700"/>
          </a:xfrm>
          <a:prstGeom prst="rect">
            <a:avLst/>
          </a:prstGeom>
          <a:noFill/>
          <a:ln>
            <a:noFill/>
          </a:ln>
        </p:spPr>
      </p:pic>
      <p:sp>
        <p:nvSpPr>
          <p:cNvPr id="65" name="Google Shape;65;p7"/>
          <p:cNvSpPr txBox="1"/>
          <p:nvPr/>
        </p:nvSpPr>
        <p:spPr>
          <a:xfrm>
            <a:off x="1448399" y="2515867"/>
            <a:ext cx="1770473" cy="694850"/>
          </a:xfrm>
          <a:prstGeom prst="rect">
            <a:avLst/>
          </a:prstGeom>
          <a:noFill/>
          <a:ln>
            <a:noFill/>
          </a:ln>
        </p:spPr>
        <p:txBody>
          <a:bodyPr spcFirstLastPara="1" wrap="square" lIns="0" tIns="17125" rIns="0" bIns="0" anchor="t" anchorCtr="0">
            <a:spAutoFit/>
          </a:bodyPr>
          <a:lstStyle/>
          <a:p>
            <a:pPr marL="12700" marR="5080" lvl="0">
              <a:lnSpc>
                <a:spcPct val="118750"/>
              </a:lnSpc>
            </a:pPr>
            <a:r>
              <a:rPr lang="en-US" sz="800" dirty="0">
                <a:latin typeface="Times New Roman" panose="02020603050405020304" pitchFamily="18" charset="0"/>
                <a:cs typeface="Times New Roman" panose="02020603050405020304" pitchFamily="18" charset="0"/>
              </a:rPr>
              <a:t>    Department of Computer Engineering</a:t>
            </a:r>
          </a:p>
          <a:p>
            <a:pPr marL="12700" marR="5080" lvl="0" indent="0" algn="ctr" rtl="0">
              <a:lnSpc>
                <a:spcPct val="118750"/>
              </a:lnSpc>
              <a:spcBef>
                <a:spcPts val="0"/>
              </a:spcBef>
              <a:spcAft>
                <a:spcPts val="0"/>
              </a:spcAft>
              <a:buNone/>
            </a:pPr>
            <a:r>
              <a:rPr lang="en-US" sz="900" dirty="0">
                <a:latin typeface="Times New Roman" panose="02020603050405020304" pitchFamily="18" charset="0"/>
                <a:cs typeface="Times New Roman" panose="02020603050405020304" pitchFamily="18" charset="0"/>
                <a:sym typeface="Arial"/>
              </a:rPr>
              <a:t>PES Modern College of Engineering </a:t>
            </a:r>
            <a:r>
              <a:rPr lang="en-US" sz="800" dirty="0">
                <a:latin typeface="Times New Roman" panose="02020603050405020304" pitchFamily="18" charset="0"/>
                <a:cs typeface="Times New Roman" panose="02020603050405020304" pitchFamily="18" charset="0"/>
                <a:sym typeface="Arial"/>
              </a:rPr>
              <a:t>Savitribai Phule Pune University</a:t>
            </a:r>
            <a:endParaRPr lang="en-US" sz="800" dirty="0">
              <a:latin typeface="Times New Roman" panose="02020603050405020304" pitchFamily="18" charset="0"/>
              <a:cs typeface="Times New Roman" panose="02020603050405020304" pitchFamily="18" charset="0"/>
            </a:endParaRPr>
          </a:p>
          <a:p>
            <a:pPr marL="12700" marR="5080" lvl="0" indent="0" algn="ctr" rtl="0">
              <a:lnSpc>
                <a:spcPct val="118750"/>
              </a:lnSpc>
              <a:spcBef>
                <a:spcPts val="0"/>
              </a:spcBef>
              <a:spcAft>
                <a:spcPts val="0"/>
              </a:spcAft>
              <a:buNone/>
            </a:pPr>
            <a:r>
              <a:rPr lang="en-US" sz="1200" dirty="0">
                <a:latin typeface="Times New Roman" panose="02020603050405020304" pitchFamily="18" charset="0"/>
                <a:cs typeface="Times New Roman" panose="02020603050405020304" pitchFamily="18" charset="0"/>
              </a:rPr>
              <a:t>August-2026</a:t>
            </a:r>
            <a:endParaRPr sz="1200" dirty="0">
              <a:latin typeface="Times New Roman" panose="02020603050405020304" pitchFamily="18" charset="0"/>
              <a:cs typeface="Times New Roman" panose="02020603050405020304" pitchFamily="18" charset="0"/>
              <a:sym typeface="Arial"/>
            </a:endParaRPr>
          </a:p>
        </p:txBody>
      </p:sp>
      <p:grpSp>
        <p:nvGrpSpPr>
          <p:cNvPr id="66" name="Google Shape;66;p7"/>
          <p:cNvGrpSpPr/>
          <p:nvPr/>
        </p:nvGrpSpPr>
        <p:grpSpPr>
          <a:xfrm>
            <a:off x="-11362" y="3330146"/>
            <a:ext cx="4608017" cy="129539"/>
            <a:chOff x="0" y="3326968"/>
            <a:chExt cx="4608017" cy="129539"/>
          </a:xfrm>
        </p:grpSpPr>
        <p:sp>
          <p:nvSpPr>
            <p:cNvPr id="67" name="Google Shape;67;p7"/>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8" name="Google Shape;68;p7"/>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9" name="Google Shape;69;p7"/>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70" name="Google Shape;70;p7"/>
          <p:cNvSpPr txBox="1">
            <a:spLocks noGrp="1"/>
          </p:cNvSpPr>
          <p:nvPr>
            <p:ph type="ftr" idx="11"/>
          </p:nvPr>
        </p:nvSpPr>
        <p:spPr>
          <a:xfrm>
            <a:off x="421944" y="3331252"/>
            <a:ext cx="692150"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dirty="0">
              <a:latin typeface="Times New Roman" panose="02020603050405020304" pitchFamily="18" charset="0"/>
              <a:cs typeface="Times New Roman" panose="02020603050405020304" pitchFamily="18" charset="0"/>
            </a:endParaRPr>
          </a:p>
        </p:txBody>
      </p:sp>
      <p:sp>
        <p:nvSpPr>
          <p:cNvPr id="72" name="Google Shape;72;p7"/>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
        <p:nvSpPr>
          <p:cNvPr id="73" name="Google Shape;73;p7"/>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8" name="object 7">
            <a:extLst>
              <a:ext uri="{FF2B5EF4-FFF2-40B4-BE49-F238E27FC236}">
                <a16:creationId xmlns:a16="http://schemas.microsoft.com/office/drawing/2014/main" id="{0B054412-D6C8-4EDB-AF30-1060FB441BC7}"/>
              </a:ext>
            </a:extLst>
          </p:cNvPr>
          <p:cNvSpPr txBox="1"/>
          <p:nvPr/>
        </p:nvSpPr>
        <p:spPr>
          <a:xfrm>
            <a:off x="-11362" y="834532"/>
            <a:ext cx="4608017" cy="423193"/>
          </a:xfrm>
          <a:prstGeom prst="rect">
            <a:avLst/>
          </a:prstGeom>
        </p:spPr>
        <p:txBody>
          <a:bodyPr vert="horz" wrap="square" lIns="0" tIns="12700" rIns="0" bIns="0" rtlCol="0">
            <a:spAutoFit/>
          </a:bodyPr>
          <a:lstStyle/>
          <a:p>
            <a:pPr algn="ctr">
              <a:lnSpc>
                <a:spcPct val="100000"/>
              </a:lnSpc>
              <a:spcBef>
                <a:spcPts val="100"/>
              </a:spcBef>
            </a:pPr>
            <a:endParaRPr sz="1050" dirty="0">
              <a:latin typeface="Times New Roman"/>
              <a:cs typeface="Times New Roman"/>
            </a:endParaRPr>
            <a:r>
              <a:rPr sz="1000" dirty="0" b="1">
                <a:latin typeface="Times New Roman"/>
                <a:cs typeface="Times New Roman"/>
              </a:rPr>
              <a:t>A Personal AI Agent That Lives Where Your Desktop Lives, Not Inside an Application</a:t>
            </a:r>
          </a:p>
          <a:p>
            <a:pPr algn="ctr">
              <a:lnSpc>
                <a:spcPct val="100000"/>
              </a:lnSpc>
              <a:spcBef>
                <a:spcPts val="840"/>
              </a:spcBef>
            </a:pPr>
            <a:endParaRPr sz="1000" dirty="0">
              <a:latin typeface="Times New Roman"/>
              <a:cs typeface="Times New Roman"/>
            </a:endParaRPr>
            <a:r>
              <a:rPr lang="en-US" sz="1000" dirty="0" b="0">
                <a:latin typeface="Times New Roman"/>
                <a:cs typeface="Times New Roman"/>
              </a:rPr>
              <a:t>A Final Year Project</a:t>
            </a:r>
          </a:p>
        </p:txBody>
      </p:sp>
      <p:sp>
        <p:nvSpPr>
          <p:cNvPr id="2" name="Google Shape;85;p8">
            <a:extLst>
              <a:ext uri="{FF2B5EF4-FFF2-40B4-BE49-F238E27FC236}">
                <a16:creationId xmlns:a16="http://schemas.microsoft.com/office/drawing/2014/main" id="{C5D2F868-375B-78B2-7347-A40CDC90B752}"/>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Tree>
  </p:cSld>
  <p:clrMapOvr>
    <a:masterClrMapping/>
  </p:clrMapOvr>
  <p:transition>
    <p:fade thruBlk="1"/>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Outline</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Introduction</a:t>
            </a:r>
            <a:r>
              <a:rPr lang="en-US" sz="1150" b="0" dirty="0">
                <a:latin typeface="Times New Roman" panose="02020603050405020304" pitchFamily="18" charset="0"/>
                <a:cs typeface="Times New Roman" panose="02020603050405020304" pitchFamily="18" charset="0"/>
              </a:rPr>
              <a:t> - Nobody Uses One AI Any More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Problem Statement</a:t>
            </a:r>
            <a:r>
              <a:rPr lang="en-US" sz="1150" b="0" dirty="0">
                <a:latin typeface="Times New Roman" panose="02020603050405020304" pitchFamily="18" charset="0"/>
                <a:cs typeface="Times New Roman" panose="02020603050405020304" pitchFamily="18" charset="0"/>
              </a:rPr>
              <a:t> - Your Context Is Trapped Per-Vendor</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Evidence</a:t>
            </a:r>
            <a:r>
              <a:rPr lang="en-US" sz="1150" b="0" dirty="0">
                <a:latin typeface="Times New Roman" panose="02020603050405020304" pitchFamily="18" charset="0"/>
                <a:cs typeface="Times New Roman" panose="02020603050405020304" pitchFamily="18" charset="0"/>
              </a:rPr>
              <a:t> - Measured Failure, Market Data, Expensive Precedents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Scope &amp; Objectives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Existing Work</a:t>
            </a:r>
            <a:r>
              <a:rPr lang="en-US" sz="1150" b="0" dirty="0">
                <a:latin typeface="Times New Roman" panose="02020603050405020304" pitchFamily="18" charset="0"/>
                <a:cs typeface="Times New Roman" panose="02020603050405020304" pitchFamily="18" charset="0"/>
              </a:rPr>
              <a:t> - Highlight AI, Click to Do, and the Mac-Only Wall</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System Architecture</a:t>
            </a:r>
            <a:r>
              <a:rPr lang="en-US" sz="1150" b="0" dirty="0">
                <a:latin typeface="Times New Roman" panose="02020603050405020304" pitchFamily="18" charset="0"/>
                <a:cs typeface="Times New Roman" panose="02020603050405020304" pitchFamily="18" charset="0"/>
              </a:rPr>
              <a:t> - Four Layers, One Request Path</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Layer 1</a:t>
            </a:r>
            <a:r>
              <a:rPr lang="en-US" sz="1150" b="0" dirty="0">
                <a:latin typeface="Times New Roman" panose="02020603050405020304" pitchFamily="18" charset="0"/>
                <a:cs typeface="Times New Roman" panose="02020603050405020304" pitchFamily="18" charset="0"/>
              </a:rPr>
              <a:t> - The OS Surface, and Why It Is Already Proven</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Layer 2</a:t>
            </a:r>
            <a:r>
              <a:rPr lang="en-US" sz="1150" b="0" dirty="0">
                <a:latin typeface="Times New Roman" panose="02020603050405020304" pitchFamily="18" charset="0"/>
                <a:cs typeface="Times New Roman" panose="02020603050405020304" pitchFamily="18" charset="0"/>
              </a:rPr>
              <a:t> - Context Assembly Under a Token Budget</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Layer 3</a:t>
            </a:r>
            <a:r>
              <a:rPr lang="en-US" sz="1150" b="0" dirty="0">
                <a:latin typeface="Times New Roman" panose="02020603050405020304" pitchFamily="18" charset="0"/>
                <a:cs typeface="Times New Roman" panose="02020603050405020304" pitchFamily="18" charset="0"/>
              </a:rPr>
              <a:t> - Memory the User Writes, Owns and Can Export</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Layer 4</a:t>
            </a:r>
            <a:r>
              <a:rPr lang="en-US" sz="1150" b="0" dirty="0">
                <a:latin typeface="Times New Roman" panose="02020603050405020304" pitchFamily="18" charset="0"/>
                <a:cs typeface="Times New Roman" panose="02020603050405020304" pitchFamily="18" charset="0"/>
              </a:rPr>
              <a:t> - Execution, Model Choice and the Cost Floor</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Private Mode</a:t>
            </a:r>
            <a:r>
              <a:rPr lang="en-US" sz="1150" b="0" dirty="0">
                <a:latin typeface="Times New Roman" panose="02020603050405020304" pitchFamily="18" charset="0"/>
                <a:cs typeface="Times New Roman" panose="02020603050405020304" pitchFamily="18" charset="0"/>
              </a:rPr>
              <a:t> - Declared, Never Inferred</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Technologies, Benchmarks and Evaluation Plan</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Base Paper, The Gap, Expected Results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Conclusion and References</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Introduction - Nobody Uses One AI Any More</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The situation:</a:t>
            </a:r>
            <a:r>
              <a:rPr lang="en-US" sz="1150" b="0" dirty="0">
                <a:latin typeface="Times New Roman" panose="02020603050405020304" pitchFamily="18" charset="0"/>
                <a:cs typeface="Times New Roman" panose="02020603050405020304" pitchFamily="18" charset="0"/>
              </a:rPr>
              <a:t> A typical user now runs ChatGPT for general questions, Claude Code or Copilot for programming, Perplexity for research, and Gemini inside Docs.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The consequence:</a:t>
            </a:r>
            <a:r>
              <a:rPr lang="en-US" sz="1150" b="0" dirty="0">
                <a:latin typeface="Times New Roman" panose="02020603050405020304" pitchFamily="18" charset="0"/>
                <a:cs typeface="Times New Roman" panose="02020603050405020304" pitchFamily="18" charset="0"/>
              </a:rPr>
              <a:t> Each one holds a separate, private memory of you. None of them can see the others. Your context is fragmented across the vendors you pay.</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It is expensive:</a:t>
            </a:r>
            <a:r>
              <a:rPr lang="en-US" sz="1150" b="0" dirty="0">
                <a:latin typeface="Times New Roman" panose="02020603050405020304" pitchFamily="18" charset="0"/>
                <a:cs typeface="Times New Roman" panose="02020603050405020304" pitchFamily="18" charset="0"/>
              </a:rPr>
              <a:t> a power user pays $70-110/month across four subscriptions, and still loses 15-30 minutes of context on every platform switch.</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It is not settling down:</a:t>
            </a:r>
            <a:r>
              <a:rPr lang="en-US" sz="1150" b="0" dirty="0">
                <a:latin typeface="Times New Roman" panose="02020603050405020304" pitchFamily="18" charset="0"/>
                <a:cs typeface="Times New Roman" panose="02020603050405020304" pitchFamily="18" charset="0"/>
              </a:rPr>
              <a:t> ChatGPT's assistant market share fell from ~60% in early 2025 to under 45% by Q1 2026. People are moving constantly, and the context does not move with them.</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What users now optimise for:</a:t>
            </a:r>
            <a:r>
              <a:rPr lang="en-US" sz="1150" b="0" dirty="0">
                <a:latin typeface="Times New Roman" panose="02020603050405020304" pitchFamily="18" charset="0"/>
                <a:cs typeface="Times New Roman" panose="02020603050405020304" pitchFamily="18" charset="0"/>
              </a:rPr>
              <a:t> the 2026 switching analysis found users prioritising governance and data portability over interface quality. Ownership is the deciding factor.</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Introduction - The Concrete Version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4</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A real workflow, not a hypothetical.</a:t>
            </a:r>
            <a:r>
              <a:rPr lang="en-US" sz="1150" b="0" dirty="0">
                <a:latin typeface="Times New Roman" panose="02020603050405020304" pitchFamily="18" charset="0"/>
                <a:cs typeface="Times New Roman" panose="02020603050405020304" pitchFamily="18" charset="0"/>
              </a:rPr>
              <a:t> Your college details, background and career context live in ChatGPT. Everything about your final-year project - the stack, the bugs, the design decisions, the timeline - lives in Claude Code, spread across dozens of sessions.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Neither can see the other.</a:t>
            </a:r>
            <a:r>
              <a:rPr lang="en-US" sz="1150" b="0" dirty="0">
                <a:latin typeface="Times New Roman" panose="02020603050405020304" pitchFamily="18" charset="0"/>
                <a:cs typeface="Times New Roman" panose="02020603050405020304" pitchFamily="18" charset="0"/>
              </a:rPr>
              <a:t> So when you need a 200-word project summary for an application form, neither one can write it. ChatGPT does not know the project. Claude Code does not know the form, and its knowledge is scattered across sessions it will not surface.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You do the merge manually, in your head, every single time.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The knowledge already existed.</a:t>
            </a:r>
            <a:r>
              <a:rPr lang="en-US" sz="1150" b="0" dirty="0">
                <a:latin typeface="Times New Roman" panose="02020603050405020304" pitchFamily="18" charset="0"/>
                <a:cs typeface="Times New Roman" panose="02020603050405020304" pitchFamily="18" charset="0"/>
              </a:rPr>
              <a:t> It was simply locked inside a session, in a product that will never share it. That is the problem PERCH exists to remove.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Problem Statement</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5</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The vulnerability, in one sentence:</a:t>
            </a:r>
            <a:r>
              <a:rPr lang="en-US" sz="1050" b="0" dirty="0">
                <a:latin typeface="Times New Roman" panose="02020603050405020304" pitchFamily="18" charset="0"/>
                <a:cs typeface="Times New Roman" panose="02020603050405020304" pitchFamily="18" charset="0"/>
              </a:rPr>
              <a:t> every assistant's memory of you is owned by the vendor of that assistant, so personal context cannot follow you across the tools you actually use.</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This is measurable, not rhetorical.</a:t>
            </a:r>
            <a:r>
              <a:rPr lang="en-US" sz="1050" b="0" dirty="0">
                <a:latin typeface="Times New Roman" panose="02020603050405020304" pitchFamily="18" charset="0"/>
                <a:cs typeface="Times New Roman" panose="02020603050405020304" pitchFamily="18" charset="0"/>
              </a:rPr>
              <a:t> PAUSE (ACM SIGKDD 2026) found that state-of-the-art proprietary models fail to reach 70% task completion on scenarios requiring stateful reasoning and configuration awareness.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Read that carefully:</a:t>
            </a:r>
            <a:r>
              <a:rPr lang="en-US" sz="1050" b="0" dirty="0">
                <a:latin typeface="Times New Roman" panose="02020603050405020304" pitchFamily="18" charset="0"/>
                <a:cs typeface="Times New Roman" panose="02020603050405020304" pitchFamily="18" charset="0"/>
              </a:rPr>
              <a:t> the failure is not the model's reasoning. The failure is the state around the model - persistent knowledge of who the user is, what they are working on, and what constraints they operate under.</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The second half of the problem is location.</a:t>
            </a:r>
            <a:r>
              <a:rPr lang="en-US" sz="1050" b="0" dirty="0">
                <a:latin typeface="Times New Roman" panose="02020603050405020304" pitchFamily="18" charset="0"/>
                <a:cs typeface="Times New Roman" panose="02020603050405020304" pitchFamily="18" charset="0"/>
              </a:rPr>
              <a:t> Every assistant is a destination. You leave your document, your IDE or your PDF, go to a window, paste, read, and carry the answer back.</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So the problem statement is two-part:</a:t>
            </a:r>
            <a:r>
              <a:rPr lang="en-US" sz="1050" b="0" dirty="0">
                <a:latin typeface="Times New Roman" panose="02020603050405020304" pitchFamily="18" charset="0"/>
                <a:cs typeface="Times New Roman" panose="02020603050405020304" pitchFamily="18" charset="0"/>
              </a:rPr>
              <a:t> personal context is trapped per-vendor, and the assistant that would use it is trapped inside an application.</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Proof This Is Real - Measured, Not Asserted</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6</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ACM measurement.</a:t>
            </a:r>
            <a:r>
              <a:rPr lang="en-US" sz="1150" b="0" dirty="0">
                <a:latin typeface="Times New Roman" panose="02020603050405020304" pitchFamily="18" charset="0"/>
                <a:cs typeface="Times New Roman" panose="02020603050405020304" pitchFamily="18" charset="0"/>
              </a:rPr>
              <a:t> PAUSE, KDD 2026: frontier models below 70% task completion when the task requires reasoning over persistent user state. An ACM 2026 number, not a blog claim.</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Established research category.</a:t>
            </a:r>
            <a:r>
              <a:rPr lang="en-US" sz="1150" b="0" dirty="0">
                <a:latin typeface="Times New Roman" panose="02020603050405020304" pitchFamily="18" charset="0"/>
                <a:cs typeface="Times New Roman" panose="02020603050405020304" pitchFamily="18" charset="0"/>
              </a:rPr>
              <a:t> Personal LLM Agents (Tsinghua AIR) defines agents deeply integrated with personal data and personal devices, and names context sensing and memorization as fundamental unsolved capabilities.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Market behaviour.</a:t>
            </a:r>
            <a:r>
              <a:rPr lang="en-US" sz="1150" b="0" dirty="0">
                <a:latin typeface="Times New Roman" panose="02020603050405020304" pitchFamily="18" charset="0"/>
                <a:cs typeface="Times New Roman" panose="02020603050405020304" pitchFamily="18" charset="0"/>
              </a:rPr>
              <a:t> $70-110/month across four assistants; 15-30 minutes lost per switch; market share moving 15 points in a year.</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Incumbent behaviour.</a:t>
            </a:r>
            <a:r>
              <a:rPr lang="en-US" sz="1150" b="0" dirty="0">
                <a:latin typeface="Times New Roman" panose="02020603050405020304" pitchFamily="18" charset="0"/>
                <a:cs typeface="Times New Roman" panose="02020603050405020304" pitchFamily="18" charset="0"/>
              </a:rPr>
              <a:t> Highlight AI raised $50M for exactly this position and pivoted to enterprise team tooling in March 2026. The individual user is no longer their product.</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Capability now exists that did not in 2024.</a:t>
            </a:r>
            <a:r>
              <a:rPr lang="en-US" sz="1150" b="0" dirty="0">
                <a:latin typeface="Times New Roman" panose="02020603050405020304" pitchFamily="18" charset="0"/>
                <a:cs typeface="Times New Roman" panose="02020603050405020304" pitchFamily="18" charset="0"/>
              </a:rPr>
              <a:t> Qwen3 4B runs in ~3 GB and Qwen3 8B in ~5-6 GB quantised. A genuinely useful local model now fits on an ordinary student laptop.</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Why This Position Is Open - and Stays Open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7</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A neutral context layer is against every incumbent's business model.</a:t>
            </a:r>
            <a:r>
              <a:rPr lang="en-US" sz="1050" b="0" dirty="0">
                <a:latin typeface="Times New Roman" panose="02020603050405020304" pitchFamily="18" charset="0"/>
                <a:cs typeface="Times New Roman" panose="02020603050405020304" pitchFamily="18" charset="0"/>
              </a:rPr>
              <a:t> OpenAI wants you inside ChatGPT. Google wants you inside Gemini. Microsoft wants you inside Copilot. Apple wants you on a Mac.</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A layer whose entire value is making all of your AIs know you can only be built by someone with no model to sell.</a:t>
            </a:r>
            <a:r>
              <a:rPr lang="en-US" sz="1050" b="0" dirty="0">
                <a:latin typeface="Times New Roman" panose="02020603050405020304" pitchFamily="18" charset="0"/>
                <a:cs typeface="Times New Roman" panose="02020603050405020304" pitchFamily="18" charset="0"/>
              </a:rPr>
              <a:t> That is the structural reason the position is empty.</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The one company that tried it left.</a:t>
            </a:r>
            <a:r>
              <a:rPr lang="en-US" sz="1050" b="0" dirty="0">
                <a:latin typeface="Times New Roman" panose="02020603050405020304" pitchFamily="18" charset="0"/>
                <a:cs typeface="Times New Roman" panose="02020603050405020304" pitchFamily="18" charset="0"/>
              </a:rPr>
              <a:t> Highlight AI, $50M and 500,000+ users, repositioned in March 2026 as a shared intelligence layer for teams - meeting preparation, attendee insights, decision summaries.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Microsoft is building the same primitive but gating it.</a:t>
            </a:r>
            <a:r>
              <a:rPr lang="en-US" sz="1050" b="0" dirty="0">
                <a:latin typeface="Times New Roman" panose="02020603050405020304" pitchFamily="18" charset="0"/>
                <a:cs typeface="Times New Roman" panose="02020603050405020304" pitchFamily="18" charset="0"/>
              </a:rPr>
              <a:t> Windows 11 Click to Do performs AI actions on selected screen content, but requires a Copilot+ PC with a dedicated NPU. Most laptops in India do not have one.</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We are not claiming nobody thought of this.</a:t>
            </a:r>
            <a:r>
              <a:rPr lang="en-US" sz="1050" b="0" dirty="0">
                <a:latin typeface="Times New Roman" panose="02020603050405020304" pitchFamily="18" charset="0"/>
                <a:cs typeface="Times New Roman" panose="02020603050405020304" pitchFamily="18" charset="0"/>
              </a:rPr>
              <a:t> We are claiming nobody with a model to sell can afford to build it, and the one neutral player walked away from individual users.</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What the Expensive Failures Taught Us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8</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Humane AI Pin:</a:t>
            </a:r>
            <a:r>
              <a:rPr lang="en-US" sz="1150" b="0" dirty="0">
                <a:latin typeface="Times New Roman" panose="02020603050405020304" pitchFamily="18" charset="0"/>
                <a:cs typeface="Times New Roman" panose="02020603050405020304" pitchFamily="18" charset="0"/>
              </a:rPr>
              <a:t> raised $230M, shipped fewer than 10,000 units, sold to HP for $116M.</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Rabbit R1:</a:t>
            </a:r>
            <a:r>
              <a:rPr lang="en-US" sz="1150" b="0" dirty="0">
                <a:latin typeface="Times New Roman" panose="02020603050405020304" pitchFamily="18" charset="0"/>
                <a:cs typeface="Times New Roman" panose="02020603050405020304" pitchFamily="18" charset="0"/>
              </a:rPr>
              <a:t> sold 100,000 units, then took mass returns.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Rewind AI:</a:t>
            </a:r>
            <a:r>
              <a:rPr lang="en-US" sz="1150" b="0" dirty="0">
                <a:latin typeface="Times New Roman" panose="02020603050405020304" pitchFamily="18" charset="0"/>
                <a:cs typeface="Times New Roman" panose="02020603050405020304" pitchFamily="18" charset="0"/>
              </a:rPr>
              <a:t> acquired by Meta as Limitless; the Mac app shut down 19 December 2025 and EU/UK access was cut immediately.</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Microsoft Recall:</a:t>
            </a:r>
            <a:r>
              <a:rPr lang="en-US" sz="1150" b="0" dirty="0">
                <a:latin typeface="Times New Roman" panose="02020603050405020304" pitchFamily="18" charset="0"/>
                <a:cs typeface="Times New Roman" panose="02020603050405020304" pitchFamily="18" charset="0"/>
              </a:rPr>
              <a:t> audits found an admin-rights attacker could exfiltrate the database; Microsoft began cutting back Copilot across Windows after user backlash in early 2026.</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The published lesson, verbatim:</a:t>
            </a:r>
            <a:r>
              <a:rPr lang="en-US" sz="1150" b="0" dirty="0">
                <a:latin typeface="Times New Roman" panose="02020603050405020304" pitchFamily="18" charset="0"/>
                <a:cs typeface="Times New Roman" panose="02020603050405020304" pitchFamily="18" charset="0"/>
              </a:rPr>
              <a:t> "AI doesn't need a new gadget - it needs to improve the tools you already use."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Every stated cause maps to a design decision.</a:t>
            </a:r>
            <a:r>
              <a:rPr lang="en-US" sz="1150" b="0" dirty="0">
                <a:latin typeface="Times New Roman" panose="02020603050405020304" pitchFamily="18" charset="0"/>
                <a:cs typeface="Times New Roman" panose="02020603050405020304" pitchFamily="18" charset="0"/>
              </a:rPr>
              <a:t> No hardware. One primitive, not four. No destination - it appears where you are. Summoned only, never always-on capture. Opt-in by definition, because it is a shortcut you press.</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Scope &amp; Objectives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9</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Scope:</a:t>
            </a:r>
            <a:r>
              <a:rPr lang="en-US" sz="1050" b="0" dirty="0">
                <a:latin typeface="Times New Roman" panose="02020603050405020304" pitchFamily="18" charset="0"/>
                <a:cs typeface="Times New Roman" panose="02020603050405020304" pitchFamily="18" charset="0"/>
              </a:rPr>
              <a:t> PERCH is a desktop-resident personal AI agent for Windows. It is dormant in the background, summoned by a selection, a screenshot or a shortcut in any application, answers in a slim panel beside your work, and writes the answer back into the document you were in.</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O1 - Surface.</a:t>
            </a:r>
            <a:r>
              <a:rPr lang="en-US" sz="1050" b="0" dirty="0">
                <a:latin typeface="Times New Roman" panose="02020603050405020304" pitchFamily="18" charset="0"/>
                <a:cs typeface="Times New Roman" panose="02020603050405020304" pitchFamily="18" charset="0"/>
              </a:rPr>
              <a:t> Three triggers, panel placement beside the host window without stealing focus, and edit-in-place with no per-application plugin.</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O2 - Context assembly.</a:t>
            </a:r>
            <a:r>
              <a:rPr lang="en-US" sz="1050" b="0" dirty="0">
                <a:latin typeface="Times New Roman" panose="02020603050405020304" pitchFamily="18" charset="0"/>
                <a:cs typeface="Times New Roman" panose="02020603050405020304" pitchFamily="18" charset="0"/>
              </a:rPr>
              <a:t> Decide what enters the prompt under a hard ceiling set by whichever model is selected, from a 4B local model to a frontier API.</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O3 - Memory.</a:t>
            </a:r>
            <a:r>
              <a:rPr lang="en-US" sz="1050" b="0" dirty="0">
                <a:latin typeface="Times New Roman" panose="02020603050405020304" pitchFamily="18" charset="0"/>
                <a:cs typeface="Times New Roman" panose="02020603050405020304" pitchFamily="18" charset="0"/>
              </a:rPr>
              <a:t> User-authored, structured, portable personal context - stored as files the user can open, edit, export or delete.</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O4 - Execution.</a:t>
            </a:r>
            <a:r>
              <a:rPr lang="en-US" sz="1050" b="0" dirty="0">
                <a:latin typeface="Times New Roman" panose="02020603050405020304" pitchFamily="18" charset="0"/>
                <a:cs typeface="Times New Roman" panose="02020603050405020304" pitchFamily="18" charset="0"/>
              </a:rPr>
              <a:t> Model-agnostic routing across local Ollama, free cloud tiers and the user's own key, with a private mode that provably sends nothing.</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Out of scope, and named as such:</a:t>
            </a:r>
            <a:r>
              <a:rPr lang="en-US" sz="1050" b="0" dirty="0">
                <a:latin typeface="Times New Roman" panose="02020603050405020304" pitchFamily="18" charset="0"/>
                <a:cs typeface="Times New Roman" panose="02020603050405020304" pitchFamily="18" charset="0"/>
              </a:rPr>
              <a:t> adaptive automatic model routing, multi-device sync, and app automation are all v2.</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Existing Work - Our Real Competition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10</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Highlight AI</a:t>
            </a:r>
            <a:r>
              <a:rPr lang="en-US" sz="1150" b="0" dirty="0">
                <a:latin typeface="Times New Roman" panose="02020603050405020304" pitchFamily="18" charset="0"/>
                <a:cs typeface="Times New Roman" panose="02020603050405020304" pitchFamily="18" charset="0"/>
              </a:rPr>
              <a:t> - $50M, 500,000+ users, Mac and Windows. Selection-triggered, screen-aware, local audio transcription. Cloud-dependent, rate-limited, no model choice, closed source, and pivoted to enterprise in March 2026.</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Windows 11 Click to Do</a:t>
            </a:r>
            <a:r>
              <a:rPr lang="en-US" sz="1150" b="0" dirty="0">
                <a:latin typeface="Times New Roman" panose="02020603050405020304" pitchFamily="18" charset="0"/>
                <a:cs typeface="Times New Roman" panose="02020603050405020304" pitchFamily="18" charset="0"/>
              </a:rPr>
              <a:t> - the same primitive, from the OS vendor. Requires a Copilot+ PC NPU, offers a fixed menu of actions, and Microsoft is retreating from the Windows AI push.</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Raycast AI ($8/mo), Apple Intelligence, Dottie, BoltAI</a:t>
            </a:r>
            <a:r>
              <a:rPr lang="en-US" sz="1150" b="0" dirty="0">
                <a:latin typeface="Times New Roman" panose="02020603050405020304" pitchFamily="18" charset="0"/>
                <a:cs typeface="Times New Roman" panose="02020603050405020304" pitchFamily="18" charset="0"/>
              </a:rPr>
              <a:t> - the entire "best AI assistant" review category is a Mac category. None of these run on Windows.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Jan.ai (5.3M downloads), AnythingLLM, Khoj, PyGPT, Chatbox</a:t>
            </a:r>
            <a:r>
              <a:rPr lang="en-US" sz="1150" b="0" dirty="0">
                <a:latin typeface="Times New Roman" panose="02020603050405020304" pitchFamily="18" charset="0"/>
                <a:cs typeface="Times New Roman" panose="02020603050405020304" pitchFamily="18" charset="0"/>
              </a:rPr>
              <a:t> - right philosophy, wrong shape. All local-capable, all open, and every one of them is an application window you open.</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The pattern:</a:t>
            </a:r>
            <a:r>
              <a:rPr lang="en-US" sz="1150" b="0" dirty="0">
                <a:latin typeface="Times New Roman" panose="02020603050405020304" pitchFamily="18" charset="0"/>
                <a:cs typeface="Times New Roman" panose="02020603050405020304" pitchFamily="18" charset="0"/>
              </a:rPr>
              <a:t> tools that are OS-integrated are closed, cloud-only or hardware-gated. Tools that are local and open are destinations you have to visit.</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The Positioning Table - The Empty Row</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11</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graphicFrame>
        <p:nvGraphicFramePr>
          <p:cNvPr id="103" name="Table 102"/>
          <p:cNvGraphicFramePr>
            <a:graphicFrameLocks noGrp="1"/>
          </p:cNvGraphicFramePr>
          <p:nvPr/>
        </p:nvGraphicFramePr>
        <p:xfrm>
          <a:off x="109728" y="502920"/>
          <a:ext cx="4387287" cy="1463040"/>
        </p:xfrm>
        <a:graphic>
          <a:graphicData uri="http://schemas.openxmlformats.org/drawingml/2006/table">
            <a:tbl>
              <a:tblPr firstRow="1" bandRow="0">
                <a:tableStyleId>{5940675A-B579-460E-94D1-54222C63F5DA}</a:tableStyleId>
              </a:tblPr>
              <a:tblGrid>
                <a:gridCol w="969264"/>
                <a:gridCol w="488289"/>
                <a:gridCol w="488289"/>
                <a:gridCol w="488289"/>
                <a:gridCol w="488289"/>
                <a:gridCol w="488289"/>
                <a:gridCol w="488289"/>
                <a:gridCol w="488289"/>
              </a:tblGrid>
              <a:tr h="274320">
                <a:tc>
                  <a:txBody>
                    <a:bodyPr/>
                    <a:lstStyle/>
                    <a:p>
                      <a:pPr algn="l"/>
                    </a:p>
                  </a:txBody>
                  <a:tcPr marL="18000" marR="18000" marT="9000" marB="9000">
                    <a:solidFill>
                      <a:srgbClr val="1F2A44"/>
                    </a:solidFill>
                  </a:tcPr>
                </a:tc>
                <a:tc>
                  <a:txBody>
                    <a:bodyPr/>
                    <a:lstStyle/>
                    <a:p>
                      <a:pPr algn="ctr"/>
                      <a:r>
                        <a:rPr sz="750" b="1">
                          <a:solidFill>
                            <a:srgbClr val="FFFFFF"/>
                          </a:solidFill>
                          <a:latin typeface="Times New Roman"/>
                        </a:rPr>
                        <a:t>Windows</a:t>
                      </a:r>
                    </a:p>
                  </a:txBody>
                  <a:tcPr marL="18000" marR="18000" marT="9000" marB="9000">
                    <a:solidFill>
                      <a:srgbClr val="1F2A44"/>
                    </a:solidFill>
                  </a:tcPr>
                </a:tc>
                <a:tc>
                  <a:txBody>
                    <a:bodyPr/>
                    <a:lstStyle/>
                    <a:p>
                      <a:pPr algn="ctr"/>
                      <a:r>
                        <a:rPr sz="750" b="1">
                          <a:solidFill>
                            <a:srgbClr val="FFFFFF"/>
                          </a:solidFill>
                          <a:latin typeface="Times New Roman"/>
                        </a:rPr>
                        <a:t>No special</a:t>
                      </a:r>
                    </a:p>
                    <a:p>
                      <a:pPr algn="ctr"/>
                      <a:r>
                        <a:rPr sz="750" b="1">
                          <a:solidFill>
                            <a:srgbClr val="FFFFFF"/>
                          </a:solidFill>
                          <a:latin typeface="Times New Roman"/>
                        </a:rPr>
                        <a:t>hardware</a:t>
                      </a:r>
                    </a:p>
                  </a:txBody>
                  <a:tcPr marL="18000" marR="18000" marT="9000" marB="9000">
                    <a:solidFill>
                      <a:srgbClr val="1F2A44"/>
                    </a:solidFill>
                  </a:tcPr>
                </a:tc>
                <a:tc>
                  <a:txBody>
                    <a:bodyPr/>
                    <a:lstStyle/>
                    <a:p>
                      <a:pPr algn="ctr"/>
                      <a:r>
                        <a:rPr sz="750" b="1">
                          <a:solidFill>
                            <a:srgbClr val="FFFFFF"/>
                          </a:solidFill>
                          <a:latin typeface="Times New Roman"/>
                        </a:rPr>
                        <a:t>Local</a:t>
                      </a:r>
                    </a:p>
                    <a:p>
                      <a:pPr algn="ctr"/>
                      <a:r>
                        <a:rPr sz="750" b="1">
                          <a:solidFill>
                            <a:srgbClr val="FFFFFF"/>
                          </a:solidFill>
                          <a:latin typeface="Times New Roman"/>
                        </a:rPr>
                        <a:t>option</a:t>
                      </a:r>
                    </a:p>
                  </a:txBody>
                  <a:tcPr marL="18000" marR="18000" marT="9000" marB="9000">
                    <a:solidFill>
                      <a:srgbClr val="1F2A44"/>
                    </a:solidFill>
                  </a:tcPr>
                </a:tc>
                <a:tc>
                  <a:txBody>
                    <a:bodyPr/>
                    <a:lstStyle/>
                    <a:p>
                      <a:pPr algn="ctr"/>
                      <a:r>
                        <a:rPr sz="750" b="1">
                          <a:solidFill>
                            <a:srgbClr val="FFFFFF"/>
                          </a:solidFill>
                          <a:latin typeface="Times New Roman"/>
                        </a:rPr>
                        <a:t>Cloud</a:t>
                      </a:r>
                    </a:p>
                    <a:p>
                      <a:pPr algn="ctr"/>
                      <a:r>
                        <a:rPr sz="750" b="1">
                          <a:solidFill>
                            <a:srgbClr val="FFFFFF"/>
                          </a:solidFill>
                          <a:latin typeface="Times New Roman"/>
                        </a:rPr>
                        <a:t>choice</a:t>
                      </a:r>
                    </a:p>
                  </a:txBody>
                  <a:tcPr marL="18000" marR="18000" marT="9000" marB="9000">
                    <a:solidFill>
                      <a:srgbClr val="1F2A44"/>
                    </a:solidFill>
                  </a:tcPr>
                </a:tc>
                <a:tc>
                  <a:txBody>
                    <a:bodyPr/>
                    <a:lstStyle/>
                    <a:p>
                      <a:pPr algn="ctr"/>
                      <a:r>
                        <a:rPr sz="750" b="1">
                          <a:solidFill>
                            <a:srgbClr val="FFFFFF"/>
                          </a:solidFill>
                          <a:latin typeface="Times New Roman"/>
                        </a:rPr>
                        <a:t>Selection</a:t>
                      </a:r>
                    </a:p>
                    <a:p>
                      <a:pPr algn="ctr"/>
                      <a:r>
                        <a:rPr sz="750" b="1">
                          <a:solidFill>
                            <a:srgbClr val="FFFFFF"/>
                          </a:solidFill>
                          <a:latin typeface="Times New Roman"/>
                        </a:rPr>
                        <a:t>triggered</a:t>
                      </a:r>
                    </a:p>
                  </a:txBody>
                  <a:tcPr marL="18000" marR="18000" marT="9000" marB="9000">
                    <a:solidFill>
                      <a:srgbClr val="1F2A44"/>
                    </a:solidFill>
                  </a:tcPr>
                </a:tc>
                <a:tc>
                  <a:txBody>
                    <a:bodyPr/>
                    <a:lstStyle/>
                    <a:p>
                      <a:pPr algn="ctr"/>
                      <a:r>
                        <a:rPr sz="750" b="1">
                          <a:solidFill>
                            <a:srgbClr val="FFFFFF"/>
                          </a:solidFill>
                          <a:latin typeface="Times New Roman"/>
                        </a:rPr>
                        <a:t>Individual</a:t>
                      </a:r>
                    </a:p>
                    <a:p>
                      <a:pPr algn="ctr"/>
                      <a:r>
                        <a:rPr sz="750" b="1">
                          <a:solidFill>
                            <a:srgbClr val="FFFFFF"/>
                          </a:solidFill>
                          <a:latin typeface="Times New Roman"/>
                        </a:rPr>
                        <a:t>user</a:t>
                      </a:r>
                    </a:p>
                  </a:txBody>
                  <a:tcPr marL="18000" marR="18000" marT="9000" marB="9000">
                    <a:solidFill>
                      <a:srgbClr val="1F2A44"/>
                    </a:solidFill>
                  </a:tcPr>
                </a:tc>
                <a:tc>
                  <a:txBody>
                    <a:bodyPr/>
                    <a:lstStyle/>
                    <a:p>
                      <a:pPr algn="ctr"/>
                      <a:r>
                        <a:rPr sz="750" b="1">
                          <a:solidFill>
                            <a:srgbClr val="FFFFFF"/>
                          </a:solidFill>
                          <a:latin typeface="Times New Roman"/>
                        </a:rPr>
                        <a:t>Open</a:t>
                      </a:r>
                    </a:p>
                    <a:p>
                      <a:pPr algn="ctr"/>
                      <a:r>
                        <a:rPr sz="750" b="1">
                          <a:solidFill>
                            <a:srgbClr val="FFFFFF"/>
                          </a:solidFill>
                          <a:latin typeface="Times New Roman"/>
                        </a:rPr>
                        <a:t>source</a:t>
                      </a:r>
                    </a:p>
                  </a:txBody>
                  <a:tcPr marL="18000" marR="18000" marT="9000" marB="9000">
                    <a:solidFill>
                      <a:srgbClr val="1F2A44"/>
                    </a:solidFill>
                  </a:tcPr>
                </a:tc>
              </a:tr>
              <a:tr h="237744">
                <a:tc>
                  <a:txBody>
                    <a:bodyPr/>
                    <a:lstStyle/>
                    <a:p>
                      <a:pPr algn="l"/>
                      <a:r>
                        <a:rPr sz="850" b="1">
                          <a:solidFill>
                            <a:srgbClr val="1A1A1A"/>
                          </a:solidFill>
                          <a:latin typeface="Times New Roman"/>
                        </a:rPr>
                        <a:t>Highlight AI</a:t>
                      </a:r>
                    </a:p>
                  </a:txBody>
                  <a:tcPr marL="18000" marR="18000" marT="9000" marB="9000">
                    <a:solidFill>
                      <a:srgbClr val="F4F5F7"/>
                    </a:solidFill>
                  </a:tcPr>
                </a:tc>
                <a:tc>
                  <a:txBody>
                    <a:bodyPr/>
                    <a:lstStyle/>
                    <a:p>
                      <a:pPr algn="ctr"/>
                      <a:r>
                        <a:rPr sz="850" b="0">
                          <a:solidFill>
                            <a:srgbClr val="1B7F3B"/>
                          </a:solidFill>
                          <a:latin typeface="Times New Roman"/>
                        </a:rPr>
                        <a:t>Y</a:t>
                      </a:r>
                    </a:p>
                  </a:txBody>
                  <a:tcPr marL="18000" marR="18000" marT="9000" marB="9000">
                    <a:solidFill>
                      <a:srgbClr val="F4F5F7"/>
                    </a:solidFill>
                  </a:tcPr>
                </a:tc>
                <a:tc>
                  <a:txBody>
                    <a:bodyPr/>
                    <a:lstStyle/>
                    <a:p>
                      <a:pPr algn="ctr"/>
                      <a:r>
                        <a:rPr sz="850" b="0">
                          <a:solidFill>
                            <a:srgbClr val="1B7F3B"/>
                          </a:solidFill>
                          <a:latin typeface="Times New Roman"/>
                        </a:rPr>
                        <a:t>Y</a:t>
                      </a:r>
                    </a:p>
                  </a:txBody>
                  <a:tcPr marL="18000" marR="18000" marT="9000" marB="9000">
                    <a:solidFill>
                      <a:srgbClr val="F4F5F7"/>
                    </a:solidFill>
                  </a:tcPr>
                </a:tc>
                <a:tc>
                  <a:txBody>
                    <a:bodyPr/>
                    <a:lstStyle/>
                    <a:p>
                      <a:pPr algn="ctr"/>
                      <a:r>
                        <a:rPr sz="850" b="0">
                          <a:solidFill>
                            <a:srgbClr val="B02A2A"/>
                          </a:solidFill>
                          <a:latin typeface="Times New Roman"/>
                        </a:rPr>
                        <a:t>N</a:t>
                      </a:r>
                    </a:p>
                  </a:txBody>
                  <a:tcPr marL="18000" marR="18000" marT="9000" marB="9000">
                    <a:solidFill>
                      <a:srgbClr val="F4F5F7"/>
                    </a:solidFill>
                  </a:tcPr>
                </a:tc>
                <a:tc>
                  <a:txBody>
                    <a:bodyPr/>
                    <a:lstStyle/>
                    <a:p>
                      <a:pPr algn="ctr"/>
                      <a:r>
                        <a:rPr sz="850" b="0">
                          <a:solidFill>
                            <a:srgbClr val="B02A2A"/>
                          </a:solidFill>
                          <a:latin typeface="Times New Roman"/>
                        </a:rPr>
                        <a:t>N</a:t>
                      </a:r>
                    </a:p>
                  </a:txBody>
                  <a:tcPr marL="18000" marR="18000" marT="9000" marB="9000">
                    <a:solidFill>
                      <a:srgbClr val="F4F5F7"/>
                    </a:solidFill>
                  </a:tcPr>
                </a:tc>
                <a:tc>
                  <a:txBody>
                    <a:bodyPr/>
                    <a:lstStyle/>
                    <a:p>
                      <a:pPr algn="ctr"/>
                      <a:r>
                        <a:rPr sz="850" b="0">
                          <a:solidFill>
                            <a:srgbClr val="1B7F3B"/>
                          </a:solidFill>
                          <a:latin typeface="Times New Roman"/>
                        </a:rPr>
                        <a:t>Y</a:t>
                      </a:r>
                    </a:p>
                  </a:txBody>
                  <a:tcPr marL="18000" marR="18000" marT="9000" marB="9000">
                    <a:solidFill>
                      <a:srgbClr val="F4F5F7"/>
                    </a:solidFill>
                  </a:tcPr>
                </a:tc>
                <a:tc>
                  <a:txBody>
                    <a:bodyPr/>
                    <a:lstStyle/>
                    <a:p>
                      <a:pPr algn="ctr"/>
                      <a:r>
                        <a:rPr sz="850" b="0">
                          <a:solidFill>
                            <a:srgbClr val="B02A2A"/>
                          </a:solidFill>
                          <a:latin typeface="Times New Roman"/>
                        </a:rPr>
                        <a:t>N  pivoted</a:t>
                      </a:r>
                    </a:p>
                  </a:txBody>
                  <a:tcPr marL="18000" marR="18000" marT="9000" marB="9000">
                    <a:solidFill>
                      <a:srgbClr val="F4F5F7"/>
                    </a:solidFill>
                  </a:tcPr>
                </a:tc>
                <a:tc>
                  <a:txBody>
                    <a:bodyPr/>
                    <a:lstStyle/>
                    <a:p>
                      <a:pPr algn="ctr"/>
                      <a:r>
                        <a:rPr sz="850" b="0">
                          <a:solidFill>
                            <a:srgbClr val="B02A2A"/>
                          </a:solidFill>
                          <a:latin typeface="Times New Roman"/>
                        </a:rPr>
                        <a:t>N</a:t>
                      </a:r>
                    </a:p>
                  </a:txBody>
                  <a:tcPr marL="18000" marR="18000" marT="9000" marB="9000">
                    <a:solidFill>
                      <a:srgbClr val="F4F5F7"/>
                    </a:solidFill>
                  </a:tcPr>
                </a:tc>
              </a:tr>
              <a:tr h="237744">
                <a:tc>
                  <a:txBody>
                    <a:bodyPr/>
                    <a:lstStyle/>
                    <a:p>
                      <a:pPr algn="l"/>
                      <a:r>
                        <a:rPr sz="850" b="1">
                          <a:solidFill>
                            <a:srgbClr val="1A1A1A"/>
                          </a:solidFill>
                          <a:latin typeface="Times New Roman"/>
                        </a:rPr>
                        <a:t>Click to Do</a:t>
                      </a:r>
                    </a:p>
                  </a:txBody>
                  <a:tcPr marL="18000" marR="18000" marT="9000" marB="9000">
                    <a:solidFill>
                      <a:srgbClr val="FFFFFF"/>
                    </a:solidFill>
                  </a:tcPr>
                </a:tc>
                <a:tc>
                  <a:txBody>
                    <a:bodyPr/>
                    <a:lstStyle/>
                    <a:p>
                      <a:pPr algn="ctr"/>
                      <a:r>
                        <a:rPr sz="850" b="0">
                          <a:solidFill>
                            <a:srgbClr val="1B7F3B"/>
                          </a:solidFill>
                          <a:latin typeface="Times New Roman"/>
                        </a:rPr>
                        <a:t>Y</a:t>
                      </a:r>
                    </a:p>
                  </a:txBody>
                  <a:tcPr marL="18000" marR="18000" marT="9000" marB="9000">
                    <a:solidFill>
                      <a:srgbClr val="FFFFFF"/>
                    </a:solidFill>
                  </a:tcPr>
                </a:tc>
                <a:tc>
                  <a:txBody>
                    <a:bodyPr/>
                    <a:lstStyle/>
                    <a:p>
                      <a:pPr algn="ctr"/>
                      <a:r>
                        <a:rPr sz="850" b="0">
                          <a:solidFill>
                            <a:srgbClr val="B02A2A"/>
                          </a:solidFill>
                          <a:latin typeface="Times New Roman"/>
                        </a:rPr>
                        <a:t>N  NPU</a:t>
                      </a:r>
                    </a:p>
                  </a:txBody>
                  <a:tcPr marL="18000" marR="18000" marT="9000" marB="9000">
                    <a:solidFill>
                      <a:srgbClr val="FFFFFF"/>
                    </a:solidFill>
                  </a:tcPr>
                </a:tc>
                <a:tc>
                  <a:txBody>
                    <a:bodyPr/>
                    <a:lstStyle/>
                    <a:p>
                      <a:pPr algn="ctr"/>
                      <a:r>
                        <a:rPr sz="850" b="0">
                          <a:solidFill>
                            <a:srgbClr val="1B7F3B"/>
                          </a:solidFill>
                          <a:latin typeface="Times New Roman"/>
                        </a:rPr>
                        <a:t>Y</a:t>
                      </a:r>
                    </a:p>
                  </a:txBody>
                  <a:tcPr marL="18000" marR="18000" marT="9000" marB="9000">
                    <a:solidFill>
                      <a:srgbClr val="FFFFFF"/>
                    </a:solidFill>
                  </a:tcPr>
                </a:tc>
                <a:tc>
                  <a:txBody>
                    <a:bodyPr/>
                    <a:lstStyle/>
                    <a:p>
                      <a:pPr algn="ctr"/>
                      <a:r>
                        <a:rPr sz="850" b="0">
                          <a:solidFill>
                            <a:srgbClr val="B02A2A"/>
                          </a:solidFill>
                          <a:latin typeface="Times New Roman"/>
                        </a:rPr>
                        <a:t>N</a:t>
                      </a:r>
                    </a:p>
                  </a:txBody>
                  <a:tcPr marL="18000" marR="18000" marT="9000" marB="9000">
                    <a:solidFill>
                      <a:srgbClr val="FFFFFF"/>
                    </a:solidFill>
                  </a:tcPr>
                </a:tc>
                <a:tc>
                  <a:txBody>
                    <a:bodyPr/>
                    <a:lstStyle/>
                    <a:p>
                      <a:pPr algn="ctr"/>
                      <a:r>
                        <a:rPr sz="850" b="0">
                          <a:solidFill>
                            <a:srgbClr val="1B7F3B"/>
                          </a:solidFill>
                          <a:latin typeface="Times New Roman"/>
                        </a:rPr>
                        <a:t>Y</a:t>
                      </a:r>
                    </a:p>
                  </a:txBody>
                  <a:tcPr marL="18000" marR="18000" marT="9000" marB="9000">
                    <a:solidFill>
                      <a:srgbClr val="FFFFFF"/>
                    </a:solidFill>
                  </a:tcPr>
                </a:tc>
                <a:tc>
                  <a:txBody>
                    <a:bodyPr/>
                    <a:lstStyle/>
                    <a:p>
                      <a:pPr algn="ctr"/>
                      <a:r>
                        <a:rPr sz="850" b="0">
                          <a:solidFill>
                            <a:srgbClr val="1B7F3B"/>
                          </a:solidFill>
                          <a:latin typeface="Times New Roman"/>
                        </a:rPr>
                        <a:t>Y</a:t>
                      </a:r>
                    </a:p>
                  </a:txBody>
                  <a:tcPr marL="18000" marR="18000" marT="9000" marB="9000">
                    <a:solidFill>
                      <a:srgbClr val="FFFFFF"/>
                    </a:solidFill>
                  </a:tcPr>
                </a:tc>
                <a:tc>
                  <a:txBody>
                    <a:bodyPr/>
                    <a:lstStyle/>
                    <a:p>
                      <a:pPr algn="ctr"/>
                      <a:r>
                        <a:rPr sz="850" b="0">
                          <a:solidFill>
                            <a:srgbClr val="B02A2A"/>
                          </a:solidFill>
                          <a:latin typeface="Times New Roman"/>
                        </a:rPr>
                        <a:t>N</a:t>
                      </a:r>
                    </a:p>
                  </a:txBody>
                  <a:tcPr marL="18000" marR="18000" marT="9000" marB="9000">
                    <a:solidFill>
                      <a:srgbClr val="FFFFFF"/>
                    </a:solidFill>
                  </a:tcPr>
                </a:tc>
              </a:tr>
              <a:tr h="237744">
                <a:tc>
                  <a:txBody>
                    <a:bodyPr/>
                    <a:lstStyle/>
                    <a:p>
                      <a:pPr algn="l"/>
                      <a:r>
                        <a:rPr sz="850" b="1">
                          <a:solidFill>
                            <a:srgbClr val="1A1A1A"/>
                          </a:solidFill>
                          <a:latin typeface="Times New Roman"/>
                        </a:rPr>
                        <a:t>Raycast / Apple</a:t>
                      </a:r>
                    </a:p>
                  </a:txBody>
                  <a:tcPr marL="18000" marR="18000" marT="9000" marB="9000">
                    <a:solidFill>
                      <a:srgbClr val="F4F5F7"/>
                    </a:solidFill>
                  </a:tcPr>
                </a:tc>
                <a:tc>
                  <a:txBody>
                    <a:bodyPr/>
                    <a:lstStyle/>
                    <a:p>
                      <a:pPr algn="ctr"/>
                      <a:r>
                        <a:rPr sz="850" b="0">
                          <a:solidFill>
                            <a:srgbClr val="B02A2A"/>
                          </a:solidFill>
                          <a:latin typeface="Times New Roman"/>
                        </a:rPr>
                        <a:t>N</a:t>
                      </a:r>
                    </a:p>
                  </a:txBody>
                  <a:tcPr marL="18000" marR="18000" marT="9000" marB="9000">
                    <a:solidFill>
                      <a:srgbClr val="F4F5F7"/>
                    </a:solidFill>
                  </a:tcPr>
                </a:tc>
                <a:tc>
                  <a:txBody>
                    <a:bodyPr/>
                    <a:lstStyle/>
                    <a:p>
                      <a:pPr algn="ctr"/>
                      <a:r>
                        <a:rPr sz="850" b="0">
                          <a:solidFill>
                            <a:srgbClr val="1A1A1A"/>
                          </a:solidFill>
                          <a:latin typeface="Times New Roman"/>
                        </a:rPr>
                        <a:t>-</a:t>
                      </a:r>
                    </a:p>
                  </a:txBody>
                  <a:tcPr marL="18000" marR="18000" marT="9000" marB="9000">
                    <a:solidFill>
                      <a:srgbClr val="F4F5F7"/>
                    </a:solidFill>
                  </a:tcPr>
                </a:tc>
                <a:tc>
                  <a:txBody>
                    <a:bodyPr/>
                    <a:lstStyle/>
                    <a:p>
                      <a:pPr algn="ctr"/>
                      <a:r>
                        <a:rPr sz="850" b="0">
                          <a:solidFill>
                            <a:srgbClr val="1A1A1A"/>
                          </a:solidFill>
                          <a:latin typeface="Times New Roman"/>
                        </a:rPr>
                        <a:t>partial</a:t>
                      </a:r>
                    </a:p>
                  </a:txBody>
                  <a:tcPr marL="18000" marR="18000" marT="9000" marB="9000">
                    <a:solidFill>
                      <a:srgbClr val="F4F5F7"/>
                    </a:solidFill>
                  </a:tcPr>
                </a:tc>
                <a:tc>
                  <a:txBody>
                    <a:bodyPr/>
                    <a:lstStyle/>
                    <a:p>
                      <a:pPr algn="ctr"/>
                      <a:r>
                        <a:rPr sz="850" b="0">
                          <a:solidFill>
                            <a:srgbClr val="1A1A1A"/>
                          </a:solidFill>
                          <a:latin typeface="Times New Roman"/>
                        </a:rPr>
                        <a:t>partial</a:t>
                      </a:r>
                    </a:p>
                  </a:txBody>
                  <a:tcPr marL="18000" marR="18000" marT="9000" marB="9000">
                    <a:solidFill>
                      <a:srgbClr val="F4F5F7"/>
                    </a:solidFill>
                  </a:tcPr>
                </a:tc>
                <a:tc>
                  <a:txBody>
                    <a:bodyPr/>
                    <a:lstStyle/>
                    <a:p>
                      <a:pPr algn="ctr"/>
                      <a:r>
                        <a:rPr sz="850" b="0">
                          <a:solidFill>
                            <a:srgbClr val="1B7F3B"/>
                          </a:solidFill>
                          <a:latin typeface="Times New Roman"/>
                        </a:rPr>
                        <a:t>Y</a:t>
                      </a:r>
                    </a:p>
                  </a:txBody>
                  <a:tcPr marL="18000" marR="18000" marT="9000" marB="9000">
                    <a:solidFill>
                      <a:srgbClr val="F4F5F7"/>
                    </a:solidFill>
                  </a:tcPr>
                </a:tc>
                <a:tc>
                  <a:txBody>
                    <a:bodyPr/>
                    <a:lstStyle/>
                    <a:p>
                      <a:pPr algn="ctr"/>
                      <a:r>
                        <a:rPr sz="850" b="0">
                          <a:solidFill>
                            <a:srgbClr val="1B7F3B"/>
                          </a:solidFill>
                          <a:latin typeface="Times New Roman"/>
                        </a:rPr>
                        <a:t>Y</a:t>
                      </a:r>
                    </a:p>
                  </a:txBody>
                  <a:tcPr marL="18000" marR="18000" marT="9000" marB="9000">
                    <a:solidFill>
                      <a:srgbClr val="F4F5F7"/>
                    </a:solidFill>
                  </a:tcPr>
                </a:tc>
                <a:tc>
                  <a:txBody>
                    <a:bodyPr/>
                    <a:lstStyle/>
                    <a:p>
                      <a:pPr algn="ctr"/>
                      <a:r>
                        <a:rPr sz="850" b="0">
                          <a:solidFill>
                            <a:srgbClr val="B02A2A"/>
                          </a:solidFill>
                          <a:latin typeface="Times New Roman"/>
                        </a:rPr>
                        <a:t>N</a:t>
                      </a:r>
                    </a:p>
                  </a:txBody>
                  <a:tcPr marL="18000" marR="18000" marT="9000" marB="9000">
                    <a:solidFill>
                      <a:srgbClr val="F4F5F7"/>
                    </a:solidFill>
                  </a:tcPr>
                </a:tc>
              </a:tr>
              <a:tr h="237744">
                <a:tc>
                  <a:txBody>
                    <a:bodyPr/>
                    <a:lstStyle/>
                    <a:p>
                      <a:pPr algn="l"/>
                      <a:r>
                        <a:rPr sz="850" b="1">
                          <a:solidFill>
                            <a:srgbClr val="1A1A1A"/>
                          </a:solidFill>
                          <a:latin typeface="Times New Roman"/>
                        </a:rPr>
                        <a:t>Jan.ai / PyGPT / Khoj</a:t>
                      </a:r>
                    </a:p>
                  </a:txBody>
                  <a:tcPr marL="18000" marR="18000" marT="9000" marB="9000">
                    <a:solidFill>
                      <a:srgbClr val="FFFFFF"/>
                    </a:solidFill>
                  </a:tcPr>
                </a:tc>
                <a:tc>
                  <a:txBody>
                    <a:bodyPr/>
                    <a:lstStyle/>
                    <a:p>
                      <a:pPr algn="ctr"/>
                      <a:r>
                        <a:rPr sz="850" b="0">
                          <a:solidFill>
                            <a:srgbClr val="1B7F3B"/>
                          </a:solidFill>
                          <a:latin typeface="Times New Roman"/>
                        </a:rPr>
                        <a:t>Y</a:t>
                      </a:r>
                    </a:p>
                  </a:txBody>
                  <a:tcPr marL="18000" marR="18000" marT="9000" marB="9000">
                    <a:solidFill>
                      <a:srgbClr val="FFFFFF"/>
                    </a:solidFill>
                  </a:tcPr>
                </a:tc>
                <a:tc>
                  <a:txBody>
                    <a:bodyPr/>
                    <a:lstStyle/>
                    <a:p>
                      <a:pPr algn="ctr"/>
                      <a:r>
                        <a:rPr sz="850" b="0">
                          <a:solidFill>
                            <a:srgbClr val="1B7F3B"/>
                          </a:solidFill>
                          <a:latin typeface="Times New Roman"/>
                        </a:rPr>
                        <a:t>Y</a:t>
                      </a:r>
                    </a:p>
                  </a:txBody>
                  <a:tcPr marL="18000" marR="18000" marT="9000" marB="9000">
                    <a:solidFill>
                      <a:srgbClr val="FFFFFF"/>
                    </a:solidFill>
                  </a:tcPr>
                </a:tc>
                <a:tc>
                  <a:txBody>
                    <a:bodyPr/>
                    <a:lstStyle/>
                    <a:p>
                      <a:pPr algn="ctr"/>
                      <a:r>
                        <a:rPr sz="850" b="0">
                          <a:solidFill>
                            <a:srgbClr val="1B7F3B"/>
                          </a:solidFill>
                          <a:latin typeface="Times New Roman"/>
                        </a:rPr>
                        <a:t>Y</a:t>
                      </a:r>
                    </a:p>
                  </a:txBody>
                  <a:tcPr marL="18000" marR="18000" marT="9000" marB="9000">
                    <a:solidFill>
                      <a:srgbClr val="FFFFFF"/>
                    </a:solidFill>
                  </a:tcPr>
                </a:tc>
                <a:tc>
                  <a:txBody>
                    <a:bodyPr/>
                    <a:lstStyle/>
                    <a:p>
                      <a:pPr algn="ctr"/>
                      <a:r>
                        <a:rPr sz="850" b="0">
                          <a:solidFill>
                            <a:srgbClr val="1B7F3B"/>
                          </a:solidFill>
                          <a:latin typeface="Times New Roman"/>
                        </a:rPr>
                        <a:t>Y</a:t>
                      </a:r>
                    </a:p>
                  </a:txBody>
                  <a:tcPr marL="18000" marR="18000" marT="9000" marB="9000">
                    <a:solidFill>
                      <a:srgbClr val="FFFFFF"/>
                    </a:solidFill>
                  </a:tcPr>
                </a:tc>
                <a:tc>
                  <a:txBody>
                    <a:bodyPr/>
                    <a:lstStyle/>
                    <a:p>
                      <a:pPr algn="ctr"/>
                      <a:r>
                        <a:rPr sz="850" b="0">
                          <a:solidFill>
                            <a:srgbClr val="B02A2A"/>
                          </a:solidFill>
                          <a:latin typeface="Times New Roman"/>
                        </a:rPr>
                        <a:t>N</a:t>
                      </a:r>
                    </a:p>
                  </a:txBody>
                  <a:tcPr marL="18000" marR="18000" marT="9000" marB="9000">
                    <a:solidFill>
                      <a:srgbClr val="FFFFFF"/>
                    </a:solidFill>
                  </a:tcPr>
                </a:tc>
                <a:tc>
                  <a:txBody>
                    <a:bodyPr/>
                    <a:lstStyle/>
                    <a:p>
                      <a:pPr algn="ctr"/>
                      <a:r>
                        <a:rPr sz="850" b="0">
                          <a:solidFill>
                            <a:srgbClr val="1B7F3B"/>
                          </a:solidFill>
                          <a:latin typeface="Times New Roman"/>
                        </a:rPr>
                        <a:t>Y</a:t>
                      </a:r>
                    </a:p>
                  </a:txBody>
                  <a:tcPr marL="18000" marR="18000" marT="9000" marB="9000">
                    <a:solidFill>
                      <a:srgbClr val="FFFFFF"/>
                    </a:solidFill>
                  </a:tcPr>
                </a:tc>
                <a:tc>
                  <a:txBody>
                    <a:bodyPr/>
                    <a:lstStyle/>
                    <a:p>
                      <a:pPr algn="ctr"/>
                      <a:r>
                        <a:rPr sz="850" b="0">
                          <a:solidFill>
                            <a:srgbClr val="1B7F3B"/>
                          </a:solidFill>
                          <a:latin typeface="Times New Roman"/>
                        </a:rPr>
                        <a:t>Y</a:t>
                      </a:r>
                    </a:p>
                  </a:txBody>
                  <a:tcPr marL="18000" marR="18000" marT="9000" marB="9000">
                    <a:solidFill>
                      <a:srgbClr val="FFFFFF"/>
                    </a:solidFill>
                  </a:tcPr>
                </a:tc>
              </a:tr>
              <a:tr h="237744">
                <a:tc>
                  <a:txBody>
                    <a:bodyPr/>
                    <a:lstStyle/>
                    <a:p>
                      <a:pPr algn="l"/>
                      <a:r>
                        <a:rPr sz="850" b="1">
                          <a:solidFill>
                            <a:srgbClr val="1A1A1A"/>
                          </a:solidFill>
                          <a:latin typeface="Times New Roman"/>
                        </a:rPr>
                        <a:t>PERCH</a:t>
                      </a:r>
                    </a:p>
                  </a:txBody>
                  <a:tcPr marL="18000" marR="18000" marT="9000" marB="9000">
                    <a:solidFill>
                      <a:srgbClr val="E7F3EA"/>
                    </a:solidFill>
                  </a:tcPr>
                </a:tc>
                <a:tc>
                  <a:txBody>
                    <a:bodyPr/>
                    <a:lstStyle/>
                    <a:p>
                      <a:pPr algn="ctr"/>
                      <a:r>
                        <a:rPr sz="850" b="1">
                          <a:solidFill>
                            <a:srgbClr val="1B7F3B"/>
                          </a:solidFill>
                          <a:latin typeface="Times New Roman"/>
                        </a:rPr>
                        <a:t>Y</a:t>
                      </a:r>
                    </a:p>
                  </a:txBody>
                  <a:tcPr marL="18000" marR="18000" marT="9000" marB="9000">
                    <a:solidFill>
                      <a:srgbClr val="E7F3EA"/>
                    </a:solidFill>
                  </a:tcPr>
                </a:tc>
                <a:tc>
                  <a:txBody>
                    <a:bodyPr/>
                    <a:lstStyle/>
                    <a:p>
                      <a:pPr algn="ctr"/>
                      <a:r>
                        <a:rPr sz="850" b="1">
                          <a:solidFill>
                            <a:srgbClr val="1B7F3B"/>
                          </a:solidFill>
                          <a:latin typeface="Times New Roman"/>
                        </a:rPr>
                        <a:t>Y</a:t>
                      </a:r>
                    </a:p>
                  </a:txBody>
                  <a:tcPr marL="18000" marR="18000" marT="9000" marB="9000">
                    <a:solidFill>
                      <a:srgbClr val="E7F3EA"/>
                    </a:solidFill>
                  </a:tcPr>
                </a:tc>
                <a:tc>
                  <a:txBody>
                    <a:bodyPr/>
                    <a:lstStyle/>
                    <a:p>
                      <a:pPr algn="ctr"/>
                      <a:r>
                        <a:rPr sz="850" b="1">
                          <a:solidFill>
                            <a:srgbClr val="1B7F3B"/>
                          </a:solidFill>
                          <a:latin typeface="Times New Roman"/>
                        </a:rPr>
                        <a:t>Y</a:t>
                      </a:r>
                    </a:p>
                  </a:txBody>
                  <a:tcPr marL="18000" marR="18000" marT="9000" marB="9000">
                    <a:solidFill>
                      <a:srgbClr val="E7F3EA"/>
                    </a:solidFill>
                  </a:tcPr>
                </a:tc>
                <a:tc>
                  <a:txBody>
                    <a:bodyPr/>
                    <a:lstStyle/>
                    <a:p>
                      <a:pPr algn="ctr"/>
                      <a:r>
                        <a:rPr sz="850" b="1">
                          <a:solidFill>
                            <a:srgbClr val="1B7F3B"/>
                          </a:solidFill>
                          <a:latin typeface="Times New Roman"/>
                        </a:rPr>
                        <a:t>Y</a:t>
                      </a:r>
                    </a:p>
                  </a:txBody>
                  <a:tcPr marL="18000" marR="18000" marT="9000" marB="9000">
                    <a:solidFill>
                      <a:srgbClr val="E7F3EA"/>
                    </a:solidFill>
                  </a:tcPr>
                </a:tc>
                <a:tc>
                  <a:txBody>
                    <a:bodyPr/>
                    <a:lstStyle/>
                    <a:p>
                      <a:pPr algn="ctr"/>
                      <a:r>
                        <a:rPr sz="850" b="1">
                          <a:solidFill>
                            <a:srgbClr val="1B7F3B"/>
                          </a:solidFill>
                          <a:latin typeface="Times New Roman"/>
                        </a:rPr>
                        <a:t>Y</a:t>
                      </a:r>
                    </a:p>
                  </a:txBody>
                  <a:tcPr marL="18000" marR="18000" marT="9000" marB="9000">
                    <a:solidFill>
                      <a:srgbClr val="E7F3EA"/>
                    </a:solidFill>
                  </a:tcPr>
                </a:tc>
                <a:tc>
                  <a:txBody>
                    <a:bodyPr/>
                    <a:lstStyle/>
                    <a:p>
                      <a:pPr algn="ctr"/>
                      <a:r>
                        <a:rPr sz="850" b="1">
                          <a:solidFill>
                            <a:srgbClr val="1B7F3B"/>
                          </a:solidFill>
                          <a:latin typeface="Times New Roman"/>
                        </a:rPr>
                        <a:t>Y</a:t>
                      </a:r>
                    </a:p>
                  </a:txBody>
                  <a:tcPr marL="18000" marR="18000" marT="9000" marB="9000">
                    <a:solidFill>
                      <a:srgbClr val="E7F3EA"/>
                    </a:solidFill>
                  </a:tcPr>
                </a:tc>
                <a:tc>
                  <a:txBody>
                    <a:bodyPr/>
                    <a:lstStyle/>
                    <a:p>
                      <a:pPr algn="ctr"/>
                      <a:r>
                        <a:rPr sz="850" b="1">
                          <a:solidFill>
                            <a:srgbClr val="1B7F3B"/>
                          </a:solidFill>
                          <a:latin typeface="Times New Roman"/>
                        </a:rPr>
                        <a:t>Y</a:t>
                      </a:r>
                    </a:p>
                  </a:txBody>
                  <a:tcPr marL="18000" marR="18000" marT="9000" marB="9000">
                    <a:solidFill>
                      <a:srgbClr val="E7F3EA"/>
                    </a:solidFill>
                  </a:tcPr>
                </a:tc>
              </a:tr>
            </a:tbl>
          </a:graphicData>
        </a:graphic>
      </p:graphicFrame>
      <p:sp>
        <p:nvSpPr>
          <p:cNvPr id="104" name="TextBox 103"/>
          <p:cNvSpPr txBox="1"/>
          <p:nvPr/>
        </p:nvSpPr>
        <p:spPr>
          <a:xfrm>
            <a:off x="109728" y="2395728"/>
            <a:ext cx="4389120" cy="822960"/>
          </a:xfrm>
          <a:prstGeom prst="rect">
            <a:avLst/>
          </a:prstGeom>
          <a:noFill/>
        </p:spPr>
        <p:txBody>
          <a:bodyPr wrap="square">
            <a:spAutoFit/>
          </a:bodyPr>
          <a:lstStyle/>
          <a:p>
            <a:r>
              <a:rPr b="1" sz="950">
                <a:latin typeface="Times New Roman"/>
              </a:rPr>
              <a:t>Read the columns, not the rows.</a:t>
            </a:r>
            <a:r>
              <a:rPr b="0" sz="950">
                <a:latin typeface="Times New Roman"/>
              </a:rPr>
              <a:t> Every competitor fails at least one column that matters to an individual user on an ordinary Windows laptop.</a:t>
            </a:r>
          </a:p>
          <a:p>
            <a:r>
              <a:rPr b="1" sz="950">
                <a:latin typeface="Times New Roman"/>
              </a:rPr>
              <a:t>Highlight is closed, cloud-only and has left this segment.</a:t>
            </a:r>
            <a:r>
              <a:rPr b="0" sz="950">
                <a:latin typeface="Times New Roman"/>
              </a:rPr>
              <a:t> Click to Do needs an NPU. The Mac tools do not run here. The local, open tools are all windows you have to go to.</a:t>
            </a:r>
          </a:p>
          <a:p>
            <a:r>
              <a:rPr b="1" sz="950">
                <a:latin typeface="Times New Roman"/>
              </a:rPr>
              <a:t>The bottom row is the project.</a:t>
            </a:r>
            <a:r>
              <a:rPr b="0" sz="950">
                <a:latin typeface="Times New Roman"/>
              </a:rPr>
              <a:t> Nothing in it is individually novel - the combination is the one nobody is shipping.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4" name="Google Shape;174;p14"/>
          <p:cNvSpPr/>
          <p:nvPr/>
        </p:nvSpPr>
        <p:spPr>
          <a:xfrm>
            <a:off x="0" y="-12"/>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75" name="Google Shape;175;p14"/>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dirty="0" b="0">
                <a:solidFill>
                  <a:srgbClr val="FFFFFF"/>
                </a:solidFill>
                <a:latin typeface="Times New Roman" panose="02020603050405020304" pitchFamily="18" charset="0"/>
                <a:cs typeface="Times New Roman" panose="02020603050405020304" pitchFamily="18" charset="0"/>
              </a:rPr>
              <a:t>System Architecture - Four Layers, One Request Path</a:t>
            </a:r>
          </a:p>
        </p:txBody>
      </p:sp>
      <p:grpSp>
        <p:nvGrpSpPr>
          <p:cNvPr id="177" name="Google Shape;177;p14"/>
          <p:cNvGrpSpPr/>
          <p:nvPr/>
        </p:nvGrpSpPr>
        <p:grpSpPr>
          <a:xfrm>
            <a:off x="0" y="3326968"/>
            <a:ext cx="4608017" cy="129539"/>
            <a:chOff x="0" y="3326968"/>
            <a:chExt cx="4608017" cy="129539"/>
          </a:xfrm>
        </p:grpSpPr>
        <p:sp>
          <p:nvSpPr>
            <p:cNvPr id="178" name="Google Shape;178;p14"/>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79" name="Google Shape;179;p14"/>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80" name="Google Shape;180;p14"/>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181" name="Google Shape;181;p14"/>
          <p:cNvSpPr txBox="1">
            <a:spLocks noGrp="1"/>
          </p:cNvSpPr>
          <p:nvPr>
            <p:ph type="ftr" idx="11"/>
          </p:nvPr>
        </p:nvSpPr>
        <p:spPr>
          <a:xfrm>
            <a:off x="421944" y="3331252"/>
            <a:ext cx="692150" cy="193628"/>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indent="0" algn="l" rtl="0">
              <a:lnSpc>
                <a:spcPct val="100000"/>
              </a:lnSpc>
              <a:spcBef>
                <a:spcPts val="0"/>
              </a:spcBef>
              <a:spcAft>
                <a:spcPts val="0"/>
              </a:spcAft>
              <a:buNone/>
            </a:pPr>
            <a:endParaRPr dirty="0"/>
          </a:p>
        </p:txBody>
      </p:sp>
      <p:sp>
        <p:nvSpPr>
          <p:cNvPr id="184" name="Google Shape;184;p14"/>
          <p:cNvSpPr txBox="1">
            <a:spLocks noGrp="1"/>
          </p:cNvSpPr>
          <p:nvPr>
            <p:ph type="sldNum" idx="12"/>
          </p:nvPr>
        </p:nvSpPr>
        <p:spPr>
          <a:xfrm>
            <a:off x="4275160" y="3331252"/>
            <a:ext cx="332767"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12</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4" name="Google Shape;85;p8">
            <a:extLst>
              <a:ext uri="{FF2B5EF4-FFF2-40B4-BE49-F238E27FC236}">
                <a16:creationId xmlns:a16="http://schemas.microsoft.com/office/drawing/2014/main" id="{68DD8F8F-AF3A-0712-A8A6-96A4B204E246}"/>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5" name="Google Shape;72;p7">
            <a:extLst>
              <a:ext uri="{FF2B5EF4-FFF2-40B4-BE49-F238E27FC236}">
                <a16:creationId xmlns:a16="http://schemas.microsoft.com/office/drawing/2014/main" id="{DE411B68-6E30-1CEA-C8AA-BB76173259F6}"/>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
        <p:nvSpPr>
          <p:cNvPr id="185" name="Rounded Rectangle 184"/>
          <p:cNvSpPr/>
          <p:nvPr/>
        </p:nvSpPr>
        <p:spPr>
          <a:xfrm>
            <a:off x="201168" y="365760"/>
            <a:ext cx="3246120" cy="228600"/>
          </a:xfrm>
          <a:prstGeom prst="roundRect">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USER   </a:t>
            </a:r>
            <a:r>
              <a:rPr sz="750" b="0">
                <a:solidFill>
                  <a:srgbClr val="FFFFFF"/>
                </a:solidFill>
                <a:latin typeface="Times New Roman"/>
              </a:rPr>
              <a:t>working in any Windows application - PDF, IDE, browser, email, form</a:t>
            </a:r>
          </a:p>
        </p:txBody>
      </p:sp>
      <p:sp>
        <p:nvSpPr>
          <p:cNvPr id="186" name="Down Arrow 185"/>
          <p:cNvSpPr/>
          <p:nvPr/>
        </p:nvSpPr>
        <p:spPr>
          <a:xfrm>
            <a:off x="1783080" y="605332"/>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Rounded Rectangle 186"/>
          <p:cNvSpPr/>
          <p:nvPr/>
        </p:nvSpPr>
        <p:spPr>
          <a:xfrm>
            <a:off x="201168" y="672084"/>
            <a:ext cx="3246120" cy="228600"/>
          </a:xfrm>
          <a:prstGeom prst="roundRect">
            <a:avLst/>
          </a:prstGeom>
          <a:solidFill>
            <a:srgbClr val="1E2761"/>
          </a:solidFill>
          <a:ln>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TRIGGER   </a:t>
            </a:r>
            <a:r>
              <a:rPr sz="750" b="0">
                <a:solidFill>
                  <a:srgbClr val="FFFFFF"/>
                </a:solidFill>
                <a:latin typeface="Times New Roman"/>
              </a:rPr>
              <a:t>L1   hotkey, selection or screenshot - nothing is read until you press it</a:t>
            </a:r>
          </a:p>
        </p:txBody>
      </p:sp>
      <p:sp>
        <p:nvSpPr>
          <p:cNvPr id="188" name="Down Arrow 187"/>
          <p:cNvSpPr/>
          <p:nvPr/>
        </p:nvSpPr>
        <p:spPr>
          <a:xfrm>
            <a:off x="1783080" y="911656"/>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Rounded Rectangle 188"/>
          <p:cNvSpPr/>
          <p:nvPr/>
        </p:nvSpPr>
        <p:spPr>
          <a:xfrm>
            <a:off x="201168" y="978408"/>
            <a:ext cx="3246120" cy="228600"/>
          </a:xfrm>
          <a:prstGeom prst="roundRect">
            <a:avLst/>
          </a:prstGeom>
          <a:solidFill>
            <a:srgbClr val="1E2761"/>
          </a:solidFill>
          <a:ln>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CAPTURE   </a:t>
            </a:r>
            <a:r>
              <a:rPr sz="750" b="0">
                <a:solidFill>
                  <a:srgbClr val="FFFFFF"/>
                </a:solidFill>
                <a:latin typeface="Times New Roman"/>
              </a:rPr>
              <a:t>L1   UI Automation, clipboard fallback; the host window handle is saved</a:t>
            </a:r>
          </a:p>
        </p:txBody>
      </p:sp>
      <p:sp>
        <p:nvSpPr>
          <p:cNvPr id="190" name="Down Arrow 189"/>
          <p:cNvSpPr/>
          <p:nvPr/>
        </p:nvSpPr>
        <p:spPr>
          <a:xfrm>
            <a:off x="1783080" y="1217980"/>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Rounded Rectangle 190"/>
          <p:cNvSpPr/>
          <p:nvPr/>
        </p:nvSpPr>
        <p:spPr>
          <a:xfrm>
            <a:off x="201168" y="1284732"/>
            <a:ext cx="3246120" cy="228600"/>
          </a:xfrm>
          <a:prstGeom prst="roundRect">
            <a:avLst/>
          </a:prstGeom>
          <a:solidFill>
            <a:srgbClr val="028090"/>
          </a:solidFill>
          <a:ln>
            <a:solidFill>
              <a:srgbClr val="028090"/>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BUDGET   </a:t>
            </a:r>
            <a:r>
              <a:rPr sz="750" b="0">
                <a:solidFill>
                  <a:srgbClr val="FFFFFF"/>
                </a:solidFill>
                <a:latin typeface="Times New Roman"/>
              </a:rPr>
              <a:t>L2   budget = context_window(model) - reserve(response) - reserve(system)</a:t>
            </a:r>
          </a:p>
        </p:txBody>
      </p:sp>
      <p:sp>
        <p:nvSpPr>
          <p:cNvPr id="192" name="Down Arrow 191"/>
          <p:cNvSpPr/>
          <p:nvPr/>
        </p:nvSpPr>
        <p:spPr>
          <a:xfrm>
            <a:off x="1783080" y="1524304"/>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Rounded Rectangle 192"/>
          <p:cNvSpPr/>
          <p:nvPr/>
        </p:nvSpPr>
        <p:spPr>
          <a:xfrm>
            <a:off x="201168" y="1591056"/>
            <a:ext cx="3246120" cy="228600"/>
          </a:xfrm>
          <a:prstGeom prst="roundRect">
            <a:avLst/>
          </a:prstGeom>
          <a:solidFill>
            <a:srgbClr val="028090"/>
          </a:solidFill>
          <a:ln>
            <a:solidFill>
              <a:srgbClr val="028090"/>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RETRIEVE   </a:t>
            </a:r>
            <a:r>
              <a:rPr sz="750" b="0">
                <a:solidFill>
                  <a:srgbClr val="FFFFFF"/>
                </a:solidFill>
                <a:latin typeface="Times New Roman"/>
              </a:rPr>
              <a:t>L3   category filter -&gt; semantic top-k -&gt; recency rerank -&gt; whole items only</a:t>
            </a:r>
          </a:p>
        </p:txBody>
      </p:sp>
      <p:sp>
        <p:nvSpPr>
          <p:cNvPr id="194" name="Down Arrow 193"/>
          <p:cNvSpPr/>
          <p:nvPr/>
        </p:nvSpPr>
        <p:spPr>
          <a:xfrm>
            <a:off x="1783080" y="1830628"/>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5" name="Rounded Rectangle 194"/>
          <p:cNvSpPr/>
          <p:nvPr/>
        </p:nvSpPr>
        <p:spPr>
          <a:xfrm>
            <a:off x="201168" y="1897380"/>
            <a:ext cx="3246120" cy="228600"/>
          </a:xfrm>
          <a:prstGeom prst="roundRect">
            <a:avLst/>
          </a:prstGeom>
          <a:solidFill>
            <a:srgbClr val="028090"/>
          </a:solidFill>
          <a:ln>
            <a:solidFill>
              <a:srgbClr val="028090"/>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ASSEMBLE   </a:t>
            </a:r>
            <a:r>
              <a:rPr sz="750" b="0">
                <a:solidFill>
                  <a:srgbClr val="FFFFFF"/>
                </a:solidFill>
                <a:latin typeface="Times New Roman"/>
              </a:rPr>
              <a:t>L2   system, selection, conversation, memory - strict priority order</a:t>
            </a:r>
          </a:p>
        </p:txBody>
      </p:sp>
      <p:sp>
        <p:nvSpPr>
          <p:cNvPr id="196" name="Down Arrow 195"/>
          <p:cNvSpPr/>
          <p:nvPr/>
        </p:nvSpPr>
        <p:spPr>
          <a:xfrm>
            <a:off x="1783080" y="2136952"/>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7" name="Rounded Rectangle 196"/>
          <p:cNvSpPr/>
          <p:nvPr/>
        </p:nvSpPr>
        <p:spPr>
          <a:xfrm>
            <a:off x="201168" y="2203704"/>
            <a:ext cx="3246120" cy="228600"/>
          </a:xfrm>
          <a:prstGeom prst="roundRect">
            <a:avLst/>
          </a:prstGeom>
          <a:solidFill>
            <a:srgbClr val="1E2761"/>
          </a:solidFill>
          <a:ln>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ROUTE   </a:t>
            </a:r>
            <a:r>
              <a:rPr sz="750" b="0">
                <a:solidFill>
                  <a:srgbClr val="FFFFFF"/>
                </a:solidFill>
                <a:latin typeface="Times New Roman"/>
              </a:rPr>
              <a:t>L4   local Ollama - free cloud tier - your own key.  Private always means local</a:t>
            </a:r>
          </a:p>
        </p:txBody>
      </p:sp>
      <p:sp>
        <p:nvSpPr>
          <p:cNvPr id="198" name="Down Arrow 197"/>
          <p:cNvSpPr/>
          <p:nvPr/>
        </p:nvSpPr>
        <p:spPr>
          <a:xfrm>
            <a:off x="1783080" y="2443276"/>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9" name="Rounded Rectangle 198"/>
          <p:cNvSpPr/>
          <p:nvPr/>
        </p:nvSpPr>
        <p:spPr>
          <a:xfrm>
            <a:off x="201168" y="2510028"/>
            <a:ext cx="3246120" cy="228600"/>
          </a:xfrm>
          <a:prstGeom prst="roundRect">
            <a:avLst/>
          </a:prstGeom>
          <a:solidFill>
            <a:srgbClr val="1E2761"/>
          </a:solidFill>
          <a:ln>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PRESENT   </a:t>
            </a:r>
            <a:r>
              <a:rPr sz="750" b="0">
                <a:solidFill>
                  <a:srgbClr val="FFFFFF"/>
                </a:solidFill>
                <a:latin typeface="Times New Roman"/>
              </a:rPr>
              <a:t>L1   the answer streams into a slim panel beside your work, never over it</a:t>
            </a:r>
          </a:p>
        </p:txBody>
      </p:sp>
      <p:sp>
        <p:nvSpPr>
          <p:cNvPr id="200" name="Down Arrow 199"/>
          <p:cNvSpPr/>
          <p:nvPr/>
        </p:nvSpPr>
        <p:spPr>
          <a:xfrm>
            <a:off x="1783080" y="2749600"/>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Rounded Rectangle 200"/>
          <p:cNvSpPr/>
          <p:nvPr/>
        </p:nvSpPr>
        <p:spPr>
          <a:xfrm>
            <a:off x="201168" y="2816352"/>
            <a:ext cx="3246120" cy="228600"/>
          </a:xfrm>
          <a:prstGeom prst="roundRect">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EDIT IN PLACE   </a:t>
            </a:r>
            <a:r>
              <a:rPr sz="750" b="0">
                <a:solidFill>
                  <a:srgbClr val="FFFFFF"/>
                </a:solidFill>
                <a:latin typeface="Times New Roman"/>
              </a:rPr>
              <a:t>L1   Replace / Insert after / Copy - back into the app you came from</a:t>
            </a:r>
          </a:p>
        </p:txBody>
      </p:sp>
      <p:sp>
        <p:nvSpPr>
          <p:cNvPr id="202" name="TextBox 201"/>
          <p:cNvSpPr txBox="1"/>
          <p:nvPr/>
        </p:nvSpPr>
        <p:spPr>
          <a:xfrm>
            <a:off x="3529584" y="685800"/>
            <a:ext cx="1005840" cy="1920240"/>
          </a:xfrm>
          <a:prstGeom prst="rect">
            <a:avLst/>
          </a:prstGeom>
          <a:noFill/>
        </p:spPr>
        <p:txBody>
          <a:bodyPr wrap="square">
            <a:spAutoFit/>
          </a:bodyPr>
          <a:lstStyle/>
          <a:p>
            <a:r>
              <a:rPr sz="700" b="1">
                <a:solidFill>
                  <a:srgbClr val="028090"/>
                </a:solidFill>
                <a:latin typeface="Times New Roman"/>
              </a:rPr>
              <a:t>L2 and L3 are the contribution.</a:t>
            </a:r>
          </a:p>
          <a:p>
            <a:r>
              <a:rPr sz="700" b="0">
                <a:solidFill>
                  <a:srgbClr val="028090"/>
                </a:solidFill>
                <a:latin typeface="Times New Roman"/>
              </a:rPr>
              <a:t> </a:t>
            </a:r>
          </a:p>
          <a:p>
            <a:r>
              <a:rPr sz="700" b="0">
                <a:solidFill>
                  <a:srgbClr val="028090"/>
                </a:solidFill>
                <a:latin typeface="Times New Roman"/>
              </a:rPr>
              <a:t>L1 is already built and proven - see Phase 0.</a:t>
            </a:r>
          </a:p>
          <a:p>
            <a:r>
              <a:rPr sz="700" b="0">
                <a:solidFill>
                  <a:srgbClr val="028090"/>
                </a:solidFill>
                <a:latin typeface="Times New Roman"/>
              </a:rPr>
              <a:t> </a:t>
            </a:r>
          </a:p>
          <a:p>
            <a:r>
              <a:rPr sz="700" b="0">
                <a:solidFill>
                  <a:srgbClr val="028090"/>
                </a:solidFill>
                <a:latin typeface="Times New Roman"/>
              </a:rPr>
              <a:t>L4 is what makes it free.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1 - Three Triggers, Two Capture Paths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13</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T1 - Global hotkey.</a:t>
            </a:r>
            <a:r>
              <a:rPr lang="en-US" sz="1000" b="0" dirty="0">
                <a:latin typeface="Times New Roman" panose="02020603050405020304" pitchFamily="18" charset="0"/>
                <a:cs typeface="Times New Roman" panose="02020603050405020304" pitchFamily="18" charset="0"/>
              </a:rPr>
              <a:t> Win32 RegisterHotKey gives a system-wide shortcut that fires regardless of which application has focus. Rust: tauri-plugin-global-shortcut, a first-party Tauri v2 plugin.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T2 - Read the current selection. This is the hard one, so it has two paths.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Path A - UI Automation.</a:t>
            </a:r>
            <a:r>
              <a:rPr lang="en-US" sz="1000" b="0" dirty="0">
                <a:latin typeface="Times New Roman" panose="02020603050405020304" pitchFamily="18" charset="0"/>
                <a:cs typeface="Times New Roman" panose="02020603050405020304" pitchFamily="18" charset="0"/>
              </a:rPr>
              <a:t> GetFocusedElement, then TextPattern, then GetSelection, then GetText. This is the documented Windows accessibility framework that exists so screen readers can do exactly this. It is the supported path, not a hack.</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Path B - clipboard round-trip.</a:t>
            </a:r>
            <a:r>
              <a:rPr lang="en-US" sz="1000" b="0" dirty="0">
                <a:latin typeface="Times New Roman" panose="02020603050405020304" pitchFamily="18" charset="0"/>
                <a:cs typeface="Times New Roman" panose="02020603050405020304" pitchFamily="18" charset="0"/>
              </a:rPr>
              <a:t> Save the user's clipboard, send Ctrl+C, read the selection, restore the original clipboard. Less elegant, works essentially everywhere.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Design rule:</a:t>
            </a:r>
            <a:r>
              <a:rPr lang="en-US" sz="1000" b="0" dirty="0">
                <a:latin typeface="Times New Roman" panose="02020603050405020304" pitchFamily="18" charset="0"/>
                <a:cs typeface="Times New Roman" panose="02020603050405020304" pitchFamily="18" charset="0"/>
              </a:rPr>
              <a:t> try A, fall back to B, and log which one worked per application. That per-app coverage table is a deliverable - no competitor publishes one.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T3 - Screenshot.</a:t>
            </a:r>
            <a:r>
              <a:rPr lang="en-US" sz="1000" b="0" dirty="0">
                <a:latin typeface="Times New Roman" panose="02020603050405020304" pitchFamily="18" charset="0"/>
                <a:cs typeface="Times New Roman" panose="02020603050405020304" pitchFamily="18" charset="0"/>
              </a:rPr>
              <a:t> Transparent full-screen overlay, drag a region, capture the pixels, optional OCR. The same mechanism every screenshot tool uses.</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1 - Edit In Place, and Why There Is No Plugin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14</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This is the capability that separates PERCH from a chat window.</a:t>
            </a:r>
            <a:r>
              <a:rPr lang="en-US" sz="1050" b="0" dirty="0">
                <a:latin typeface="Times New Roman" panose="02020603050405020304" pitchFamily="18" charset="0"/>
                <a:cs typeface="Times New Roman" panose="02020603050405020304" pitchFamily="18" charset="0"/>
              </a:rPr>
              <a:t> A chat window can only ever hand you text to copy. PERCH writes the answer back into the application you came from.</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The mechanism:</a:t>
            </a:r>
            <a:r>
              <a:rPr lang="en-US" sz="1050" b="0" dirty="0">
                <a:latin typeface="Times New Roman" panose="02020603050405020304" pitchFamily="18" charset="0"/>
                <a:cs typeface="Times New Roman" panose="02020603050405020304" pitchFamily="18" charset="0"/>
              </a:rPr>
              <a:t> put the answer on the clipboard, restore focus to the original window using the HWND saved at trigger time, send Ctrl+V, then restore the user's previous clipboard.</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Why replacement works with no app-specific integration:</a:t>
            </a:r>
            <a:r>
              <a:rPr lang="en-US" sz="1050" b="0" dirty="0">
                <a:latin typeface="Times New Roman" panose="02020603050405020304" pitchFamily="18" charset="0"/>
                <a:cs typeface="Times New Roman" panose="02020603050405020304" pitchFamily="18" charset="0"/>
              </a:rPr>
              <a:t> in every text field on Windows, pasting while text is selected replaces that text. We are using behaviour every text field already has.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Three actions, the user's choice:</a:t>
            </a:r>
            <a:r>
              <a:rPr lang="en-US" sz="1050" b="0" dirty="0">
                <a:latin typeface="Times New Roman" panose="02020603050405020304" pitchFamily="18" charset="0"/>
                <a:cs typeface="Times New Roman" panose="02020603050405020304" pitchFamily="18" charset="0"/>
              </a:rPr>
              <a:t> Replace overwrites the selection, Insert after appends below it, Copy only changes nothing.</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Rejected alternative - per-application plugins.</a:t>
            </a:r>
            <a:r>
              <a:rPr lang="en-US" sz="1050" b="0" dirty="0">
                <a:latin typeface="Times New Roman" panose="02020603050405020304" pitchFamily="18" charset="0"/>
                <a:cs typeface="Times New Roman" panose="02020603050405020304" pitchFamily="18" charset="0"/>
              </a:rPr>
              <a:t> An Office add-in, a VS Code extension and a browser extension give better fidelity, but mean N integrations, N review processes, and it only ever works where we shipped. The clipboard path works everywhere on day one.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Phase 0 - The OS Layer Is Already Built and Working</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15</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We built the risky layer first, before designing the product.</a:t>
            </a:r>
            <a:r>
              <a:rPr lang="en-US" sz="1000" b="0" dirty="0">
                <a:latin typeface="Times New Roman" panose="02020603050405020304" pitchFamily="18" charset="0"/>
                <a:cs typeface="Times New Roman" panose="02020603050405020304" pitchFamily="18" charset="0"/>
              </a:rPr>
              <a:t> The application and agent layers are familiar work. The open question was whether a desktop app can genuinely reach into other applications. It can, and here is the running code.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T1 verified:</a:t>
            </a:r>
            <a:r>
              <a:rPr lang="en-US" sz="1000" b="0" dirty="0">
                <a:latin typeface="Times New Roman" panose="02020603050405020304" pitchFamily="18" charset="0"/>
                <a:cs typeface="Times New Roman" panose="02020603050405020304" pitchFamily="18" charset="0"/>
              </a:rPr>
              <a:t> a system-wide hotkey fires regardless of focus (RegisterHotKey + message loop).</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T2 verified:</a:t>
            </a:r>
            <a:r>
              <a:rPr lang="en-US" sz="1000" b="0" dirty="0">
                <a:latin typeface="Times New Roman" panose="02020603050405020304" pitchFamily="18" charset="0"/>
                <a:cs typeface="Times New Roman" panose="02020603050405020304" pitchFamily="18" charset="0"/>
              </a:rPr>
              <a:t> selection read from other applications - UI Automation available and working, clipboard round-trip as fallback, with the method logged per application.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T3 verified:</a:t>
            </a:r>
            <a:r>
              <a:rPr lang="en-US" sz="1000" b="0" dirty="0">
                <a:latin typeface="Times New Roman" panose="02020603050405020304" pitchFamily="18" charset="0"/>
                <a:cs typeface="Times New Roman" panose="02020603050405020304" pitchFamily="18" charset="0"/>
              </a:rPr>
              <a:t> region screenshot via overlay and capture.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Panel placement verified:</a:t>
            </a:r>
            <a:r>
              <a:rPr lang="en-US" sz="1000" b="0" dirty="0">
                <a:latin typeface="Times New Roman" panose="02020603050405020304" pitchFamily="18" charset="0"/>
                <a:cs typeface="Times New Roman" panose="02020603050405020304" pitchFamily="18" charset="0"/>
              </a:rPr>
              <a:t> GetForegroundWindow + GetWindowRect correctly returned the host window and its rectangle; the panel docks beside it, falling back left, then to the screen edge.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Edit-in-place verified:</a:t>
            </a:r>
            <a:r>
              <a:rPr lang="en-US" sz="1000" b="0" dirty="0">
                <a:latin typeface="Times New Roman" panose="02020603050405020304" pitchFamily="18" charset="0"/>
                <a:cs typeface="Times New Roman" panose="02020603050405020304" pitchFamily="18" charset="0"/>
              </a:rPr>
              <a:t> focus restore and paste-back, with a deliberate refusal to paste if Windows blocks the focus change - landing in the wrong window is worse than not pasting.</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Nothing here needs a driver, a kernel hook, an OS modification or a special permission.</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2 - Context Assembly Under a Token Budget</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16</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The job:</a:t>
            </a:r>
            <a:r>
              <a:rPr lang="en-US" sz="1050" b="0" dirty="0">
                <a:latin typeface="Times New Roman" panose="02020603050405020304" pitchFamily="18" charset="0"/>
                <a:cs typeface="Times New Roman" panose="02020603050405020304" pitchFamily="18" charset="0"/>
              </a:rPr>
              <a:t> given a question, a selection, and everything known about the user, decide what actually enters the prompt, under a hard ceiling set by the chosen model.</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budget = context_window(model) - reserve(response) - reserve(system)</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Priority order:</a:t>
            </a:r>
            <a:r>
              <a:rPr lang="en-US" sz="1050" b="0" dirty="0">
                <a:latin typeface="Times New Roman" panose="02020603050405020304" pitchFamily="18" charset="0"/>
                <a:cs typeface="Times New Roman" panose="02020603050405020304" pitchFamily="18" charset="0"/>
              </a:rPr>
              <a:t> system and persona, always; the selection, always, because it is why the user summoned us; recent conversation, oldest truncated first; then retrieved memory into whatever remains; tool results claimed from that same allowance.</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Memory items enter whole or not at all.</a:t>
            </a:r>
            <a:r>
              <a:rPr lang="en-US" sz="1050" b="0" dirty="0">
                <a:latin typeface="Times New Roman" panose="02020603050405020304" pitchFamily="18" charset="0"/>
                <a:cs typeface="Times New Roman" panose="02020603050405020304" pitchFamily="18" charset="0"/>
              </a:rPr>
              <a:t> Half a project description is worse than none.</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This is what makes model choice possible.</a:t>
            </a:r>
            <a:r>
              <a:rPr lang="en-US" sz="1050" b="0" dirty="0">
                <a:latin typeface="Times New Roman" panose="02020603050405020304" pitchFamily="18" charset="0"/>
                <a:cs typeface="Times New Roman" panose="02020603050405020304" pitchFamily="18" charset="0"/>
              </a:rPr>
              <a:t> Swap a local Qwen3 4B for a frontier API and the budget recomputes - nothing else changes. The same memory layer serves a 3 GB local model and a 200K-context frontier model.</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Relevance uses three signals:</a:t>
            </a:r>
            <a:r>
              <a:rPr lang="en-US" sz="1050" b="0" dirty="0">
                <a:latin typeface="Times New Roman" panose="02020603050405020304" pitchFamily="18" charset="0"/>
                <a:cs typeface="Times New Roman" panose="02020603050405020304" pitchFamily="18" charset="0"/>
              </a:rPr>
              <a:t> semantic similarity to the query and selection, structural match (a project block is relevant to a coding question, not to a leave email), and recency of use.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3 - Memory the User Writes and Owns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17</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Four kinds.</a:t>
            </a:r>
            <a:r>
              <a:rPr lang="en-US" sz="1050" b="0" dirty="0">
                <a:latin typeface="Times New Roman" panose="02020603050405020304" pitchFamily="18" charset="0"/>
                <a:cs typeface="Times New Roman" panose="02020603050405020304" pitchFamily="18" charset="0"/>
              </a:rPr>
              <a:t> Identity - who you are and how you want answers written. Domain - projects, courses, ongoing work. Episodic - past conversations and outcomes. Working - this session.</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Identity and Domain are written by you.</a:t>
            </a:r>
            <a:r>
              <a:rPr lang="en-US" sz="1050" b="0" dirty="0">
                <a:latin typeface="Times New Roman" panose="02020603050405020304" pitchFamily="18" charset="0"/>
                <a:cs typeface="Times New Roman" panose="02020603050405020304" pitchFamily="18" charset="0"/>
              </a:rPr>
              <a:t> That is the deliberate inversion: personal context is authored and owned, not silently inferred from conversation.</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The pipeline:</a:t>
            </a:r>
            <a:r>
              <a:rPr lang="en-US" sz="1050" b="0" dirty="0">
                <a:latin typeface="Times New Roman" panose="02020603050405020304" pitchFamily="18" charset="0"/>
                <a:cs typeface="Times New Roman" panose="02020603050405020304" pitchFamily="18" charset="0"/>
              </a:rPr>
              <a:t> store text with category, embedding, timestamps and use count; index in a local vector index; retrieve by category filter, then semantic top-k, then recency and use rerank, then budget-aware selection. SQLite and plain files. No server.</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Every memory item is a file you can open, edit or delete.</a:t>
            </a:r>
            <a:r>
              <a:rPr lang="en-US" sz="1050" b="0" dirty="0">
                <a:latin typeface="Times New Roman" panose="02020603050405020304" pitchFamily="18" charset="0"/>
                <a:cs typeface="Times New Roman" panose="02020603050405020304" pitchFamily="18" charset="0"/>
              </a:rPr>
              <a:t> Memory you cannot read is memory you cannot trust - and after Recall, that is not a slogan.</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Categories are extensible:</a:t>
            </a:r>
            <a:r>
              <a:rPr lang="en-US" sz="1050" b="0" dirty="0">
                <a:latin typeface="Times New Roman" panose="02020603050405020304" pitchFamily="18" charset="0"/>
                <a:cs typeface="Times New Roman" panose="02020603050405020304" pitchFamily="18" charset="0"/>
              </a:rPr>
              <a:t> academic conventions, writing style, professional context, accessibility constraints, and user-defined categories with user-defined schemas.</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3 - Importing What Is Stranded in Your Other AIs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18</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This is the mechanism that solves the problem statement, and the feature that makes people install it.</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PERCH ships extraction prompts.</a:t>
            </a:r>
            <a:r>
              <a:rPr lang="en-US" sz="1000" b="0" dirty="0">
                <a:latin typeface="Times New Roman" panose="02020603050405020304" pitchFamily="18" charset="0"/>
                <a:cs typeface="Times New Roman" panose="02020603050405020304" pitchFamily="18" charset="0"/>
              </a:rPr>
              <a:t> You paste one into any assistant session that already contains knowledge about you, and it returns a structured block you import in one click.</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Project block captures:</a:t>
            </a:r>
            <a:r>
              <a:rPr lang="en-US" sz="1000" b="0" dirty="0">
                <a:latin typeface="Times New Roman" panose="02020603050405020304" pitchFamily="18" charset="0"/>
                <a:cs typeface="Times New Roman" panose="02020603050405020304" pitchFamily="18" charset="0"/>
              </a:rPr>
              <a:t> name and one-line purpose; stack, tools and versions; architecture decisions and why each was chosen; problems hit and how each was resolved; timeline; results and benchmarks; what remains and known limitations.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Run it once at the end of a project inside a coding assistant, and every one of those facts is permanently yours, outside that tool.</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adoption move:</a:t>
            </a:r>
            <a:r>
              <a:rPr lang="en-US" sz="1000" b="0" dirty="0">
                <a:latin typeface="Times New Roman" panose="02020603050405020304" pitchFamily="18" charset="0"/>
                <a:cs typeface="Times New Roman" panose="02020603050405020304" pitchFamily="18" charset="0"/>
              </a:rPr>
              <a:t> every competitor says switch to us. PERCH says keep everything you are paying for - and we will make all of it know who you are. PERCH can emit a context block you paste into ChatGPT, Claude or Cursor, so that assistant knows your project and constraints.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more AI tools you use, the more useful PERCH becomes.</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Where It Pays Off - Worked Examples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19</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Filling an application form</a:t>
            </a:r>
            <a:r>
              <a:rPr lang="en-US" sz="1050" b="0" dirty="0">
                <a:latin typeface="Times New Roman" panose="02020603050405020304" pitchFamily="18" charset="0"/>
                <a:cs typeface="Times New Roman" panose="02020603050405020304" pitchFamily="18" charset="0"/>
              </a:rPr>
              <a:t> - "describe a technical challenge you overcame in 200 words". Select the field and ask. The project block already holds the challenge, the fix and the result, and it writes to the word limit in your tone.</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Updating a resume</a:t>
            </a:r>
            <a:r>
              <a:rPr lang="en-US" sz="1050" b="0" dirty="0">
                <a:latin typeface="Times New Roman" panose="02020603050405020304" pitchFamily="18" charset="0"/>
                <a:cs typeface="Times New Roman" panose="02020603050405020304" pitchFamily="18" charset="0"/>
              </a:rPr>
              <a:t> - the results and numbers are already stored, so it produces bullets and you pick one, instead of hunting for where you recorded the metric.</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Interview preparation</a:t>
            </a:r>
            <a:r>
              <a:rPr lang="en-US" sz="1050" b="0" dirty="0">
                <a:latin typeface="Times New Roman" panose="02020603050405020304" pitchFamily="18" charset="0"/>
                <a:cs typeface="Times New Roman" panose="02020603050405020304" pitchFamily="18" charset="0"/>
              </a:rPr>
              <a:t> - ask for the three hardest problems across all your projects. It has them, because you imported them, rather than scrolling months of chat history across two tools.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Emailing a professor about your project</a:t>
            </a:r>
            <a:r>
              <a:rPr lang="en-US" sz="1050" b="0" dirty="0">
                <a:latin typeface="Times New Roman" panose="02020603050405020304" pitchFamily="18" charset="0"/>
                <a:cs typeface="Times New Roman" panose="02020603050405020304" pitchFamily="18" charset="0"/>
              </a:rPr>
              <a:t> - trigger inside the compose window. Project from domain memory, tone and college from identity memory. The draft is correct first time.</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Starting a project that resembles an old one</a:t>
            </a:r>
            <a:r>
              <a:rPr lang="en-US" sz="1050" b="0" dirty="0">
                <a:latin typeface="Times New Roman" panose="02020603050405020304" pitchFamily="18" charset="0"/>
                <a:cs typeface="Times New Roman" panose="02020603050405020304" pitchFamily="18" charset="0"/>
              </a:rPr>
              <a:t> - it surfaces the earlier decision and the reason you made it.</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The pattern in all five:</a:t>
            </a:r>
            <a:r>
              <a:rPr lang="en-US" sz="1050" b="0" dirty="0">
                <a:latin typeface="Times New Roman" panose="02020603050405020304" pitchFamily="18" charset="0"/>
                <a:cs typeface="Times New Roman" panose="02020603050405020304" pitchFamily="18" charset="0"/>
              </a:rPr>
              <a:t> the knowledge already existed - it was locked in a session inside a product that will never share it.</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Private Mode - Declared, Never Inferred</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20</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Classification is the wrong answer here, and we will not pretend otherwise.</a:t>
            </a:r>
            <a:r>
              <a:rPr lang="en-US" sz="1000" b="0" dirty="0">
                <a:latin typeface="Times New Roman" panose="02020603050405020304" pitchFamily="18" charset="0"/>
                <a:cs typeface="Times New Roman" panose="02020603050405020304" pitchFamily="18" charset="0"/>
              </a:rPr>
              <a:t> Deciding what is private from the content itself means a classifier whose false-negative cost is leaking a company secret to a cloud API. No accuracy figure makes that acceptable.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PERCH does not guess. Privacy is a user-declared policy, in three forms.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1. Per-request toggle.</a:t>
            </a:r>
            <a:r>
              <a:rPr lang="en-US" sz="1000" b="0" dirty="0">
                <a:latin typeface="Times New Roman" panose="02020603050405020304" pitchFamily="18" charset="0"/>
                <a:cs typeface="Times New Roman" panose="02020603050405020304" pitchFamily="18" charset="0"/>
              </a:rPr>
              <a:t> A Private switch on the panel. Flip it and the request goes to the local model. Visible before you send, on every request.</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2. Source rules - the useful one.</a:t>
            </a:r>
            <a:r>
              <a:rPr lang="en-US" sz="1000" b="0" dirty="0">
                <a:latin typeface="Times New Roman" panose="02020603050405020304" pitchFamily="18" charset="0"/>
                <a:cs typeface="Times New Roman" panose="02020603050405020304" pitchFamily="18" charset="0"/>
              </a:rPr>
              <a:t> Declare a source private once: this application, this folder, or this window-title pattern. PERCH knows the source at capture time, so it never needs to understand the text, only where it came from. Deterministic, auditable, no model involved.</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3. Global default.</a:t>
            </a:r>
            <a:r>
              <a:rPr lang="en-US" sz="1000" b="0" dirty="0">
                <a:latin typeface="Times New Roman" panose="02020603050405020304" pitchFamily="18" charset="0"/>
                <a:cs typeface="Times New Roman" panose="02020603050405020304" pitchFamily="18" charset="0"/>
              </a:rPr>
              <a:t> Set local as the default and escalate to cloud explicitly. For anyone handling regulated data this is the only sane setting.</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demonstrable claim:</a:t>
            </a:r>
            <a:r>
              <a:rPr lang="en-US" sz="1000" b="0" dirty="0">
                <a:latin typeface="Times New Roman" panose="02020603050405020304" pitchFamily="18" charset="0"/>
                <a:cs typeface="Times New Roman" panose="02020603050405020304" pitchFamily="18" charset="0"/>
              </a:rPr>
              <a:t> in private mode, zero bytes leave the machine - provable with a packet capture, which is a better privacy demonstration than any policy page.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4 - Execution, Model Choice and the Cost Floor</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21</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Model registry.</a:t>
            </a:r>
            <a:r>
              <a:rPr lang="en-US" sz="1000" b="0" dirty="0">
                <a:latin typeface="Times New Roman" panose="02020603050405020304" pitchFamily="18" charset="0"/>
                <a:cs typeface="Times New Roman" panose="02020603050405020304" pitchFamily="18" charset="0"/>
              </a:rPr>
              <a:t> Each entry holds provider, endpoint, model id, context window, tool support and whether it is local. Everything upstream reads context_window from here, which is what makes Layer 2 model-agnostic.</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Ollama, local</a:t>
            </a:r>
            <a:r>
              <a:rPr lang="en-US" sz="1000" b="0" dirty="0">
                <a:latin typeface="Times New Roman" panose="02020603050405020304" pitchFamily="18" charset="0"/>
                <a:cs typeface="Times New Roman" panose="02020603050405020304" pitchFamily="18" charset="0"/>
              </a:rPr>
              <a:t> - free, open source, no rate limit on localhost:11434. Qwen3 4B in ~3 GB.</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NVIDIA NIM</a:t>
            </a:r>
            <a:r>
              <a:rPr lang="en-US" sz="1000" b="0" dirty="0">
                <a:latin typeface="Times New Roman" panose="02020603050405020304" pitchFamily="18" charset="0"/>
                <a:cs typeface="Times New Roman" panose="02020603050405020304" pitchFamily="18" charset="0"/>
              </a:rPr>
              <a:t> - free API key with the Developer Program, no credit card, 100+ models, a practical community baseline of ~40 requests per minute.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Your own key, or OpenRouter BYOK</a:t>
            </a:r>
            <a:r>
              <a:rPr lang="en-US" sz="1000" b="0" dirty="0">
                <a:latin typeface="Times New Roman" panose="02020603050405020304" pitchFamily="18" charset="0"/>
                <a:cs typeface="Times New Roman" panose="02020603050405020304" pitchFamily="18" charset="0"/>
              </a:rPr>
              <a:t> - whatever you already pay for.</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A student can run PERCH for zero rupees.</a:t>
            </a:r>
            <a:r>
              <a:rPr lang="en-US" sz="1000" b="0" dirty="0">
                <a:latin typeface="Times New Roman" panose="02020603050405020304" pitchFamily="18" charset="0"/>
                <a:cs typeface="Times New Roman" panose="02020603050405020304" pitchFamily="18" charset="0"/>
              </a:rPr>
              <a:t> Fully local, or on a free tier, or with their own key. That is the one thing a $50M-funded competitor structurally cannot match.</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Tools:</a:t>
            </a:r>
            <a:r>
              <a:rPr lang="en-US" sz="1000" b="0" dirty="0">
                <a:latin typeface="Times New Roman" panose="02020603050405020304" pitchFamily="18" charset="0"/>
                <a:cs typeface="Times New Roman" panose="02020603050405020304" pitchFamily="18" charset="0"/>
              </a:rPr>
              <a:t> web search and fetch, local file read, OCR and clipboard write - declared only when the selected model supports tool calling, and charged against the same token budget.</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Automatic adaptive routing is explicitly v2.</a:t>
            </a:r>
            <a:r>
              <a:rPr lang="en-US" sz="1000" b="0" dirty="0">
                <a:latin typeface="Times New Roman" panose="02020603050405020304" pitchFamily="18" charset="0"/>
                <a:cs typeface="Times New Roman" panose="02020603050405020304" pitchFamily="18" charset="0"/>
              </a:rPr>
              <a:t> The user chooses; switching is one click.</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Technologies Used</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22</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Shell - Tauri v2.</a:t>
            </a:r>
            <a:r>
              <a:rPr lang="en-US" sz="1050" b="0" dirty="0">
                <a:latin typeface="Times New Roman" panose="02020603050405020304" pitchFamily="18" charset="0"/>
                <a:cs typeface="Times New Roman" panose="02020603050405020304" pitchFamily="18" charset="0"/>
              </a:rPr>
              <a:t> 30-50 MB idle against Electron's 150-300 MB, and a sub-10 MB installer against 100 MB+. PERCH is always running, so a background assistant that idles at 250 MB is one users uninstall. Hoppscotch's migration went 165 MB to 8 MB with a 70% memory reduction.</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Core - Rust.</a:t>
            </a:r>
            <a:r>
              <a:rPr lang="en-US" sz="1050" b="0" dirty="0">
                <a:latin typeface="Times New Roman" panose="02020603050405020304" pitchFamily="18" charset="0"/>
                <a:cs typeface="Times New Roman" panose="02020603050405020304" pitchFamily="18" charset="0"/>
              </a:rPr>
              <a:t> Hotkeys, UI Automation, clipboard, window management and tray. Verified bindings: tauri-plugin-global-shortcut, the uiautomation crate, arboard, and the official windows crate.</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Interface - React and TypeScript.</a:t>
            </a:r>
            <a:r>
              <a:rPr lang="en-US" sz="1050" b="0" dirty="0">
                <a:latin typeface="Times New Roman" panose="02020603050405020304" pitchFamily="18" charset="0"/>
                <a:cs typeface="Times New Roman" panose="02020603050405020304" pitchFamily="18" charset="0"/>
              </a:rPr>
              <a:t> Fast iteration on the surface, which is what gets judged.</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AI/ML - Python sidecar.</a:t>
            </a:r>
            <a:r>
              <a:rPr lang="en-US" sz="1050" b="0" dirty="0">
                <a:latin typeface="Times New Roman" panose="02020603050405020304" pitchFamily="18" charset="0"/>
                <a:cs typeface="Times New Roman" panose="02020603050405020304" pitchFamily="18" charset="0"/>
              </a:rPr>
              <a:t> Embeddings, retrieval and budget assembly - the ML work, in the language the team already knows.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Storage - SQLite and plain files.</a:t>
            </a:r>
            <a:r>
              <a:rPr lang="en-US" sz="1050" b="0" dirty="0">
                <a:latin typeface="Times New Roman" panose="02020603050405020304" pitchFamily="18" charset="0"/>
                <a:cs typeface="Times New Roman" panose="02020603050405020304" pitchFamily="18" charset="0"/>
              </a:rPr>
              <a:t> No server, inspectable, portable.</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Local inference - Ollama.</a:t>
            </a:r>
            <a:r>
              <a:rPr lang="en-US" sz="1050" b="0" dirty="0">
                <a:latin typeface="Times New Roman" panose="02020603050405020304" pitchFamily="18" charset="0"/>
                <a:cs typeface="Times New Roman" panose="02020603050405020304" pitchFamily="18" charset="0"/>
              </a:rPr>
              <a:t> Free, no rate limit.</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Datasets and Benchmarks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23</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LongMemEval</a:t>
            </a:r>
            <a:r>
              <a:rPr lang="en-US" sz="1050" b="0" dirty="0">
                <a:latin typeface="Times New Roman" panose="02020603050405020304" pitchFamily="18" charset="0"/>
                <a:cs typeface="Times New Roman" panose="02020603050405020304" pitchFamily="18" charset="0"/>
              </a:rPr>
              <a:t> - 500 questions across 6 categories: single-session user recall, assistant recall, preference recall, knowledge update, temporal reasoning and multi-session recall. Tests extraction, multi-session reasoning, temporal reasoning, knowledge updates and abstention.</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LoCoMo</a:t>
            </a:r>
            <a:r>
              <a:rPr lang="en-US" sz="1050" b="0" dirty="0">
                <a:latin typeface="Times New Roman" panose="02020603050405020304" pitchFamily="18" charset="0"/>
                <a:cs typeface="Times New Roman" panose="02020603050405020304" pitchFamily="18" charset="0"/>
              </a:rPr>
              <a:t> - 1,540 questions across 4 categories (single-hop, multi-hop, open-domain, temporal), roughly 300 turns and up to 35 sessions per conversation.</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PersonaMem, PerLTQA, DialSim, BEAM</a:t>
            </a:r>
            <a:r>
              <a:rPr lang="en-US" sz="1050" b="0" dirty="0">
                <a:latin typeface="Times New Roman" panose="02020603050405020304" pitchFamily="18" charset="0"/>
                <a:cs typeface="Times New Roman" panose="02020603050405020304" pitchFamily="18" charset="0"/>
              </a:rPr>
              <a:t> - personalised memory, covering explicit facts and implicit preferences.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Honest framing, stated up front:</a:t>
            </a:r>
            <a:r>
              <a:rPr lang="en-US" sz="1050" b="0" dirty="0">
                <a:latin typeface="Times New Roman" panose="02020603050405020304" pitchFamily="18" charset="0"/>
                <a:cs typeface="Times New Roman" panose="02020603050405020304" pitchFamily="18" charset="0"/>
              </a:rPr>
              <a:t> 2026 reference scores are LoCoMo 92.5% and LongMemEval 94.4%. These are near-saturated. We do not pitch beating them - we use them to validate that our memory layer is competent, and we report honestly.</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BEAM-1M at 62% is the honest headroom</a:t>
            </a:r>
            <a:r>
              <a:rPr lang="en-US" sz="1050" b="0" dirty="0">
                <a:latin typeface="Times New Roman" panose="02020603050405020304" pitchFamily="18" charset="0"/>
                <a:cs typeface="Times New Roman" panose="02020603050405020304" pitchFamily="18" charset="0"/>
              </a:rPr>
              <a:t>, and the practitioner consensus is that no single evaluation fully characterises production memory performance.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Evaluation Plan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24</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E1 - Memory retrieval quality.</a:t>
            </a:r>
            <a:r>
              <a:rPr lang="en-US" sz="1050" b="0" dirty="0">
                <a:latin typeface="Times New Roman" panose="02020603050405020304" pitchFamily="18" charset="0"/>
                <a:cs typeface="Times New Roman" panose="02020603050405020304" pitchFamily="18" charset="0"/>
              </a:rPr>
              <a:t> LongMemEval and LoCoMo, reported honestly against published 2026 baselines. Demonstrates competence, claims no record.</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E2 - Context assembly ablation. This is the one nobody else publishes.</a:t>
            </a:r>
            <a:r>
              <a:rPr lang="en-US" sz="1050" b="0" dirty="0">
                <a:latin typeface="Times New Roman" panose="02020603050405020304" pitchFamily="18" charset="0"/>
                <a:cs typeface="Times New Roman" panose="02020603050405020304" pitchFamily="18" charset="0"/>
              </a:rPr>
              <a:t> Three conditions - no memory, full profile always injected, and budget-aware selection - measured at three model sizes. Nobody else has to serve a 4B local model and a frontier API from one memory layer, so nobody else has a reason to run this experiment.</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E3 - Latency.</a:t>
            </a:r>
            <a:r>
              <a:rPr lang="en-US" sz="1050" b="0" dirty="0">
                <a:latin typeface="Times New Roman" panose="02020603050405020304" pitchFamily="18" charset="0"/>
                <a:cs typeface="Times New Roman" panose="02020603050405020304" pitchFamily="18" charset="0"/>
              </a:rPr>
              <a:t> Trigger to first token, local versus cloud, measured.</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E4 - Private mode.</a:t>
            </a:r>
            <a:r>
              <a:rPr lang="en-US" sz="1050" b="0" dirty="0">
                <a:latin typeface="Times New Roman" panose="02020603050405020304" pitchFamily="18" charset="0"/>
                <a:cs typeface="Times New Roman" panose="02020603050405020304" pitchFamily="18" charset="0"/>
              </a:rPr>
              <a:t> Bytes leaving the machine must be zero, proved by packet capture.</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E5 - UI Automation coverage per application.</a:t>
            </a:r>
            <a:r>
              <a:rPr lang="en-US" sz="1050" b="0" dirty="0">
                <a:latin typeface="Times New Roman" panose="02020603050405020304" pitchFamily="18" charset="0"/>
                <a:cs typeface="Times New Roman" panose="02020603050405020304" pitchFamily="18" charset="0"/>
              </a:rPr>
              <a:t> A measured table across common Windows applications, documenting where Path A works and where the clipboard fallback carries it. No competitor publishes one.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Base Paper - PAUSE, ACM SIGKDD 2026</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25</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PAUSE: A User-Centric Benchmark for Personal AI Assistants in Unified Service Environments.</a:t>
            </a:r>
            <a:r>
              <a:rPr lang="en-US" sz="1000" b="0" dirty="0">
                <a:latin typeface="Times New Roman" panose="02020603050405020304" pitchFamily="18" charset="0"/>
                <a:cs typeface="Times New Roman" panose="02020603050405020304" pitchFamily="18" charset="0"/>
              </a:rPr>
              <a:t> ACM SIGKDD 2026, 9-13 August 2026, Jeju Island.</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Why this is the base paper:</a:t>
            </a:r>
            <a:r>
              <a:rPr lang="en-US" sz="1000" b="0" dirty="0">
                <a:latin typeface="Times New Roman" panose="02020603050405020304" pitchFamily="18" charset="0"/>
                <a:cs typeface="Times New Roman" panose="02020603050405020304" pitchFamily="18" charset="0"/>
              </a:rPr>
              <a:t> it is ACM and 2026, its subject is literally personal AI assistants, and its definition is our specification - an assistant must reason over persistent user state, respect user-specific configurations and permissions, and sustain long-horizon, constraint-aware interactions.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It evaluates three dimensions</a:t>
            </a:r>
            <a:r>
              <a:rPr lang="en-US" sz="1000" b="0" dirty="0">
                <a:latin typeface="Times New Roman" panose="02020603050405020304" pitchFamily="18" charset="0"/>
                <a:cs typeface="Times New Roman" panose="02020603050405020304" pitchFamily="18" charset="0"/>
              </a:rPr>
              <a:t> - stateful reasoning, multi-service coordination, and user-coupled interaction. The first and third are exactly what PERCH is built around.</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And it hands us the gap, quantified:</a:t>
            </a:r>
            <a:r>
              <a:rPr lang="en-US" sz="1000" b="0" dirty="0">
                <a:latin typeface="Times New Roman" panose="02020603050405020304" pitchFamily="18" charset="0"/>
                <a:cs typeface="Times New Roman" panose="02020603050405020304" pitchFamily="18" charset="0"/>
              </a:rPr>
              <a:t> state-of-the-art proprietary models fail to reach 70% task completion on scenarios requiring stateful reasoning and configuration awareness.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Conceptual anchor:</a:t>
            </a:r>
            <a:r>
              <a:rPr lang="en-US" sz="1000" b="0" dirty="0">
                <a:latin typeface="Times New Roman" panose="02020603050405020304" pitchFamily="18" charset="0"/>
                <a:cs typeface="Times New Roman" panose="02020603050405020304" pitchFamily="18" charset="0"/>
              </a:rPr>
              <a:t> Personal LLM Agents (Tsinghua AIR) supplies the taxonomy - fundamental capabilities including context sensing and memorization, efficiency, and security - which maps onto our four layers almost one-to-one.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The Gap - Where PAUSE Stops and We Begin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26</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PAUSE is a benchmark, not a system.</a:t>
            </a:r>
            <a:r>
              <a:rPr lang="en-US" sz="1050" b="0" dirty="0">
                <a:latin typeface="Times New Roman" panose="02020603050405020304" pitchFamily="18" charset="0"/>
                <a:cs typeface="Times New Roman" panose="02020603050405020304" pitchFamily="18" charset="0"/>
              </a:rPr>
              <a:t> It measures assistants inside unified service environments that are assumed to already have access and configuration.</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It does not address how a user supplies their own state.</a:t>
            </a:r>
            <a:r>
              <a:rPr lang="en-US" sz="1050" b="0" dirty="0">
                <a:latin typeface="Times New Roman" panose="02020603050405020304" pitchFamily="18" charset="0"/>
                <a:cs typeface="Times New Roman" panose="02020603050405020304" pitchFamily="18" charset="0"/>
              </a:rPr>
              <a:t> We do - user-authored memory plus extraction prompts that recover what is stranded in other assistants.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It does not address OS-level capture.</a:t>
            </a:r>
            <a:r>
              <a:rPr lang="en-US" sz="1050" b="0" dirty="0">
                <a:latin typeface="Times New Roman" panose="02020603050405020304" pitchFamily="18" charset="0"/>
                <a:cs typeface="Times New Roman" panose="02020603050405020304" pitchFamily="18" charset="0"/>
              </a:rPr>
              <a:t> We do - three triggers, two capture paths, and edit-in-place with no per-application plugin.</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It does not address operating within a fixed token budget across heterogeneous models.</a:t>
            </a:r>
            <a:r>
              <a:rPr lang="en-US" sz="1050" b="0" dirty="0">
                <a:latin typeface="Times New Roman" panose="02020603050405020304" pitchFamily="18" charset="0"/>
                <a:cs typeface="Times New Roman" panose="02020603050405020304" pitchFamily="18" charset="0"/>
              </a:rPr>
              <a:t> We do - that is Layer 2, and it is what lets one memory layer serve a 3 GB local model and a frontier API.</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Stated in one line for the panel:</a:t>
            </a:r>
            <a:r>
              <a:rPr lang="en-US" sz="1050" b="0" dirty="0">
                <a:latin typeface="Times New Roman" panose="02020603050405020304" pitchFamily="18" charset="0"/>
                <a:cs typeface="Times New Roman" panose="02020603050405020304" pitchFamily="18" charset="0"/>
              </a:rPr>
              <a:t> our base paper is a KDD 2026 benchmark for personal AI assistants which found that even frontier models fall below 70% when a task requires knowing the user's state. We build the assistant that fixes that, on the desktop.</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Expected Results and Honest Limitations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27</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What we expect to show.</a:t>
            </a:r>
            <a:r>
              <a:rPr lang="en-US" sz="1000" b="0" dirty="0">
                <a:latin typeface="Times New Roman" panose="02020603050405020304" pitchFamily="18" charset="0"/>
                <a:cs typeface="Times New Roman" panose="02020603050405020304" pitchFamily="18" charset="0"/>
              </a:rPr>
              <a:t> Budget-aware assembly beating both naive conditions at every model size, with the largest margin on the smallest model - because that is where the budget actually binds. Sub-second trigger-to-first-token locally. Zero bytes in private mode.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What we do not claim.</a:t>
            </a:r>
            <a:r>
              <a:rPr lang="en-US" sz="1000" b="0" dirty="0">
                <a:latin typeface="Times New Roman" panose="02020603050405020304" pitchFamily="18" charset="0"/>
                <a:cs typeface="Times New Roman" panose="02020603050405020304" pitchFamily="18" charset="0"/>
              </a:rPr>
              <a:t> We did not invent selection-triggered AI - Highlight and Click to Do exist. We did not invent agent memory - Mem0, Zep and Letta are mature. We will not beat LoCoMo or LongMemEval, which are near-saturated. We are not proposing a novel retrieval algorithm.</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What we do claim.</a:t>
            </a:r>
            <a:r>
              <a:rPr lang="en-US" sz="1000" b="0" dirty="0">
                <a:latin typeface="Times New Roman" panose="02020603050405020304" pitchFamily="18" charset="0"/>
                <a:cs typeface="Times New Roman" panose="02020603050405020304" pitchFamily="18" charset="0"/>
              </a:rPr>
              <a:t> The first open-source, model-agnostic, OS-integrated personal assistant that runs fully local on ordinary hardware; user-authored portable memory; token-budget-aware context assembly across heterogeneous models; and an honest component evaluation with latency and privacy measurements nobody publishes for a real assistant workload.</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Known limitations.</a:t>
            </a:r>
            <a:r>
              <a:rPr lang="en-US" sz="1000" b="0" dirty="0">
                <a:latin typeface="Times New Roman" panose="02020603050405020304" pitchFamily="18" charset="0"/>
                <a:cs typeface="Times New Roman" panose="02020603050405020304" pitchFamily="18" charset="0"/>
              </a:rPr>
              <a:t> UI Automation coverage varies by application, which is why the clipboard fallback exists and why coverage is a documented deliverable. Screen-reading behaviour can trip antivirus heuristics, so the installer must be signed and all capture must stay user-initiated.</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Conclusion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28</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problem is not which AI you use.</a:t>
            </a:r>
            <a:r>
              <a:rPr lang="en-US" sz="1000" b="0" dirty="0">
                <a:latin typeface="Times New Roman" panose="02020603050405020304" pitchFamily="18" charset="0"/>
                <a:cs typeface="Times New Roman" panose="02020603050405020304" pitchFamily="18" charset="0"/>
              </a:rPr>
              <a:t> It is that your context is trapped inside whichever one you happened to type it into, and that the assistant which would use it is trapped inside an application window.</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measurement backs it.</a:t>
            </a:r>
            <a:r>
              <a:rPr lang="en-US" sz="1000" b="0" dirty="0">
                <a:latin typeface="Times New Roman" panose="02020603050405020304" pitchFamily="18" charset="0"/>
                <a:cs typeface="Times New Roman" panose="02020603050405020304" pitchFamily="18" charset="0"/>
              </a:rPr>
              <a:t> ACM SIGKDD 2026 found frontier models below 70% when a task needs persistent knowledge of the user.</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PERCH is the layer above the applications.</a:t>
            </a:r>
            <a:r>
              <a:rPr lang="en-US" sz="1000" b="0" dirty="0">
                <a:latin typeface="Times New Roman" panose="02020603050405020304" pitchFamily="18" charset="0"/>
                <a:cs typeface="Times New Roman" panose="02020603050405020304" pitchFamily="18" charset="0"/>
              </a:rPr>
              <a:t> Summoned anywhere in Windows, answers beside your work, writes back into the document you were in, remembers what you told it once, and runs on whichever model you choose - including one that never leaves your machine.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risky part is already done.</a:t>
            </a:r>
            <a:r>
              <a:rPr lang="en-US" sz="1000" b="0" dirty="0">
                <a:latin typeface="Times New Roman" panose="02020603050405020304" pitchFamily="18" charset="0"/>
                <a:cs typeface="Times New Roman" panose="02020603050405020304" pitchFamily="18" charset="0"/>
              </a:rPr>
              <a:t> Phase 0 proves the OS layer with running code: three triggers, panel placement, and edit-in-place, using only documented user-mode APIs.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technical core is Layers 2 and 3</a:t>
            </a:r>
            <a:r>
              <a:rPr lang="en-US" sz="1000" b="0" dirty="0">
                <a:latin typeface="Times New Roman" panose="02020603050405020304" pitchFamily="18" charset="0"/>
                <a:cs typeface="Times New Roman" panose="02020603050405020304" pitchFamily="18" charset="0"/>
              </a:rPr>
              <a:t> - embeddings, retrieval, ranking and budget optimisation, evaluated on public benchmarks with an ablation nobody else has a reason to run.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You pay for four AI assistants. None of them know you. PERCH is the one that does - and it works inside all of them.</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References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29</a:t>
            </a:fld>
            <a:r>
              <a:rPr lang="en-US" dirty="0">
                <a:latin typeface="Times New Roman" panose="02020603050405020304" pitchFamily="18" charset="0"/>
                <a:cs typeface="Times New Roman" panose="02020603050405020304" pitchFamily="18" charset="0"/>
              </a:rPr>
              <a:t> / 29</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[1] PAUSE: A User-Centric Benchmark for Personal AI Assistants in Unified Service Environments.</a:t>
            </a:r>
            <a:r>
              <a:rPr lang="en-US" sz="900" b="0" dirty="0">
                <a:latin typeface="Times New Roman" panose="02020603050405020304" pitchFamily="18" charset="0"/>
                <a:cs typeface="Times New Roman" panose="02020603050405020304" pitchFamily="18" charset="0"/>
              </a:rPr>
              <a:t> ACM SIGKDD 2026 (KDD '26), Jeju Island. - BASE PAPER</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[2] Li et al.</a:t>
            </a:r>
            <a:r>
              <a:rPr lang="en-US" sz="900" b="0" dirty="0">
                <a:latin typeface="Times New Roman" panose="02020603050405020304" pitchFamily="18" charset="0"/>
                <a:cs typeface="Times New Roman" panose="02020603050405020304" pitchFamily="18" charset="0"/>
              </a:rPr>
              <a:t> Personal LLM Agents: Insights and Survey about the Capability, Efficiency and Security. Institute for AI Industry Research, Tsinghua University.</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[3] A Survey on the Memory Mechanism of LLM-based Agents.</a:t>
            </a:r>
            <a:r>
              <a:rPr lang="en-US" sz="900" b="0" dirty="0">
                <a:latin typeface="Times New Roman" panose="02020603050405020304" pitchFamily="18" charset="0"/>
                <a:cs typeface="Times New Roman" panose="02020603050405020304" pitchFamily="18" charset="0"/>
              </a:rPr>
              <a:t> ACM TOIS Vol 43(6), 2025, DOI 10.1145/3748302. - cited for Layer 3 only</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[4] Bridging Intuitive Associations and Deliberate Recall: Empowering LLM Personal Assistant with Graph-Structured Long-term Memory.</a:t>
            </a:r>
            <a:r>
              <a:rPr lang="en-US" sz="900" b="0" dirty="0">
                <a:latin typeface="Times New Roman" panose="02020603050405020304" pitchFamily="18" charset="0"/>
                <a:cs typeface="Times New Roman" panose="02020603050405020304" pitchFamily="18" charset="0"/>
              </a:rPr>
              <a:t> Findings of ACL 2025.</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[5] Memory in the LLM Era: Modular Architectures and Strategies in a Unified Framework.</a:t>
            </a:r>
            <a:r>
              <a:rPr lang="en-US" sz="900" b="0" dirty="0">
                <a:latin typeface="Times New Roman" panose="02020603050405020304" pitchFamily="18" charset="0"/>
                <a:cs typeface="Times New Roman" panose="02020603050405020304" pitchFamily="18" charset="0"/>
              </a:rPr>
              <a:t> VLDB 2026.</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[6] From Generic Intelligence to Personalized AI: Foundations of LLM Personalization.</a:t>
            </a:r>
            <a:r>
              <a:rPr lang="en-US" sz="900" b="0" dirty="0">
                <a:latin typeface="Times New Roman" panose="02020603050405020304" pitchFamily="18" charset="0"/>
                <a:cs typeface="Times New Roman" panose="02020603050405020304" pitchFamily="18" charset="0"/>
              </a:rPr>
              <a:t> Tutorial, ACM SIGKDD 2026.</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[7] LongMemEval</a:t>
            </a:r>
            <a:r>
              <a:rPr lang="en-US" sz="900" b="0" dirty="0">
                <a:latin typeface="Times New Roman" panose="02020603050405020304" pitchFamily="18" charset="0"/>
                <a:cs typeface="Times New Roman" panose="02020603050405020304" pitchFamily="18" charset="0"/>
              </a:rPr>
              <a:t> - long-term memory benchmark, 500 questions, 6 categories.</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[8] LoCoMo</a:t>
            </a:r>
            <a:r>
              <a:rPr lang="en-US" sz="900" b="0" dirty="0">
                <a:latin typeface="Times New Roman" panose="02020603050405020304" pitchFamily="18" charset="0"/>
                <a:cs typeface="Times New Roman" panose="02020603050405020304" pitchFamily="18" charset="0"/>
              </a:rPr>
              <a:t> - long conversational memory benchmark, 1,540 questions, up to 35 sessions.</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[9] Microsoft.</a:t>
            </a:r>
            <a:r>
              <a:rPr lang="en-US" sz="900" b="0" dirty="0">
                <a:latin typeface="Times New Roman" panose="02020603050405020304" pitchFamily="18" charset="0"/>
                <a:cs typeface="Times New Roman" panose="02020603050405020304" pitchFamily="18" charset="0"/>
              </a:rPr>
              <a:t> UI Automation Overview and IUIAutomationElement, Windows Accessibility documentation.</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[10] Tauri v2</a:t>
            </a:r>
            <a:r>
              <a:rPr lang="en-US" sz="900" b="0" dirty="0">
                <a:latin typeface="Times New Roman" panose="02020603050405020304" pitchFamily="18" charset="0"/>
                <a:cs typeface="Times New Roman" panose="02020603050405020304" pitchFamily="18" charset="0"/>
              </a:rPr>
              <a:t> documentation - window management, global shortcut plugin, transparency.</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1155</TotalTime>
  <Words>6273</Words>
  <Application>Microsoft Office PowerPoint</Application>
  <PresentationFormat>Custom</PresentationFormat>
  <Paragraphs>409</Paragraphs>
  <Slides>26</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Times New Roman</vt:lpstr>
      <vt:lpstr>Arial</vt:lpstr>
      <vt:lpstr>Office Theme</vt:lpstr>
      <vt:lpstr>SENTINEL – Stateful Trust and Consensus Scoring for Federated Learning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Deepfake and AI-Powered Attack Detection</dc:title>
  <dc:creator>Yash</dc:creator>
  <cp:lastModifiedBy>Yash Doke</cp:lastModifiedBy>
  <cp:revision>89</cp:revision>
  <dcterms:modified xsi:type="dcterms:W3CDTF">2026-08-11T08:42:00Z</dcterms:modified>
</cp:coreProperties>
</file>