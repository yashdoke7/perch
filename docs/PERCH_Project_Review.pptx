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28"/>
  </p:notes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7"/>
    <p:sldId id="278" r:id="rId6"/>
    <p:sldId id="279" r:id="rId5"/>
    <p:sldId id="280" r:id="rId4"/>
    <p:sldId id="281" r:id="rId3"/>
    <p:sldId id="282" r:id="rId33"/>
    <p:sldId id="283" r:id="rId34"/>
    <p:sldId id="284" r:id="rId35"/>
    <p:sldId id="285" r:id="rId36"/>
    <p:sldId id="286" r:id="rId37"/>
    <p:sldId id="287" r:id="rId38"/>
    <p:sldId id="288" r:id="rId39"/>
    <p:sldId id="289" r:id="rId40"/>
    <p:sldId id="290" r:id="rId41"/>
  </p:sldIdLst>
  <p:sldSz cx="4610100" cy="3460750"/>
  <p:notesSz cx="4610100" cy="34607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4D2197-0E76-4BC1-8782-7AAC463DF250}">
  <a:tblStyle styleId="{D74D2197-0E76-4BC1-8782-7AAC463DF25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4660"/>
  </p:normalViewPr>
  <p:slideViewPr>
    <p:cSldViewPr snapToGrid="0">
      <p:cViewPr varScale="1">
        <p:scale>
          <a:sx n="215" d="100"/>
          <a:sy n="215" d="100"/>
        </p:scale>
        <p:origin x="1264" y="10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6.xml"/><Relationship Id="rId4" Type="http://schemas.openxmlformats.org/officeDocument/2006/relationships/slide" Target="slides/slide25.xml"/><Relationship Id="rId5" Type="http://schemas.openxmlformats.org/officeDocument/2006/relationships/slide" Target="slides/slide24.xml"/><Relationship Id="rId6" Type="http://schemas.openxmlformats.org/officeDocument/2006/relationships/slide" Target="slides/slide23.xml"/><Relationship Id="rId7" Type="http://schemas.openxmlformats.org/officeDocument/2006/relationships/slide" Target="slides/slide22.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768500" y="259550"/>
            <a:ext cx="3073550" cy="12977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461000" y="1643850"/>
            <a:ext cx="3688075" cy="15573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461000" y="1643850"/>
            <a:ext cx="3688075" cy="1557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1:notes"/>
          <p:cNvSpPr>
            <a:spLocks noGrp="1" noRot="1" noChangeAspect="1"/>
          </p:cNvSpPr>
          <p:nvPr>
            <p:ph type="sldImg" idx="2"/>
          </p:nvPr>
        </p:nvSpPr>
        <p:spPr>
          <a:xfrm>
            <a:off x="1439863" y="258763"/>
            <a:ext cx="1730375" cy="129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
          <p:cNvSpPr txBox="1">
            <a:spLocks noGrp="1"/>
          </p:cNvSpPr>
          <p:nvPr>
            <p:ph type="title"/>
          </p:nvPr>
        </p:nvSpPr>
        <p:spPr>
          <a:xfrm>
            <a:off x="95300" y="45565"/>
            <a:ext cx="1210945"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
          <p:cNvSpPr txBox="1">
            <a:spLocks noGrp="1"/>
          </p:cNvSpPr>
          <p:nvPr>
            <p:ph type="body" idx="1"/>
          </p:nvPr>
        </p:nvSpPr>
        <p:spPr>
          <a:xfrm>
            <a:off x="402932" y="654391"/>
            <a:ext cx="4079240" cy="223647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1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 name="Google Shape;29;p2"/>
          <p:cNvSpPr txBox="1">
            <a:spLocks noGrp="1"/>
          </p:cNvSpPr>
          <p:nvPr>
            <p:ph type="ftr" idx="11"/>
          </p:nvPr>
        </p:nvSpPr>
        <p:spPr>
          <a:xfrm>
            <a:off x="421944" y="3331252"/>
            <a:ext cx="692150"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
          <p:cNvSpPr txBox="1">
            <a:spLocks noGrp="1"/>
          </p:cNvSpPr>
          <p:nvPr>
            <p:ph type="dt" idx="10"/>
          </p:nvPr>
        </p:nvSpPr>
        <p:spPr>
          <a:xfrm>
            <a:off x="3432695" y="3331252"/>
            <a:ext cx="599439"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
          <p:cNvSpPr txBox="1">
            <a:spLocks noGrp="1"/>
          </p:cNvSpPr>
          <p:nvPr>
            <p:ph type="sldNum" idx="12"/>
          </p:nvPr>
        </p:nvSpPr>
        <p:spPr>
          <a:xfrm>
            <a:off x="4275161" y="3331252"/>
            <a:ext cx="266700" cy="11937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600" b="0" i="0">
                <a:solidFill>
                  <a:schemeClr val="lt1"/>
                </a:solidFill>
                <a:latin typeface="Arial"/>
                <a:ea typeface="Arial"/>
                <a:cs typeface="Arial"/>
                <a:sym typeface="Arial"/>
              </a:defRPr>
            </a:lvl1pPr>
            <a:lvl2pPr marL="38100" lvl="1" indent="0">
              <a:lnSpc>
                <a:spcPct val="100000"/>
              </a:lnSpc>
              <a:spcBef>
                <a:spcPts val="0"/>
              </a:spcBef>
              <a:buNone/>
              <a:defRPr sz="600" b="0" i="0">
                <a:solidFill>
                  <a:schemeClr val="lt1"/>
                </a:solidFill>
                <a:latin typeface="Arial"/>
                <a:ea typeface="Arial"/>
                <a:cs typeface="Arial"/>
                <a:sym typeface="Arial"/>
              </a:defRPr>
            </a:lvl2pPr>
            <a:lvl3pPr marL="38100" lvl="2" indent="0">
              <a:lnSpc>
                <a:spcPct val="100000"/>
              </a:lnSpc>
              <a:spcBef>
                <a:spcPts val="0"/>
              </a:spcBef>
              <a:buNone/>
              <a:defRPr sz="600" b="0" i="0">
                <a:solidFill>
                  <a:schemeClr val="lt1"/>
                </a:solidFill>
                <a:latin typeface="Arial"/>
                <a:ea typeface="Arial"/>
                <a:cs typeface="Arial"/>
                <a:sym typeface="Arial"/>
              </a:defRPr>
            </a:lvl3pPr>
            <a:lvl4pPr marL="38100" lvl="3" indent="0">
              <a:lnSpc>
                <a:spcPct val="100000"/>
              </a:lnSpc>
              <a:spcBef>
                <a:spcPts val="0"/>
              </a:spcBef>
              <a:buNone/>
              <a:defRPr sz="600" b="0" i="0">
                <a:solidFill>
                  <a:schemeClr val="lt1"/>
                </a:solidFill>
                <a:latin typeface="Arial"/>
                <a:ea typeface="Arial"/>
                <a:cs typeface="Arial"/>
                <a:sym typeface="Arial"/>
              </a:defRPr>
            </a:lvl4pPr>
            <a:lvl5pPr marL="38100" lvl="4" indent="0">
              <a:lnSpc>
                <a:spcPct val="100000"/>
              </a:lnSpc>
              <a:spcBef>
                <a:spcPts val="0"/>
              </a:spcBef>
              <a:buNone/>
              <a:defRPr sz="600" b="0" i="0">
                <a:solidFill>
                  <a:schemeClr val="lt1"/>
                </a:solidFill>
                <a:latin typeface="Arial"/>
                <a:ea typeface="Arial"/>
                <a:cs typeface="Arial"/>
                <a:sym typeface="Arial"/>
              </a:defRPr>
            </a:lvl5pPr>
            <a:lvl6pPr marL="38100" lvl="5" indent="0">
              <a:lnSpc>
                <a:spcPct val="100000"/>
              </a:lnSpc>
              <a:spcBef>
                <a:spcPts val="0"/>
              </a:spcBef>
              <a:buNone/>
              <a:defRPr sz="600" b="0" i="0">
                <a:solidFill>
                  <a:schemeClr val="lt1"/>
                </a:solidFill>
                <a:latin typeface="Arial"/>
                <a:ea typeface="Arial"/>
                <a:cs typeface="Arial"/>
                <a:sym typeface="Arial"/>
              </a:defRPr>
            </a:lvl6pPr>
            <a:lvl7pPr marL="38100" lvl="6" indent="0">
              <a:lnSpc>
                <a:spcPct val="100000"/>
              </a:lnSpc>
              <a:spcBef>
                <a:spcPts val="0"/>
              </a:spcBef>
              <a:buNone/>
              <a:defRPr sz="600" b="0" i="0">
                <a:solidFill>
                  <a:schemeClr val="lt1"/>
                </a:solidFill>
                <a:latin typeface="Arial"/>
                <a:ea typeface="Arial"/>
                <a:cs typeface="Arial"/>
                <a:sym typeface="Arial"/>
              </a:defRPr>
            </a:lvl7pPr>
            <a:lvl8pPr marL="38100" lvl="7" indent="0">
              <a:lnSpc>
                <a:spcPct val="100000"/>
              </a:lnSpc>
              <a:spcBef>
                <a:spcPts val="0"/>
              </a:spcBef>
              <a:buNone/>
              <a:defRPr sz="600" b="0" i="0">
                <a:solidFill>
                  <a:schemeClr val="lt1"/>
                </a:solidFill>
                <a:latin typeface="Arial"/>
                <a:ea typeface="Arial"/>
                <a:cs typeface="Arial"/>
                <a:sym typeface="Arial"/>
              </a:defRPr>
            </a:lvl8pPr>
            <a:lvl9pPr marL="38100" lvl="8" indent="0">
              <a:lnSpc>
                <a:spcPct val="100000"/>
              </a:lnSpc>
              <a:spcBef>
                <a:spcPts val="0"/>
              </a:spcBef>
              <a:buNone/>
              <a:defRPr sz="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r>
              <a:rPr lang="en-US"/>
              <a:t> / 15</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
        <p:cNvGrpSpPr/>
        <p:nvPr/>
      </p:nvGrpSpPr>
      <p:grpSpPr>
        <a:xfrm>
          <a:off x="0" y="0"/>
          <a:ext cx="0" cy="0"/>
          <a:chOff x="0" y="0"/>
          <a:chExt cx="0" cy="0"/>
        </a:xfrm>
      </p:grpSpPr>
      <p:sp>
        <p:nvSpPr>
          <p:cNvPr id="33" name="Google Shape;33;p3"/>
          <p:cNvSpPr txBox="1">
            <a:spLocks noGrp="1"/>
          </p:cNvSpPr>
          <p:nvPr>
            <p:ph type="ftr" idx="11"/>
          </p:nvPr>
        </p:nvSpPr>
        <p:spPr>
          <a:xfrm>
            <a:off x="421944" y="3331252"/>
            <a:ext cx="692150"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3"/>
          <p:cNvSpPr txBox="1">
            <a:spLocks noGrp="1"/>
          </p:cNvSpPr>
          <p:nvPr>
            <p:ph type="dt" idx="10"/>
          </p:nvPr>
        </p:nvSpPr>
        <p:spPr>
          <a:xfrm>
            <a:off x="3432695" y="3331252"/>
            <a:ext cx="599439"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
          <p:cNvSpPr txBox="1">
            <a:spLocks noGrp="1"/>
          </p:cNvSpPr>
          <p:nvPr>
            <p:ph type="sldNum" idx="12"/>
          </p:nvPr>
        </p:nvSpPr>
        <p:spPr>
          <a:xfrm>
            <a:off x="4275161" y="3331252"/>
            <a:ext cx="266700" cy="11937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600" b="0" i="0">
                <a:solidFill>
                  <a:schemeClr val="lt1"/>
                </a:solidFill>
                <a:latin typeface="Arial"/>
                <a:ea typeface="Arial"/>
                <a:cs typeface="Arial"/>
                <a:sym typeface="Arial"/>
              </a:defRPr>
            </a:lvl1pPr>
            <a:lvl2pPr marL="38100" lvl="1" indent="0">
              <a:lnSpc>
                <a:spcPct val="100000"/>
              </a:lnSpc>
              <a:spcBef>
                <a:spcPts val="0"/>
              </a:spcBef>
              <a:buNone/>
              <a:defRPr sz="600" b="0" i="0">
                <a:solidFill>
                  <a:schemeClr val="lt1"/>
                </a:solidFill>
                <a:latin typeface="Arial"/>
                <a:ea typeface="Arial"/>
                <a:cs typeface="Arial"/>
                <a:sym typeface="Arial"/>
              </a:defRPr>
            </a:lvl2pPr>
            <a:lvl3pPr marL="38100" lvl="2" indent="0">
              <a:lnSpc>
                <a:spcPct val="100000"/>
              </a:lnSpc>
              <a:spcBef>
                <a:spcPts val="0"/>
              </a:spcBef>
              <a:buNone/>
              <a:defRPr sz="600" b="0" i="0">
                <a:solidFill>
                  <a:schemeClr val="lt1"/>
                </a:solidFill>
                <a:latin typeface="Arial"/>
                <a:ea typeface="Arial"/>
                <a:cs typeface="Arial"/>
                <a:sym typeface="Arial"/>
              </a:defRPr>
            </a:lvl3pPr>
            <a:lvl4pPr marL="38100" lvl="3" indent="0">
              <a:lnSpc>
                <a:spcPct val="100000"/>
              </a:lnSpc>
              <a:spcBef>
                <a:spcPts val="0"/>
              </a:spcBef>
              <a:buNone/>
              <a:defRPr sz="600" b="0" i="0">
                <a:solidFill>
                  <a:schemeClr val="lt1"/>
                </a:solidFill>
                <a:latin typeface="Arial"/>
                <a:ea typeface="Arial"/>
                <a:cs typeface="Arial"/>
                <a:sym typeface="Arial"/>
              </a:defRPr>
            </a:lvl4pPr>
            <a:lvl5pPr marL="38100" lvl="4" indent="0">
              <a:lnSpc>
                <a:spcPct val="100000"/>
              </a:lnSpc>
              <a:spcBef>
                <a:spcPts val="0"/>
              </a:spcBef>
              <a:buNone/>
              <a:defRPr sz="600" b="0" i="0">
                <a:solidFill>
                  <a:schemeClr val="lt1"/>
                </a:solidFill>
                <a:latin typeface="Arial"/>
                <a:ea typeface="Arial"/>
                <a:cs typeface="Arial"/>
                <a:sym typeface="Arial"/>
              </a:defRPr>
            </a:lvl5pPr>
            <a:lvl6pPr marL="38100" lvl="5" indent="0">
              <a:lnSpc>
                <a:spcPct val="100000"/>
              </a:lnSpc>
              <a:spcBef>
                <a:spcPts val="0"/>
              </a:spcBef>
              <a:buNone/>
              <a:defRPr sz="600" b="0" i="0">
                <a:solidFill>
                  <a:schemeClr val="lt1"/>
                </a:solidFill>
                <a:latin typeface="Arial"/>
                <a:ea typeface="Arial"/>
                <a:cs typeface="Arial"/>
                <a:sym typeface="Arial"/>
              </a:defRPr>
            </a:lvl6pPr>
            <a:lvl7pPr marL="38100" lvl="6" indent="0">
              <a:lnSpc>
                <a:spcPct val="100000"/>
              </a:lnSpc>
              <a:spcBef>
                <a:spcPts val="0"/>
              </a:spcBef>
              <a:buNone/>
              <a:defRPr sz="600" b="0" i="0">
                <a:solidFill>
                  <a:schemeClr val="lt1"/>
                </a:solidFill>
                <a:latin typeface="Arial"/>
                <a:ea typeface="Arial"/>
                <a:cs typeface="Arial"/>
                <a:sym typeface="Arial"/>
              </a:defRPr>
            </a:lvl7pPr>
            <a:lvl8pPr marL="38100" lvl="7" indent="0">
              <a:lnSpc>
                <a:spcPct val="100000"/>
              </a:lnSpc>
              <a:spcBef>
                <a:spcPts val="0"/>
              </a:spcBef>
              <a:buNone/>
              <a:defRPr sz="600" b="0" i="0">
                <a:solidFill>
                  <a:schemeClr val="lt1"/>
                </a:solidFill>
                <a:latin typeface="Arial"/>
                <a:ea typeface="Arial"/>
                <a:cs typeface="Arial"/>
                <a:sym typeface="Arial"/>
              </a:defRPr>
            </a:lvl8pPr>
            <a:lvl9pPr marL="38100" lvl="8" indent="0">
              <a:lnSpc>
                <a:spcPct val="100000"/>
              </a:lnSpc>
              <a:spcBef>
                <a:spcPts val="0"/>
              </a:spcBef>
              <a:buNone/>
              <a:defRPr sz="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r>
              <a:rPr lang="en-US"/>
              <a:t> / 15</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6"/>
        <p:cNvGrpSpPr/>
        <p:nvPr/>
      </p:nvGrpSpPr>
      <p:grpSpPr>
        <a:xfrm>
          <a:off x="0" y="0"/>
          <a:ext cx="0" cy="0"/>
          <a:chOff x="0" y="0"/>
          <a:chExt cx="0" cy="0"/>
        </a:xfrm>
      </p:grpSpPr>
      <p:sp>
        <p:nvSpPr>
          <p:cNvPr id="37" name="Google Shape;37;p4"/>
          <p:cNvSpPr txBox="1">
            <a:spLocks noGrp="1"/>
          </p:cNvSpPr>
          <p:nvPr>
            <p:ph type="ctrTitle"/>
          </p:nvPr>
        </p:nvSpPr>
        <p:spPr>
          <a:xfrm>
            <a:off x="345757" y="1072832"/>
            <a:ext cx="3918585" cy="72675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
          <p:cNvSpPr txBox="1">
            <a:spLocks noGrp="1"/>
          </p:cNvSpPr>
          <p:nvPr>
            <p:ph type="subTitle" idx="1"/>
          </p:nvPr>
        </p:nvSpPr>
        <p:spPr>
          <a:xfrm>
            <a:off x="691515" y="1938020"/>
            <a:ext cx="3227070" cy="86518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100" b="0" i="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
          <p:cNvSpPr txBox="1">
            <a:spLocks noGrp="1"/>
          </p:cNvSpPr>
          <p:nvPr>
            <p:ph type="ftr" idx="11"/>
          </p:nvPr>
        </p:nvSpPr>
        <p:spPr>
          <a:xfrm>
            <a:off x="421944" y="3331252"/>
            <a:ext cx="692150"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
          <p:cNvSpPr txBox="1">
            <a:spLocks noGrp="1"/>
          </p:cNvSpPr>
          <p:nvPr>
            <p:ph type="dt" idx="10"/>
          </p:nvPr>
        </p:nvSpPr>
        <p:spPr>
          <a:xfrm>
            <a:off x="3432695" y="3331252"/>
            <a:ext cx="599439"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4275161" y="3331252"/>
            <a:ext cx="266700" cy="11937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600" b="0" i="0">
                <a:solidFill>
                  <a:schemeClr val="lt1"/>
                </a:solidFill>
                <a:latin typeface="Arial"/>
                <a:ea typeface="Arial"/>
                <a:cs typeface="Arial"/>
                <a:sym typeface="Arial"/>
              </a:defRPr>
            </a:lvl1pPr>
            <a:lvl2pPr marL="38100" lvl="1" indent="0">
              <a:lnSpc>
                <a:spcPct val="100000"/>
              </a:lnSpc>
              <a:spcBef>
                <a:spcPts val="0"/>
              </a:spcBef>
              <a:buNone/>
              <a:defRPr sz="600" b="0" i="0">
                <a:solidFill>
                  <a:schemeClr val="lt1"/>
                </a:solidFill>
                <a:latin typeface="Arial"/>
                <a:ea typeface="Arial"/>
                <a:cs typeface="Arial"/>
                <a:sym typeface="Arial"/>
              </a:defRPr>
            </a:lvl2pPr>
            <a:lvl3pPr marL="38100" lvl="2" indent="0">
              <a:lnSpc>
                <a:spcPct val="100000"/>
              </a:lnSpc>
              <a:spcBef>
                <a:spcPts val="0"/>
              </a:spcBef>
              <a:buNone/>
              <a:defRPr sz="600" b="0" i="0">
                <a:solidFill>
                  <a:schemeClr val="lt1"/>
                </a:solidFill>
                <a:latin typeface="Arial"/>
                <a:ea typeface="Arial"/>
                <a:cs typeface="Arial"/>
                <a:sym typeface="Arial"/>
              </a:defRPr>
            </a:lvl3pPr>
            <a:lvl4pPr marL="38100" lvl="3" indent="0">
              <a:lnSpc>
                <a:spcPct val="100000"/>
              </a:lnSpc>
              <a:spcBef>
                <a:spcPts val="0"/>
              </a:spcBef>
              <a:buNone/>
              <a:defRPr sz="600" b="0" i="0">
                <a:solidFill>
                  <a:schemeClr val="lt1"/>
                </a:solidFill>
                <a:latin typeface="Arial"/>
                <a:ea typeface="Arial"/>
                <a:cs typeface="Arial"/>
                <a:sym typeface="Arial"/>
              </a:defRPr>
            </a:lvl4pPr>
            <a:lvl5pPr marL="38100" lvl="4" indent="0">
              <a:lnSpc>
                <a:spcPct val="100000"/>
              </a:lnSpc>
              <a:spcBef>
                <a:spcPts val="0"/>
              </a:spcBef>
              <a:buNone/>
              <a:defRPr sz="600" b="0" i="0">
                <a:solidFill>
                  <a:schemeClr val="lt1"/>
                </a:solidFill>
                <a:latin typeface="Arial"/>
                <a:ea typeface="Arial"/>
                <a:cs typeface="Arial"/>
                <a:sym typeface="Arial"/>
              </a:defRPr>
            </a:lvl5pPr>
            <a:lvl6pPr marL="38100" lvl="5" indent="0">
              <a:lnSpc>
                <a:spcPct val="100000"/>
              </a:lnSpc>
              <a:spcBef>
                <a:spcPts val="0"/>
              </a:spcBef>
              <a:buNone/>
              <a:defRPr sz="600" b="0" i="0">
                <a:solidFill>
                  <a:schemeClr val="lt1"/>
                </a:solidFill>
                <a:latin typeface="Arial"/>
                <a:ea typeface="Arial"/>
                <a:cs typeface="Arial"/>
                <a:sym typeface="Arial"/>
              </a:defRPr>
            </a:lvl6pPr>
            <a:lvl7pPr marL="38100" lvl="6" indent="0">
              <a:lnSpc>
                <a:spcPct val="100000"/>
              </a:lnSpc>
              <a:spcBef>
                <a:spcPts val="0"/>
              </a:spcBef>
              <a:buNone/>
              <a:defRPr sz="600" b="0" i="0">
                <a:solidFill>
                  <a:schemeClr val="lt1"/>
                </a:solidFill>
                <a:latin typeface="Arial"/>
                <a:ea typeface="Arial"/>
                <a:cs typeface="Arial"/>
                <a:sym typeface="Arial"/>
              </a:defRPr>
            </a:lvl7pPr>
            <a:lvl8pPr marL="38100" lvl="7" indent="0">
              <a:lnSpc>
                <a:spcPct val="100000"/>
              </a:lnSpc>
              <a:spcBef>
                <a:spcPts val="0"/>
              </a:spcBef>
              <a:buNone/>
              <a:defRPr sz="600" b="0" i="0">
                <a:solidFill>
                  <a:schemeClr val="lt1"/>
                </a:solidFill>
                <a:latin typeface="Arial"/>
                <a:ea typeface="Arial"/>
                <a:cs typeface="Arial"/>
                <a:sym typeface="Arial"/>
              </a:defRPr>
            </a:lvl8pPr>
            <a:lvl9pPr marL="38100" lvl="8" indent="0">
              <a:lnSpc>
                <a:spcPct val="100000"/>
              </a:lnSpc>
              <a:spcBef>
                <a:spcPts val="0"/>
              </a:spcBef>
              <a:buNone/>
              <a:defRPr sz="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r>
              <a:rPr lang="en-US"/>
              <a:t> / 15</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95300" y="45565"/>
            <a:ext cx="1210945"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5"/>
          <p:cNvSpPr txBox="1">
            <a:spLocks noGrp="1"/>
          </p:cNvSpPr>
          <p:nvPr>
            <p:ph type="body" idx="1"/>
          </p:nvPr>
        </p:nvSpPr>
        <p:spPr>
          <a:xfrm>
            <a:off x="230505" y="795972"/>
            <a:ext cx="2005393" cy="228409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5" name="Google Shape;45;p5"/>
          <p:cNvSpPr txBox="1">
            <a:spLocks noGrp="1"/>
          </p:cNvSpPr>
          <p:nvPr>
            <p:ph type="body" idx="2"/>
          </p:nvPr>
        </p:nvSpPr>
        <p:spPr>
          <a:xfrm>
            <a:off x="2374201" y="795972"/>
            <a:ext cx="2005393" cy="228409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6" name="Google Shape;46;p5"/>
          <p:cNvSpPr txBox="1">
            <a:spLocks noGrp="1"/>
          </p:cNvSpPr>
          <p:nvPr>
            <p:ph type="ftr" idx="11"/>
          </p:nvPr>
        </p:nvSpPr>
        <p:spPr>
          <a:xfrm>
            <a:off x="421944" y="3331252"/>
            <a:ext cx="692150"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5"/>
          <p:cNvSpPr txBox="1">
            <a:spLocks noGrp="1"/>
          </p:cNvSpPr>
          <p:nvPr>
            <p:ph type="dt" idx="10"/>
          </p:nvPr>
        </p:nvSpPr>
        <p:spPr>
          <a:xfrm>
            <a:off x="3432695" y="3331252"/>
            <a:ext cx="599439"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5"/>
          <p:cNvSpPr txBox="1">
            <a:spLocks noGrp="1"/>
          </p:cNvSpPr>
          <p:nvPr>
            <p:ph type="sldNum" idx="12"/>
          </p:nvPr>
        </p:nvSpPr>
        <p:spPr>
          <a:xfrm>
            <a:off x="4275161" y="3331252"/>
            <a:ext cx="266700" cy="11937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600" b="0" i="0">
                <a:solidFill>
                  <a:schemeClr val="lt1"/>
                </a:solidFill>
                <a:latin typeface="Arial"/>
                <a:ea typeface="Arial"/>
                <a:cs typeface="Arial"/>
                <a:sym typeface="Arial"/>
              </a:defRPr>
            </a:lvl1pPr>
            <a:lvl2pPr marL="38100" lvl="1" indent="0">
              <a:lnSpc>
                <a:spcPct val="100000"/>
              </a:lnSpc>
              <a:spcBef>
                <a:spcPts val="0"/>
              </a:spcBef>
              <a:buNone/>
              <a:defRPr sz="600" b="0" i="0">
                <a:solidFill>
                  <a:schemeClr val="lt1"/>
                </a:solidFill>
                <a:latin typeface="Arial"/>
                <a:ea typeface="Arial"/>
                <a:cs typeface="Arial"/>
                <a:sym typeface="Arial"/>
              </a:defRPr>
            </a:lvl2pPr>
            <a:lvl3pPr marL="38100" lvl="2" indent="0">
              <a:lnSpc>
                <a:spcPct val="100000"/>
              </a:lnSpc>
              <a:spcBef>
                <a:spcPts val="0"/>
              </a:spcBef>
              <a:buNone/>
              <a:defRPr sz="600" b="0" i="0">
                <a:solidFill>
                  <a:schemeClr val="lt1"/>
                </a:solidFill>
                <a:latin typeface="Arial"/>
                <a:ea typeface="Arial"/>
                <a:cs typeface="Arial"/>
                <a:sym typeface="Arial"/>
              </a:defRPr>
            </a:lvl3pPr>
            <a:lvl4pPr marL="38100" lvl="3" indent="0">
              <a:lnSpc>
                <a:spcPct val="100000"/>
              </a:lnSpc>
              <a:spcBef>
                <a:spcPts val="0"/>
              </a:spcBef>
              <a:buNone/>
              <a:defRPr sz="600" b="0" i="0">
                <a:solidFill>
                  <a:schemeClr val="lt1"/>
                </a:solidFill>
                <a:latin typeface="Arial"/>
                <a:ea typeface="Arial"/>
                <a:cs typeface="Arial"/>
                <a:sym typeface="Arial"/>
              </a:defRPr>
            </a:lvl4pPr>
            <a:lvl5pPr marL="38100" lvl="4" indent="0">
              <a:lnSpc>
                <a:spcPct val="100000"/>
              </a:lnSpc>
              <a:spcBef>
                <a:spcPts val="0"/>
              </a:spcBef>
              <a:buNone/>
              <a:defRPr sz="600" b="0" i="0">
                <a:solidFill>
                  <a:schemeClr val="lt1"/>
                </a:solidFill>
                <a:latin typeface="Arial"/>
                <a:ea typeface="Arial"/>
                <a:cs typeface="Arial"/>
                <a:sym typeface="Arial"/>
              </a:defRPr>
            </a:lvl5pPr>
            <a:lvl6pPr marL="38100" lvl="5" indent="0">
              <a:lnSpc>
                <a:spcPct val="100000"/>
              </a:lnSpc>
              <a:spcBef>
                <a:spcPts val="0"/>
              </a:spcBef>
              <a:buNone/>
              <a:defRPr sz="600" b="0" i="0">
                <a:solidFill>
                  <a:schemeClr val="lt1"/>
                </a:solidFill>
                <a:latin typeface="Arial"/>
                <a:ea typeface="Arial"/>
                <a:cs typeface="Arial"/>
                <a:sym typeface="Arial"/>
              </a:defRPr>
            </a:lvl6pPr>
            <a:lvl7pPr marL="38100" lvl="6" indent="0">
              <a:lnSpc>
                <a:spcPct val="100000"/>
              </a:lnSpc>
              <a:spcBef>
                <a:spcPts val="0"/>
              </a:spcBef>
              <a:buNone/>
              <a:defRPr sz="600" b="0" i="0">
                <a:solidFill>
                  <a:schemeClr val="lt1"/>
                </a:solidFill>
                <a:latin typeface="Arial"/>
                <a:ea typeface="Arial"/>
                <a:cs typeface="Arial"/>
                <a:sym typeface="Arial"/>
              </a:defRPr>
            </a:lvl7pPr>
            <a:lvl8pPr marL="38100" lvl="7" indent="0">
              <a:lnSpc>
                <a:spcPct val="100000"/>
              </a:lnSpc>
              <a:spcBef>
                <a:spcPts val="0"/>
              </a:spcBef>
              <a:buNone/>
              <a:defRPr sz="600" b="0" i="0">
                <a:solidFill>
                  <a:schemeClr val="lt1"/>
                </a:solidFill>
                <a:latin typeface="Arial"/>
                <a:ea typeface="Arial"/>
                <a:cs typeface="Arial"/>
                <a:sym typeface="Arial"/>
              </a:defRPr>
            </a:lvl8pPr>
            <a:lvl9pPr marL="38100" lvl="8" indent="0">
              <a:lnSpc>
                <a:spcPct val="100000"/>
              </a:lnSpc>
              <a:spcBef>
                <a:spcPts val="0"/>
              </a:spcBef>
              <a:buNone/>
              <a:defRPr sz="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r>
              <a:rPr lang="en-US"/>
              <a:t> / 15</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9"/>
        <p:cNvGrpSpPr/>
        <p:nvPr/>
      </p:nvGrpSpPr>
      <p:grpSpPr>
        <a:xfrm>
          <a:off x="0" y="0"/>
          <a:ext cx="0" cy="0"/>
          <a:chOff x="0" y="0"/>
          <a:chExt cx="0" cy="0"/>
        </a:xfrm>
      </p:grpSpPr>
      <p:sp>
        <p:nvSpPr>
          <p:cNvPr id="50" name="Google Shape;50;p6"/>
          <p:cNvSpPr txBox="1">
            <a:spLocks noGrp="1"/>
          </p:cNvSpPr>
          <p:nvPr>
            <p:ph type="title"/>
          </p:nvPr>
        </p:nvSpPr>
        <p:spPr>
          <a:xfrm>
            <a:off x="95300" y="45565"/>
            <a:ext cx="1210945"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421944" y="3331252"/>
            <a:ext cx="692150"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6"/>
          <p:cNvSpPr txBox="1">
            <a:spLocks noGrp="1"/>
          </p:cNvSpPr>
          <p:nvPr>
            <p:ph type="dt" idx="10"/>
          </p:nvPr>
        </p:nvSpPr>
        <p:spPr>
          <a:xfrm>
            <a:off x="3432695" y="3331252"/>
            <a:ext cx="599439"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
          <p:cNvSpPr txBox="1">
            <a:spLocks noGrp="1"/>
          </p:cNvSpPr>
          <p:nvPr>
            <p:ph type="sldNum" idx="12"/>
          </p:nvPr>
        </p:nvSpPr>
        <p:spPr>
          <a:xfrm>
            <a:off x="4275161" y="3331252"/>
            <a:ext cx="266700" cy="11937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600" b="0" i="0">
                <a:solidFill>
                  <a:schemeClr val="lt1"/>
                </a:solidFill>
                <a:latin typeface="Arial"/>
                <a:ea typeface="Arial"/>
                <a:cs typeface="Arial"/>
                <a:sym typeface="Arial"/>
              </a:defRPr>
            </a:lvl1pPr>
            <a:lvl2pPr marL="38100" lvl="1" indent="0">
              <a:lnSpc>
                <a:spcPct val="100000"/>
              </a:lnSpc>
              <a:spcBef>
                <a:spcPts val="0"/>
              </a:spcBef>
              <a:buNone/>
              <a:defRPr sz="600" b="0" i="0">
                <a:solidFill>
                  <a:schemeClr val="lt1"/>
                </a:solidFill>
                <a:latin typeface="Arial"/>
                <a:ea typeface="Arial"/>
                <a:cs typeface="Arial"/>
                <a:sym typeface="Arial"/>
              </a:defRPr>
            </a:lvl2pPr>
            <a:lvl3pPr marL="38100" lvl="2" indent="0">
              <a:lnSpc>
                <a:spcPct val="100000"/>
              </a:lnSpc>
              <a:spcBef>
                <a:spcPts val="0"/>
              </a:spcBef>
              <a:buNone/>
              <a:defRPr sz="600" b="0" i="0">
                <a:solidFill>
                  <a:schemeClr val="lt1"/>
                </a:solidFill>
                <a:latin typeface="Arial"/>
                <a:ea typeface="Arial"/>
                <a:cs typeface="Arial"/>
                <a:sym typeface="Arial"/>
              </a:defRPr>
            </a:lvl3pPr>
            <a:lvl4pPr marL="38100" lvl="3" indent="0">
              <a:lnSpc>
                <a:spcPct val="100000"/>
              </a:lnSpc>
              <a:spcBef>
                <a:spcPts val="0"/>
              </a:spcBef>
              <a:buNone/>
              <a:defRPr sz="600" b="0" i="0">
                <a:solidFill>
                  <a:schemeClr val="lt1"/>
                </a:solidFill>
                <a:latin typeface="Arial"/>
                <a:ea typeface="Arial"/>
                <a:cs typeface="Arial"/>
                <a:sym typeface="Arial"/>
              </a:defRPr>
            </a:lvl4pPr>
            <a:lvl5pPr marL="38100" lvl="4" indent="0">
              <a:lnSpc>
                <a:spcPct val="100000"/>
              </a:lnSpc>
              <a:spcBef>
                <a:spcPts val="0"/>
              </a:spcBef>
              <a:buNone/>
              <a:defRPr sz="600" b="0" i="0">
                <a:solidFill>
                  <a:schemeClr val="lt1"/>
                </a:solidFill>
                <a:latin typeface="Arial"/>
                <a:ea typeface="Arial"/>
                <a:cs typeface="Arial"/>
                <a:sym typeface="Arial"/>
              </a:defRPr>
            </a:lvl5pPr>
            <a:lvl6pPr marL="38100" lvl="5" indent="0">
              <a:lnSpc>
                <a:spcPct val="100000"/>
              </a:lnSpc>
              <a:spcBef>
                <a:spcPts val="0"/>
              </a:spcBef>
              <a:buNone/>
              <a:defRPr sz="600" b="0" i="0">
                <a:solidFill>
                  <a:schemeClr val="lt1"/>
                </a:solidFill>
                <a:latin typeface="Arial"/>
                <a:ea typeface="Arial"/>
                <a:cs typeface="Arial"/>
                <a:sym typeface="Arial"/>
              </a:defRPr>
            </a:lvl6pPr>
            <a:lvl7pPr marL="38100" lvl="6" indent="0">
              <a:lnSpc>
                <a:spcPct val="100000"/>
              </a:lnSpc>
              <a:spcBef>
                <a:spcPts val="0"/>
              </a:spcBef>
              <a:buNone/>
              <a:defRPr sz="600" b="0" i="0">
                <a:solidFill>
                  <a:schemeClr val="lt1"/>
                </a:solidFill>
                <a:latin typeface="Arial"/>
                <a:ea typeface="Arial"/>
                <a:cs typeface="Arial"/>
                <a:sym typeface="Arial"/>
              </a:defRPr>
            </a:lvl7pPr>
            <a:lvl8pPr marL="38100" lvl="7" indent="0">
              <a:lnSpc>
                <a:spcPct val="100000"/>
              </a:lnSpc>
              <a:spcBef>
                <a:spcPts val="0"/>
              </a:spcBef>
              <a:buNone/>
              <a:defRPr sz="600" b="0" i="0">
                <a:solidFill>
                  <a:schemeClr val="lt1"/>
                </a:solidFill>
                <a:latin typeface="Arial"/>
                <a:ea typeface="Arial"/>
                <a:cs typeface="Arial"/>
                <a:sym typeface="Arial"/>
              </a:defRPr>
            </a:lvl8pPr>
            <a:lvl9pPr marL="38100" lvl="8" indent="0">
              <a:lnSpc>
                <a:spcPct val="100000"/>
              </a:lnSpc>
              <a:spcBef>
                <a:spcPts val="0"/>
              </a:spcBef>
              <a:buNone/>
              <a:defRPr sz="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r>
              <a:rPr lang="en-US"/>
              <a:t> / 15</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088361" y="3242195"/>
            <a:ext cx="43180" cy="30480"/>
          </a:xfrm>
          <a:custGeom>
            <a:avLst/>
            <a:gdLst/>
            <a:ahLst/>
            <a:cxnLst/>
            <a:rect l="l" t="t" r="r" b="b"/>
            <a:pathLst>
              <a:path w="43180" h="30479" extrusionOk="0">
                <a:moveTo>
                  <a:pt x="0" y="30366"/>
                </a:moveTo>
                <a:lnTo>
                  <a:pt x="43019" y="30366"/>
                </a:lnTo>
                <a:lnTo>
                  <a:pt x="43019" y="0"/>
                </a:lnTo>
                <a:lnTo>
                  <a:pt x="0" y="0"/>
                </a:lnTo>
                <a:lnTo>
                  <a:pt x="0" y="30366"/>
                </a:lnTo>
                <a:close/>
              </a:path>
            </a:pathLst>
          </a:custGeom>
          <a:noFill/>
          <a:ln w="9525" cap="flat" cmpd="sng">
            <a:solidFill>
              <a:srgbClr val="ADADE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 name="Google Shape;7;p1"/>
          <p:cNvSpPr/>
          <p:nvPr/>
        </p:nvSpPr>
        <p:spPr>
          <a:xfrm>
            <a:off x="3008744" y="3238232"/>
            <a:ext cx="25400" cy="38100"/>
          </a:xfrm>
          <a:custGeom>
            <a:avLst/>
            <a:gdLst/>
            <a:ahLst/>
            <a:cxnLst/>
            <a:rect l="l" t="t" r="r" b="b"/>
            <a:pathLst>
              <a:path w="25400" h="38100" extrusionOk="0">
                <a:moveTo>
                  <a:pt x="25400" y="0"/>
                </a:moveTo>
                <a:lnTo>
                  <a:pt x="0" y="19050"/>
                </a:lnTo>
                <a:lnTo>
                  <a:pt x="25400" y="38100"/>
                </a:lnTo>
                <a:lnTo>
                  <a:pt x="25400"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 name="Google Shape;8;p1"/>
          <p:cNvSpPr/>
          <p:nvPr/>
        </p:nvSpPr>
        <p:spPr>
          <a:xfrm>
            <a:off x="3186546" y="3238232"/>
            <a:ext cx="25400" cy="38100"/>
          </a:xfrm>
          <a:custGeom>
            <a:avLst/>
            <a:gdLst/>
            <a:ahLst/>
            <a:cxnLst/>
            <a:rect l="l" t="t" r="r" b="b"/>
            <a:pathLst>
              <a:path w="25400" h="38100" extrusionOk="0">
                <a:moveTo>
                  <a:pt x="0" y="0"/>
                </a:moveTo>
                <a:lnTo>
                  <a:pt x="0" y="38100"/>
                </a:lnTo>
                <a:lnTo>
                  <a:pt x="25400" y="19050"/>
                </a:lnTo>
                <a:lnTo>
                  <a:pt x="0"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 name="Google Shape;9;p1"/>
          <p:cNvSpPr/>
          <p:nvPr/>
        </p:nvSpPr>
        <p:spPr>
          <a:xfrm>
            <a:off x="3339032" y="3231882"/>
            <a:ext cx="64135" cy="50800"/>
          </a:xfrm>
          <a:custGeom>
            <a:avLst/>
            <a:gdLst/>
            <a:ahLst/>
            <a:cxnLst/>
            <a:rect l="l" t="t" r="r" b="b"/>
            <a:pathLst>
              <a:path w="64135" h="50800" extrusionOk="0">
                <a:moveTo>
                  <a:pt x="0" y="50800"/>
                </a:moveTo>
                <a:lnTo>
                  <a:pt x="43019" y="50800"/>
                </a:lnTo>
                <a:lnTo>
                  <a:pt x="43019" y="20434"/>
                </a:lnTo>
                <a:lnTo>
                  <a:pt x="0" y="20434"/>
                </a:lnTo>
                <a:lnTo>
                  <a:pt x="0" y="50800"/>
                </a:lnTo>
                <a:close/>
              </a:path>
              <a:path w="64135" h="50800" extrusionOk="0">
                <a:moveTo>
                  <a:pt x="10491" y="20320"/>
                </a:moveTo>
                <a:lnTo>
                  <a:pt x="10491" y="10160"/>
                </a:lnTo>
                <a:lnTo>
                  <a:pt x="53672" y="10160"/>
                </a:lnTo>
                <a:lnTo>
                  <a:pt x="53672" y="40640"/>
                </a:lnTo>
                <a:lnTo>
                  <a:pt x="43512" y="40640"/>
                </a:lnTo>
              </a:path>
              <a:path w="64135" h="50800" extrusionOk="0">
                <a:moveTo>
                  <a:pt x="20652" y="10160"/>
                </a:moveTo>
                <a:lnTo>
                  <a:pt x="20652" y="0"/>
                </a:lnTo>
                <a:lnTo>
                  <a:pt x="63832" y="0"/>
                </a:lnTo>
                <a:lnTo>
                  <a:pt x="63832" y="30480"/>
                </a:lnTo>
                <a:lnTo>
                  <a:pt x="53672" y="30480"/>
                </a:lnTo>
              </a:path>
            </a:pathLst>
          </a:custGeom>
          <a:noFill/>
          <a:ln w="9525" cap="flat" cmpd="sng">
            <a:solidFill>
              <a:srgbClr val="ADADE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 name="Google Shape;10;p1"/>
          <p:cNvSpPr/>
          <p:nvPr/>
        </p:nvSpPr>
        <p:spPr>
          <a:xfrm>
            <a:off x="3275863" y="3238233"/>
            <a:ext cx="203200" cy="38100"/>
          </a:xfrm>
          <a:custGeom>
            <a:avLst/>
            <a:gdLst/>
            <a:ahLst/>
            <a:cxnLst/>
            <a:rect l="l" t="t" r="r" b="b"/>
            <a:pathLst>
              <a:path w="203200" h="38100" extrusionOk="0">
                <a:moveTo>
                  <a:pt x="25400" y="0"/>
                </a:moveTo>
                <a:lnTo>
                  <a:pt x="0" y="19050"/>
                </a:lnTo>
                <a:lnTo>
                  <a:pt x="25400" y="38100"/>
                </a:lnTo>
                <a:lnTo>
                  <a:pt x="25400" y="0"/>
                </a:lnTo>
                <a:close/>
              </a:path>
              <a:path w="203200" h="38100" extrusionOk="0">
                <a:moveTo>
                  <a:pt x="177802" y="0"/>
                </a:moveTo>
                <a:lnTo>
                  <a:pt x="177802" y="38100"/>
                </a:lnTo>
                <a:lnTo>
                  <a:pt x="203202" y="19050"/>
                </a:lnTo>
                <a:lnTo>
                  <a:pt x="177802"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 name="Google Shape;11;p1"/>
          <p:cNvSpPr/>
          <p:nvPr/>
        </p:nvSpPr>
        <p:spPr>
          <a:xfrm>
            <a:off x="3631883" y="3244583"/>
            <a:ext cx="38100" cy="0"/>
          </a:xfrm>
          <a:custGeom>
            <a:avLst/>
            <a:gdLst/>
            <a:ahLst/>
            <a:cxnLst/>
            <a:rect l="l" t="t" r="r" b="b"/>
            <a:pathLst>
              <a:path w="38100" h="120000" extrusionOk="0">
                <a:moveTo>
                  <a:pt x="0" y="0"/>
                </a:moveTo>
                <a:lnTo>
                  <a:pt x="38100" y="0"/>
                </a:lnTo>
              </a:path>
            </a:pathLst>
          </a:custGeom>
          <a:noFill/>
          <a:ln w="9525" cap="flat" cmpd="sng">
            <a:solidFill>
              <a:srgbClr val="ADADE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2" name="Google Shape;12;p1"/>
          <p:cNvSpPr/>
          <p:nvPr/>
        </p:nvSpPr>
        <p:spPr>
          <a:xfrm>
            <a:off x="3542982" y="3238233"/>
            <a:ext cx="203200" cy="38100"/>
          </a:xfrm>
          <a:custGeom>
            <a:avLst/>
            <a:gdLst/>
            <a:ahLst/>
            <a:cxnLst/>
            <a:rect l="l" t="t" r="r" b="b"/>
            <a:pathLst>
              <a:path w="203200" h="38100" extrusionOk="0">
                <a:moveTo>
                  <a:pt x="25400" y="0"/>
                </a:moveTo>
                <a:lnTo>
                  <a:pt x="0" y="19050"/>
                </a:lnTo>
                <a:lnTo>
                  <a:pt x="25400" y="38100"/>
                </a:lnTo>
                <a:lnTo>
                  <a:pt x="25400" y="0"/>
                </a:lnTo>
                <a:close/>
              </a:path>
              <a:path w="203200" h="38100" extrusionOk="0">
                <a:moveTo>
                  <a:pt x="177802" y="0"/>
                </a:moveTo>
                <a:lnTo>
                  <a:pt x="177802" y="38100"/>
                </a:lnTo>
                <a:lnTo>
                  <a:pt x="203202" y="19050"/>
                </a:lnTo>
                <a:lnTo>
                  <a:pt x="177802"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 name="Google Shape;13;p1"/>
          <p:cNvSpPr/>
          <p:nvPr/>
        </p:nvSpPr>
        <p:spPr>
          <a:xfrm>
            <a:off x="3619183" y="3231882"/>
            <a:ext cx="50800" cy="50800"/>
          </a:xfrm>
          <a:custGeom>
            <a:avLst/>
            <a:gdLst/>
            <a:ahLst/>
            <a:cxnLst/>
            <a:rect l="l" t="t" r="r" b="b"/>
            <a:pathLst>
              <a:path w="50800" h="50800" extrusionOk="0">
                <a:moveTo>
                  <a:pt x="0" y="0"/>
                </a:moveTo>
                <a:lnTo>
                  <a:pt x="38100" y="0"/>
                </a:lnTo>
              </a:path>
              <a:path w="50800" h="50800" extrusionOk="0">
                <a:moveTo>
                  <a:pt x="12700" y="25400"/>
                </a:moveTo>
                <a:lnTo>
                  <a:pt x="50800" y="25400"/>
                </a:lnTo>
              </a:path>
              <a:path w="50800" h="50800" extrusionOk="0">
                <a:moveTo>
                  <a:pt x="0" y="38100"/>
                </a:moveTo>
                <a:lnTo>
                  <a:pt x="38100" y="38100"/>
                </a:lnTo>
              </a:path>
              <a:path w="50800" h="50800" extrusionOk="0">
                <a:moveTo>
                  <a:pt x="12700" y="50800"/>
                </a:moveTo>
                <a:lnTo>
                  <a:pt x="50800" y="50800"/>
                </a:lnTo>
              </a:path>
            </a:pathLst>
          </a:custGeom>
          <a:noFill/>
          <a:ln w="9525" cap="flat" cmpd="sng">
            <a:solidFill>
              <a:srgbClr val="D6D6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 name="Google Shape;14;p1"/>
          <p:cNvSpPr/>
          <p:nvPr/>
        </p:nvSpPr>
        <p:spPr>
          <a:xfrm>
            <a:off x="3886302" y="3231882"/>
            <a:ext cx="50800" cy="25400"/>
          </a:xfrm>
          <a:custGeom>
            <a:avLst/>
            <a:gdLst/>
            <a:ahLst/>
            <a:cxnLst/>
            <a:rect l="l" t="t" r="r" b="b"/>
            <a:pathLst>
              <a:path w="50800" h="25400" extrusionOk="0">
                <a:moveTo>
                  <a:pt x="0" y="0"/>
                </a:moveTo>
                <a:lnTo>
                  <a:pt x="38100" y="0"/>
                </a:lnTo>
              </a:path>
              <a:path w="50800" h="25400" extrusionOk="0">
                <a:moveTo>
                  <a:pt x="12700" y="12700"/>
                </a:moveTo>
                <a:lnTo>
                  <a:pt x="50800" y="12700"/>
                </a:lnTo>
              </a:path>
              <a:path w="50800" h="25400" extrusionOk="0">
                <a:moveTo>
                  <a:pt x="12700" y="25400"/>
                </a:moveTo>
                <a:lnTo>
                  <a:pt x="50800" y="25400"/>
                </a:lnTo>
              </a:path>
            </a:pathLst>
          </a:custGeom>
          <a:noFill/>
          <a:ln w="9525" cap="flat" cmpd="sng">
            <a:solidFill>
              <a:srgbClr val="ADADE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5" name="Google Shape;15;p1"/>
          <p:cNvSpPr/>
          <p:nvPr/>
        </p:nvSpPr>
        <p:spPr>
          <a:xfrm>
            <a:off x="3810101" y="3238233"/>
            <a:ext cx="203200" cy="38100"/>
          </a:xfrm>
          <a:custGeom>
            <a:avLst/>
            <a:gdLst/>
            <a:ahLst/>
            <a:cxnLst/>
            <a:rect l="l" t="t" r="r" b="b"/>
            <a:pathLst>
              <a:path w="203200" h="38100" extrusionOk="0">
                <a:moveTo>
                  <a:pt x="25400" y="0"/>
                </a:moveTo>
                <a:lnTo>
                  <a:pt x="0" y="19050"/>
                </a:lnTo>
                <a:lnTo>
                  <a:pt x="25400" y="38100"/>
                </a:lnTo>
                <a:lnTo>
                  <a:pt x="25400" y="0"/>
                </a:lnTo>
                <a:close/>
              </a:path>
              <a:path w="203200" h="38100" extrusionOk="0">
                <a:moveTo>
                  <a:pt x="177802" y="0"/>
                </a:moveTo>
                <a:lnTo>
                  <a:pt x="177802" y="38100"/>
                </a:lnTo>
                <a:lnTo>
                  <a:pt x="203202" y="19050"/>
                </a:lnTo>
                <a:lnTo>
                  <a:pt x="177802"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6" name="Google Shape;16;p1"/>
          <p:cNvSpPr/>
          <p:nvPr/>
        </p:nvSpPr>
        <p:spPr>
          <a:xfrm>
            <a:off x="3886302" y="3269983"/>
            <a:ext cx="50800" cy="12700"/>
          </a:xfrm>
          <a:custGeom>
            <a:avLst/>
            <a:gdLst/>
            <a:ahLst/>
            <a:cxnLst/>
            <a:rect l="l" t="t" r="r" b="b"/>
            <a:pathLst>
              <a:path w="50800" h="12700" extrusionOk="0">
                <a:moveTo>
                  <a:pt x="0" y="0"/>
                </a:moveTo>
                <a:lnTo>
                  <a:pt x="38100" y="0"/>
                </a:lnTo>
              </a:path>
              <a:path w="50800" h="12700" extrusionOk="0">
                <a:moveTo>
                  <a:pt x="12700" y="12699"/>
                </a:moveTo>
                <a:lnTo>
                  <a:pt x="50800" y="12699"/>
                </a:lnTo>
              </a:path>
            </a:pathLst>
          </a:custGeom>
          <a:noFill/>
          <a:ln w="9525" cap="flat" cmpd="sng">
            <a:solidFill>
              <a:srgbClr val="D6D6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7" name="Google Shape;17;p1"/>
          <p:cNvSpPr/>
          <p:nvPr/>
        </p:nvSpPr>
        <p:spPr>
          <a:xfrm>
            <a:off x="4153434" y="3231882"/>
            <a:ext cx="50800" cy="50800"/>
          </a:xfrm>
          <a:custGeom>
            <a:avLst/>
            <a:gdLst/>
            <a:ahLst/>
            <a:cxnLst/>
            <a:rect l="l" t="t" r="r" b="b"/>
            <a:pathLst>
              <a:path w="50800" h="50800" extrusionOk="0">
                <a:moveTo>
                  <a:pt x="0" y="0"/>
                </a:moveTo>
                <a:lnTo>
                  <a:pt x="38100" y="0"/>
                </a:lnTo>
              </a:path>
              <a:path w="50800" h="50800" extrusionOk="0">
                <a:moveTo>
                  <a:pt x="12700" y="12700"/>
                </a:moveTo>
                <a:lnTo>
                  <a:pt x="50800" y="12700"/>
                </a:lnTo>
              </a:path>
              <a:path w="50800" h="50800" extrusionOk="0">
                <a:moveTo>
                  <a:pt x="12700" y="25400"/>
                </a:moveTo>
                <a:lnTo>
                  <a:pt x="50800" y="25400"/>
                </a:lnTo>
              </a:path>
              <a:path w="50800" h="50800" extrusionOk="0">
                <a:moveTo>
                  <a:pt x="0" y="38100"/>
                </a:moveTo>
                <a:lnTo>
                  <a:pt x="38100" y="38100"/>
                </a:lnTo>
              </a:path>
              <a:path w="50800" h="50800" extrusionOk="0">
                <a:moveTo>
                  <a:pt x="12700" y="50800"/>
                </a:moveTo>
                <a:lnTo>
                  <a:pt x="50800" y="50800"/>
                </a:lnTo>
              </a:path>
            </a:pathLst>
          </a:custGeom>
          <a:noFill/>
          <a:ln w="9525" cap="flat" cmpd="sng">
            <a:solidFill>
              <a:srgbClr val="ADADE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8" name="Google Shape;18;p1"/>
          <p:cNvSpPr/>
          <p:nvPr/>
        </p:nvSpPr>
        <p:spPr>
          <a:xfrm>
            <a:off x="4451033" y="3262363"/>
            <a:ext cx="20320" cy="20320"/>
          </a:xfrm>
          <a:custGeom>
            <a:avLst/>
            <a:gdLst/>
            <a:ahLst/>
            <a:cxnLst/>
            <a:rect l="l" t="t" r="r" b="b"/>
            <a:pathLst>
              <a:path w="20320" h="20320" extrusionOk="0">
                <a:moveTo>
                  <a:pt x="0" y="0"/>
                </a:moveTo>
                <a:lnTo>
                  <a:pt x="20320" y="20320"/>
                </a:lnTo>
              </a:path>
            </a:pathLst>
          </a:custGeom>
          <a:noFill/>
          <a:ln w="9525" cap="flat" cmpd="sng">
            <a:solidFill>
              <a:srgbClr val="ADADE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9" name="Google Shape;19;p1"/>
          <p:cNvSpPr/>
          <p:nvPr/>
        </p:nvSpPr>
        <p:spPr>
          <a:xfrm>
            <a:off x="4423969" y="3235868"/>
            <a:ext cx="30480" cy="30480"/>
          </a:xfrm>
          <a:custGeom>
            <a:avLst/>
            <a:gdLst/>
            <a:ahLst/>
            <a:cxnLst/>
            <a:rect l="l" t="t" r="r" b="b"/>
            <a:pathLst>
              <a:path w="30479" h="30479" extrusionOk="0">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noFill/>
          <a:ln w="9525" cap="flat" cmpd="sng">
            <a:solidFill>
              <a:srgbClr val="ADADE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 name="Google Shape;20;p1"/>
          <p:cNvSpPr/>
          <p:nvPr/>
        </p:nvSpPr>
        <p:spPr>
          <a:xfrm>
            <a:off x="4329112" y="3231882"/>
            <a:ext cx="233679" cy="50800"/>
          </a:xfrm>
          <a:custGeom>
            <a:avLst/>
            <a:gdLst/>
            <a:ahLst/>
            <a:cxnLst/>
            <a:rect l="l" t="t" r="r" b="b"/>
            <a:pathLst>
              <a:path w="233679" h="50800" extrusionOk="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extrusionOk="0">
                <a:moveTo>
                  <a:pt x="30480" y="17780"/>
                </a:moveTo>
                <a:lnTo>
                  <a:pt x="15240" y="30480"/>
                </a:lnTo>
                <a:lnTo>
                  <a:pt x="0" y="17780"/>
                </a:lnTo>
              </a:path>
              <a:path w="233679" h="50800" extrusionOk="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extrusionOk="0">
                <a:moveTo>
                  <a:pt x="233682" y="17780"/>
                </a:moveTo>
                <a:lnTo>
                  <a:pt x="218442" y="30480"/>
                </a:lnTo>
                <a:lnTo>
                  <a:pt x="203202" y="17780"/>
                </a:lnTo>
              </a:path>
            </a:pathLst>
          </a:custGeom>
          <a:noFill/>
          <a:ln w="9525" cap="flat" cmpd="sng">
            <a:solidFill>
              <a:srgbClr val="ADADE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1" name="Google Shape;21;p1"/>
          <p:cNvSpPr txBox="1">
            <a:spLocks noGrp="1"/>
          </p:cNvSpPr>
          <p:nvPr>
            <p:ph type="title"/>
          </p:nvPr>
        </p:nvSpPr>
        <p:spPr>
          <a:xfrm>
            <a:off x="95300" y="45565"/>
            <a:ext cx="1210945" cy="2444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4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1"/>
          <p:cNvSpPr txBox="1">
            <a:spLocks noGrp="1"/>
          </p:cNvSpPr>
          <p:nvPr>
            <p:ph type="body" idx="1"/>
          </p:nvPr>
        </p:nvSpPr>
        <p:spPr>
          <a:xfrm>
            <a:off x="402932" y="654391"/>
            <a:ext cx="4079240" cy="223647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23" name="Google Shape;23;p1"/>
          <p:cNvSpPr txBox="1">
            <a:spLocks noGrp="1"/>
          </p:cNvSpPr>
          <p:nvPr>
            <p:ph type="ftr" idx="11"/>
          </p:nvPr>
        </p:nvSpPr>
        <p:spPr>
          <a:xfrm>
            <a:off x="421944" y="3331252"/>
            <a:ext cx="692150"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 name="Google Shape;24;p1"/>
          <p:cNvSpPr txBox="1">
            <a:spLocks noGrp="1"/>
          </p:cNvSpPr>
          <p:nvPr>
            <p:ph type="dt" idx="10"/>
          </p:nvPr>
        </p:nvSpPr>
        <p:spPr>
          <a:xfrm>
            <a:off x="3432695" y="3331252"/>
            <a:ext cx="599439" cy="1193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1"/>
          <p:cNvSpPr txBox="1">
            <a:spLocks noGrp="1"/>
          </p:cNvSpPr>
          <p:nvPr>
            <p:ph type="sldNum" idx="12"/>
          </p:nvPr>
        </p:nvSpPr>
        <p:spPr>
          <a:xfrm>
            <a:off x="4275161" y="3331252"/>
            <a:ext cx="266700" cy="11937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600" b="0" i="0">
                <a:solidFill>
                  <a:schemeClr val="lt1"/>
                </a:solidFill>
                <a:latin typeface="Arial"/>
                <a:ea typeface="Arial"/>
                <a:cs typeface="Arial"/>
                <a:sym typeface="Arial"/>
              </a:defRPr>
            </a:lvl1pPr>
            <a:lvl2pPr marL="38100" lvl="1" indent="0">
              <a:lnSpc>
                <a:spcPct val="100000"/>
              </a:lnSpc>
              <a:spcBef>
                <a:spcPts val="0"/>
              </a:spcBef>
              <a:buNone/>
              <a:defRPr sz="600" b="0" i="0">
                <a:solidFill>
                  <a:schemeClr val="lt1"/>
                </a:solidFill>
                <a:latin typeface="Arial"/>
                <a:ea typeface="Arial"/>
                <a:cs typeface="Arial"/>
                <a:sym typeface="Arial"/>
              </a:defRPr>
            </a:lvl2pPr>
            <a:lvl3pPr marL="38100" lvl="2" indent="0">
              <a:lnSpc>
                <a:spcPct val="100000"/>
              </a:lnSpc>
              <a:spcBef>
                <a:spcPts val="0"/>
              </a:spcBef>
              <a:buNone/>
              <a:defRPr sz="600" b="0" i="0">
                <a:solidFill>
                  <a:schemeClr val="lt1"/>
                </a:solidFill>
                <a:latin typeface="Arial"/>
                <a:ea typeface="Arial"/>
                <a:cs typeface="Arial"/>
                <a:sym typeface="Arial"/>
              </a:defRPr>
            </a:lvl3pPr>
            <a:lvl4pPr marL="38100" lvl="3" indent="0">
              <a:lnSpc>
                <a:spcPct val="100000"/>
              </a:lnSpc>
              <a:spcBef>
                <a:spcPts val="0"/>
              </a:spcBef>
              <a:buNone/>
              <a:defRPr sz="600" b="0" i="0">
                <a:solidFill>
                  <a:schemeClr val="lt1"/>
                </a:solidFill>
                <a:latin typeface="Arial"/>
                <a:ea typeface="Arial"/>
                <a:cs typeface="Arial"/>
                <a:sym typeface="Arial"/>
              </a:defRPr>
            </a:lvl4pPr>
            <a:lvl5pPr marL="38100" lvl="4" indent="0">
              <a:lnSpc>
                <a:spcPct val="100000"/>
              </a:lnSpc>
              <a:spcBef>
                <a:spcPts val="0"/>
              </a:spcBef>
              <a:buNone/>
              <a:defRPr sz="600" b="0" i="0">
                <a:solidFill>
                  <a:schemeClr val="lt1"/>
                </a:solidFill>
                <a:latin typeface="Arial"/>
                <a:ea typeface="Arial"/>
                <a:cs typeface="Arial"/>
                <a:sym typeface="Arial"/>
              </a:defRPr>
            </a:lvl5pPr>
            <a:lvl6pPr marL="38100" lvl="5" indent="0">
              <a:lnSpc>
                <a:spcPct val="100000"/>
              </a:lnSpc>
              <a:spcBef>
                <a:spcPts val="0"/>
              </a:spcBef>
              <a:buNone/>
              <a:defRPr sz="600" b="0" i="0">
                <a:solidFill>
                  <a:schemeClr val="lt1"/>
                </a:solidFill>
                <a:latin typeface="Arial"/>
                <a:ea typeface="Arial"/>
                <a:cs typeface="Arial"/>
                <a:sym typeface="Arial"/>
              </a:defRPr>
            </a:lvl6pPr>
            <a:lvl7pPr marL="38100" lvl="6" indent="0">
              <a:lnSpc>
                <a:spcPct val="100000"/>
              </a:lnSpc>
              <a:spcBef>
                <a:spcPts val="0"/>
              </a:spcBef>
              <a:buNone/>
              <a:defRPr sz="600" b="0" i="0">
                <a:solidFill>
                  <a:schemeClr val="lt1"/>
                </a:solidFill>
                <a:latin typeface="Arial"/>
                <a:ea typeface="Arial"/>
                <a:cs typeface="Arial"/>
                <a:sym typeface="Arial"/>
              </a:defRPr>
            </a:lvl7pPr>
            <a:lvl8pPr marL="38100" lvl="7" indent="0">
              <a:lnSpc>
                <a:spcPct val="100000"/>
              </a:lnSpc>
              <a:spcBef>
                <a:spcPts val="0"/>
              </a:spcBef>
              <a:buNone/>
              <a:defRPr sz="600" b="0" i="0">
                <a:solidFill>
                  <a:schemeClr val="lt1"/>
                </a:solidFill>
                <a:latin typeface="Arial"/>
                <a:ea typeface="Arial"/>
                <a:cs typeface="Arial"/>
                <a:sym typeface="Arial"/>
              </a:defRPr>
            </a:lvl8pPr>
            <a:lvl9pPr marL="38100" lvl="8" indent="0">
              <a:lnSpc>
                <a:spcPct val="100000"/>
              </a:lnSpc>
              <a:spcBef>
                <a:spcPts val="0"/>
              </a:spcBef>
              <a:buNone/>
              <a:defRPr sz="600" b="0" i="0">
                <a:solidFill>
                  <a:schemeClr val="lt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r>
              <a:rPr lang="en-US"/>
              <a:t> / 15</a:t>
            </a:r>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grpSp>
        <p:nvGrpSpPr>
          <p:cNvPr id="58" name="Google Shape;58;p7"/>
          <p:cNvGrpSpPr/>
          <p:nvPr/>
        </p:nvGrpSpPr>
        <p:grpSpPr>
          <a:xfrm>
            <a:off x="62118" y="236842"/>
            <a:ext cx="4483736" cy="502047"/>
            <a:chOff x="87743" y="236842"/>
            <a:chExt cx="4483736" cy="502047"/>
          </a:xfrm>
        </p:grpSpPr>
        <p:sp>
          <p:nvSpPr>
            <p:cNvPr id="59" name="Google Shape;59;p7"/>
            <p:cNvSpPr/>
            <p:nvPr/>
          </p:nvSpPr>
          <p:spPr>
            <a:xfrm>
              <a:off x="87743" y="236842"/>
              <a:ext cx="4432935" cy="82550"/>
            </a:xfrm>
            <a:custGeom>
              <a:avLst/>
              <a:gdLst/>
              <a:ahLst/>
              <a:cxnLst/>
              <a:rect l="l" t="t" r="r" b="b"/>
              <a:pathLst>
                <a:path w="4432935" h="82550" extrusionOk="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0" name="Google Shape;60;p7"/>
            <p:cNvSpPr/>
            <p:nvPr/>
          </p:nvSpPr>
          <p:spPr>
            <a:xfrm>
              <a:off x="138544" y="300105"/>
              <a:ext cx="4432935" cy="438784"/>
            </a:xfrm>
            <a:custGeom>
              <a:avLst/>
              <a:gdLst/>
              <a:ahLst/>
              <a:cxnLst/>
              <a:rect l="l" t="t" r="r" b="b"/>
              <a:pathLst>
                <a:path w="4432935" h="438784" extrusionOk="0">
                  <a:moveTo>
                    <a:pt x="4432566" y="0"/>
                  </a:moveTo>
                  <a:lnTo>
                    <a:pt x="0" y="0"/>
                  </a:lnTo>
                  <a:lnTo>
                    <a:pt x="0" y="438781"/>
                  </a:lnTo>
                  <a:lnTo>
                    <a:pt x="4432566" y="438781"/>
                  </a:lnTo>
                  <a:lnTo>
                    <a:pt x="443256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1" name="Google Shape;61;p7"/>
            <p:cNvSpPr/>
            <p:nvPr/>
          </p:nvSpPr>
          <p:spPr>
            <a:xfrm>
              <a:off x="87743" y="281269"/>
              <a:ext cx="4432935" cy="407034"/>
            </a:xfrm>
            <a:custGeom>
              <a:avLst/>
              <a:gdLst/>
              <a:ahLst/>
              <a:cxnLst/>
              <a:rect l="l" t="t" r="r" b="b"/>
              <a:pathLst>
                <a:path w="4432935" h="407034" extrusionOk="0">
                  <a:moveTo>
                    <a:pt x="4432566" y="0"/>
                  </a:moveTo>
                  <a:lnTo>
                    <a:pt x="0" y="0"/>
                  </a:lnTo>
                  <a:lnTo>
                    <a:pt x="0" y="356017"/>
                  </a:lnTo>
                  <a:lnTo>
                    <a:pt x="4008" y="375741"/>
                  </a:lnTo>
                  <a:lnTo>
                    <a:pt x="14922" y="391894"/>
                  </a:lnTo>
                  <a:lnTo>
                    <a:pt x="31075" y="402808"/>
                  </a:lnTo>
                  <a:lnTo>
                    <a:pt x="50800" y="406817"/>
                  </a:lnTo>
                  <a:lnTo>
                    <a:pt x="4381765" y="406817"/>
                  </a:lnTo>
                  <a:lnTo>
                    <a:pt x="4401490" y="402808"/>
                  </a:lnTo>
                  <a:lnTo>
                    <a:pt x="4417643" y="391894"/>
                  </a:lnTo>
                  <a:lnTo>
                    <a:pt x="4428558" y="375741"/>
                  </a:lnTo>
                  <a:lnTo>
                    <a:pt x="4432566" y="356017"/>
                  </a:lnTo>
                  <a:lnTo>
                    <a:pt x="443256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2" name="Google Shape;62;p7"/>
          <p:cNvSpPr txBox="1">
            <a:spLocks noGrp="1"/>
          </p:cNvSpPr>
          <p:nvPr>
            <p:ph type="title"/>
          </p:nvPr>
        </p:nvSpPr>
        <p:spPr>
          <a:xfrm>
            <a:off x="49664" y="-74873"/>
            <a:ext cx="4432800" cy="788529"/>
          </a:xfrm>
          <a:prstGeom prst="rect">
            <a:avLst/>
          </a:prstGeom>
          <a:noFill/>
          <a:ln>
            <a:noFill/>
          </a:ln>
        </p:spPr>
        <p:txBody>
          <a:bodyPr spcFirstLastPara="1" wrap="square" lIns="0" tIns="61575" rIns="0" bIns="0" anchor="t" anchorCtr="0">
            <a:spAutoFit/>
          </a:bodyPr>
          <a:lstStyle/>
          <a:p>
            <a:pPr marL="0" lvl="0" indent="0" algn="ctr" rtl="0">
              <a:lnSpc>
                <a:spcPct val="115000"/>
              </a:lnSpc>
              <a:spcBef>
                <a:spcPts val="1800"/>
              </a:spcBef>
              <a:spcAft>
                <a:spcPts val="0"/>
              </a:spcAft>
              <a:buSzPts val="1100"/>
              <a:buNone/>
            </a:pPr>
            <a:endParaRPr dirty="0"/>
            <a:r>
              <a:rPr lang="en-US" dirty="0" b="0">
                <a:latin typeface="Times New Roman" panose="02020603050405020304" pitchFamily="18" charset="0"/>
                <a:ea typeface="Roboto"/>
                <a:cs typeface="Times New Roman" panose="02020603050405020304" pitchFamily="18" charset="0"/>
                <a:sym typeface="Roboto"/>
              </a:rPr>
              <a:t>PERCH — A Personal AI Agent for the Desktop</a:t>
            </a:r>
          </a:p>
        </p:txBody>
      </p:sp>
      <p:pic>
        <p:nvPicPr>
          <p:cNvPr id="64" name="Google Shape;64;p7"/>
          <p:cNvPicPr preferRelativeResize="0"/>
          <p:nvPr/>
        </p:nvPicPr>
        <p:blipFill rotWithShape="1">
          <a:blip r:embed="rId3">
            <a:alphaModFix/>
          </a:blip>
          <a:srcRect/>
          <a:stretch/>
        </p:blipFill>
        <p:spPr>
          <a:xfrm>
            <a:off x="2012699" y="1730375"/>
            <a:ext cx="506730" cy="647700"/>
          </a:xfrm>
          <a:prstGeom prst="rect">
            <a:avLst/>
          </a:prstGeom>
          <a:noFill/>
          <a:ln>
            <a:noFill/>
          </a:ln>
        </p:spPr>
      </p:pic>
      <p:sp>
        <p:nvSpPr>
          <p:cNvPr id="65" name="Google Shape;65;p7"/>
          <p:cNvSpPr txBox="1"/>
          <p:nvPr/>
        </p:nvSpPr>
        <p:spPr>
          <a:xfrm>
            <a:off x="1448399" y="2515867"/>
            <a:ext cx="1770473" cy="694850"/>
          </a:xfrm>
          <a:prstGeom prst="rect">
            <a:avLst/>
          </a:prstGeom>
          <a:noFill/>
          <a:ln>
            <a:noFill/>
          </a:ln>
        </p:spPr>
        <p:txBody>
          <a:bodyPr spcFirstLastPara="1" wrap="square" lIns="0" tIns="17125" rIns="0" bIns="0" anchor="t" anchorCtr="0">
            <a:spAutoFit/>
          </a:bodyPr>
          <a:lstStyle/>
          <a:p>
            <a:pPr marL="12700" marR="5080" lvl="0">
              <a:lnSpc>
                <a:spcPct val="118750"/>
              </a:lnSpc>
            </a:pPr>
            <a:r>
              <a:rPr lang="en-US" sz="800" dirty="0">
                <a:latin typeface="Times New Roman" panose="02020603050405020304" pitchFamily="18" charset="0"/>
                <a:cs typeface="Times New Roman" panose="02020603050405020304" pitchFamily="18" charset="0"/>
              </a:rPr>
              <a:t>    Department of Computer Engineering</a:t>
            </a:r>
          </a:p>
          <a:p>
            <a:pPr marL="12700" marR="5080" lvl="0" indent="0" algn="ctr" rtl="0">
              <a:lnSpc>
                <a:spcPct val="118750"/>
              </a:lnSpc>
              <a:spcBef>
                <a:spcPts val="0"/>
              </a:spcBef>
              <a:spcAft>
                <a:spcPts val="0"/>
              </a:spcAft>
              <a:buNone/>
            </a:pPr>
            <a:r>
              <a:rPr lang="en-US" sz="900" dirty="0">
                <a:latin typeface="Times New Roman" panose="02020603050405020304" pitchFamily="18" charset="0"/>
                <a:cs typeface="Times New Roman" panose="02020603050405020304" pitchFamily="18" charset="0"/>
                <a:sym typeface="Arial"/>
              </a:rPr>
              <a:t>PES Modern College of Engineering </a:t>
            </a:r>
            <a:r>
              <a:rPr lang="en-US" sz="800" dirty="0">
                <a:latin typeface="Times New Roman" panose="02020603050405020304" pitchFamily="18" charset="0"/>
                <a:cs typeface="Times New Roman" panose="02020603050405020304" pitchFamily="18" charset="0"/>
                <a:sym typeface="Arial"/>
              </a:rPr>
              <a:t>Savitribai Phule Pune University</a:t>
            </a:r>
            <a:endParaRPr lang="en-US" sz="800" dirty="0">
              <a:latin typeface="Times New Roman" panose="02020603050405020304" pitchFamily="18" charset="0"/>
              <a:cs typeface="Times New Roman" panose="02020603050405020304" pitchFamily="18" charset="0"/>
            </a:endParaRPr>
          </a:p>
          <a:p>
            <a:pPr marL="12700" marR="5080" lvl="0" indent="0" algn="ctr" rtl="0">
              <a:lnSpc>
                <a:spcPct val="118750"/>
              </a:lnSpc>
              <a:spcBef>
                <a:spcPts val="0"/>
              </a:spcBef>
              <a:spcAft>
                <a:spcPts val="0"/>
              </a:spcAft>
              <a:buNone/>
            </a:pPr>
            <a:r>
              <a:rPr lang="en-US" sz="1200" dirty="0">
                <a:latin typeface="Times New Roman" panose="02020603050405020304" pitchFamily="18" charset="0"/>
                <a:cs typeface="Times New Roman" panose="02020603050405020304" pitchFamily="18" charset="0"/>
              </a:rPr>
              <a:t>August-2026</a:t>
            </a:r>
            <a:endParaRPr sz="1200" dirty="0">
              <a:latin typeface="Times New Roman" panose="02020603050405020304" pitchFamily="18" charset="0"/>
              <a:cs typeface="Times New Roman" panose="02020603050405020304" pitchFamily="18" charset="0"/>
              <a:sym typeface="Arial"/>
            </a:endParaRPr>
          </a:p>
        </p:txBody>
      </p:sp>
      <p:grpSp>
        <p:nvGrpSpPr>
          <p:cNvPr id="66" name="Google Shape;66;p7"/>
          <p:cNvGrpSpPr/>
          <p:nvPr/>
        </p:nvGrpSpPr>
        <p:grpSpPr>
          <a:xfrm>
            <a:off x="-11362" y="3330146"/>
            <a:ext cx="4608017" cy="129539"/>
            <a:chOff x="0" y="3326968"/>
            <a:chExt cx="4608017" cy="129539"/>
          </a:xfrm>
        </p:grpSpPr>
        <p:sp>
          <p:nvSpPr>
            <p:cNvPr id="67" name="Google Shape;67;p7"/>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8" name="Google Shape;68;p7"/>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9" name="Google Shape;69;p7"/>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70" name="Google Shape;70;p7"/>
          <p:cNvSpPr txBox="1">
            <a:spLocks noGrp="1"/>
          </p:cNvSpPr>
          <p:nvPr>
            <p:ph type="ftr" idx="11"/>
          </p:nvPr>
        </p:nvSpPr>
        <p:spPr>
          <a:xfrm>
            <a:off x="421944" y="3331252"/>
            <a:ext cx="692150"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dirty="0">
              <a:latin typeface="Times New Roman" panose="02020603050405020304" pitchFamily="18" charset="0"/>
              <a:cs typeface="Times New Roman" panose="02020603050405020304" pitchFamily="18" charset="0"/>
            </a:endParaRPr>
          </a:p>
        </p:txBody>
      </p:sp>
      <p:sp>
        <p:nvSpPr>
          <p:cNvPr id="72" name="Google Shape;72;p7"/>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
        <p:nvSpPr>
          <p:cNvPr id="73" name="Google Shape;73;p7"/>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8" name="object 7">
            <a:extLst>
              <a:ext uri="{FF2B5EF4-FFF2-40B4-BE49-F238E27FC236}">
                <a16:creationId xmlns:a16="http://schemas.microsoft.com/office/drawing/2014/main" id="{0B054412-D6C8-4EDB-AF30-1060FB441BC7}"/>
              </a:ext>
            </a:extLst>
          </p:cNvPr>
          <p:cNvSpPr txBox="1"/>
          <p:nvPr/>
        </p:nvSpPr>
        <p:spPr>
          <a:xfrm>
            <a:off x="-11362" y="834532"/>
            <a:ext cx="4608017" cy="423193"/>
          </a:xfrm>
          <a:prstGeom prst="rect">
            <a:avLst/>
          </a:prstGeom>
        </p:spPr>
        <p:txBody>
          <a:bodyPr vert="horz" wrap="square" lIns="0" tIns="12700" rIns="0" bIns="0" rtlCol="0">
            <a:spAutoFit/>
          </a:bodyPr>
          <a:lstStyle/>
          <a:p>
            <a:pPr algn="ctr">
              <a:lnSpc>
                <a:spcPct val="100000"/>
              </a:lnSpc>
              <a:spcBef>
                <a:spcPts val="100"/>
              </a:spcBef>
            </a:pPr>
            <a:endParaRPr sz="1050" dirty="0">
              <a:latin typeface="Times New Roman"/>
              <a:cs typeface="Times New Roman"/>
            </a:endParaRPr>
            <a:r>
              <a:rPr sz="1000" dirty="0" b="1">
                <a:latin typeface="Times New Roman"/>
                <a:cs typeface="Times New Roman"/>
              </a:rPr>
              <a:t>A Personal AI Agent That Lives Where Your Desktop Lives, Not Inside an Application</a:t>
            </a:r>
          </a:p>
          <a:p>
            <a:pPr algn="ctr">
              <a:lnSpc>
                <a:spcPct val="100000"/>
              </a:lnSpc>
              <a:spcBef>
                <a:spcPts val="840"/>
              </a:spcBef>
            </a:pPr>
            <a:endParaRPr sz="1000" dirty="0">
              <a:latin typeface="Times New Roman"/>
              <a:cs typeface="Times New Roman"/>
            </a:endParaRPr>
            <a:r>
              <a:rPr lang="en-US" sz="1000" dirty="0" b="0">
                <a:latin typeface="Times New Roman"/>
                <a:cs typeface="Times New Roman"/>
              </a:rPr>
              <a:t>A Final Year Project</a:t>
            </a:r>
          </a:p>
        </p:txBody>
      </p:sp>
      <p:sp>
        <p:nvSpPr>
          <p:cNvPr id="2" name="Google Shape;85;p8">
            <a:extLst>
              <a:ext uri="{FF2B5EF4-FFF2-40B4-BE49-F238E27FC236}">
                <a16:creationId xmlns:a16="http://schemas.microsoft.com/office/drawing/2014/main" id="{C5D2F868-375B-78B2-7347-A40CDC90B752}"/>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Tree>
  </p:cSld>
  <p:clrMapOvr>
    <a:masterClrMapping/>
  </p:clrMapOvr>
  <p:transition>
    <p:fade thruBlk="1"/>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Outline</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Introduction</a:t>
            </a:r>
            <a:r>
              <a:rPr lang="en-US" sz="1150" b="0" dirty="0">
                <a:latin typeface="Times New Roman" panose="02020603050405020304" pitchFamily="18" charset="0"/>
                <a:cs typeface="Times New Roman" panose="02020603050405020304" pitchFamily="18" charset="0"/>
              </a:rPr>
              <a:t> - Nobody Uses One AI Any More</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Problem Statement</a:t>
            </a:r>
            <a:r>
              <a:rPr lang="en-US" sz="1150" b="0" dirty="0">
                <a:latin typeface="Times New Roman" panose="02020603050405020304" pitchFamily="18" charset="0"/>
                <a:cs typeface="Times New Roman" panose="02020603050405020304" pitchFamily="18" charset="0"/>
              </a:rPr>
              <a:t> - Your Context Is Trapped Per-Vendor</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Evidence</a:t>
            </a:r>
            <a:r>
              <a:rPr lang="en-US" sz="1150" b="0" dirty="0">
                <a:latin typeface="Times New Roman" panose="02020603050405020304" pitchFamily="18" charset="0"/>
                <a:cs typeface="Times New Roman" panose="02020603050405020304" pitchFamily="18" charset="0"/>
              </a:rPr>
              <a:t> - A Measured Failure, and Two Expensive Precedents</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Scope, Objectives and Existing Work</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System Architecture</a:t>
            </a:r>
            <a:r>
              <a:rPr lang="en-US" sz="1150" b="0" dirty="0">
                <a:latin typeface="Times New Roman" panose="02020603050405020304" pitchFamily="18" charset="0"/>
                <a:cs typeface="Times New Roman" panose="02020603050405020304" pitchFamily="18" charset="0"/>
              </a:rPr>
              <a:t> - Four Layers, One Request Path</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Layer 1</a:t>
            </a:r>
            <a:r>
              <a:rPr lang="en-US" sz="1150" b="0" dirty="0">
                <a:latin typeface="Times New Roman" panose="02020603050405020304" pitchFamily="18" charset="0"/>
                <a:cs typeface="Times New Roman" panose="02020603050405020304" pitchFamily="18" charset="0"/>
              </a:rPr>
              <a:t> - The OS Surface, and What Already Runs</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Layer 3</a:t>
            </a:r>
            <a:r>
              <a:rPr lang="en-US" sz="1150" b="0" dirty="0">
                <a:latin typeface="Times New Roman" panose="02020603050405020304" pitchFamily="18" charset="0"/>
                <a:cs typeface="Times New Roman" panose="02020603050405020304" pitchFamily="18" charset="0"/>
              </a:rPr>
              <a:t> - Six Memory Classes, and Importing What Is Stranded</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Contribution 2</a:t>
            </a:r>
            <a:r>
              <a:rPr lang="en-US" sz="1150" b="0" dirty="0">
                <a:latin typeface="Times New Roman" panose="02020603050405020304" pitchFamily="18" charset="0"/>
                <a:cs typeface="Times New Roman" panose="02020603050405020304" pitchFamily="18" charset="0"/>
              </a:rPr>
              <a:t> - The Ranker and the Admission Scorer</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Contribution 1</a:t>
            </a:r>
            <a:r>
              <a:rPr lang="en-US" sz="1150" b="0" dirty="0">
                <a:latin typeface="Times New Roman" panose="02020603050405020304" pitchFamily="18" charset="0"/>
                <a:cs typeface="Times New Roman" panose="02020603050405020304" pitchFamily="18" charset="0"/>
              </a:rPr>
              <a:t> - Budget Assembly Across Heterogeneous Models</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Private Mode, Tools and Execution</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Technologies, Benchmarks and Evaluation Plan</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Base Paper, The Gap, Expected Results</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Conclusion and References</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Introduction - Nobody Uses One AI Any More</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3</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The situation:</a:t>
            </a:r>
            <a:r>
              <a:rPr lang="en-US" sz="1150" b="0" dirty="0">
                <a:latin typeface="Times New Roman" panose="02020603050405020304" pitchFamily="18" charset="0"/>
                <a:cs typeface="Times New Roman" panose="02020603050405020304" pitchFamily="18" charset="0"/>
              </a:rPr>
              <a:t> a typical user runs ChatGPT for general questions, Claude Code or Copilot for programming, Perplexity for research, and Gemini inside Docs.</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The consequence:</a:t>
            </a:r>
            <a:r>
              <a:rPr lang="en-US" sz="1150" b="0" dirty="0">
                <a:latin typeface="Times New Roman" panose="02020603050405020304" pitchFamily="18" charset="0"/>
                <a:cs typeface="Times New Roman" panose="02020603050405020304" pitchFamily="18" charset="0"/>
              </a:rPr>
              <a:t> each one holds a separate, private memory of you. None of them can see the others. Your context is fragmented across the vendors you pay.</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It is expensive:</a:t>
            </a:r>
            <a:r>
              <a:rPr lang="en-US" sz="1150" b="0" dirty="0">
                <a:latin typeface="Times New Roman" panose="02020603050405020304" pitchFamily="18" charset="0"/>
                <a:cs typeface="Times New Roman" panose="02020603050405020304" pitchFamily="18" charset="0"/>
              </a:rPr>
              <a:t> $70-110 a month across four subscriptions, and 15-30 minutes of context lost on every platform switch.</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It is not settling down:</a:t>
            </a:r>
            <a:r>
              <a:rPr lang="en-US" sz="1150" b="0" dirty="0">
                <a:latin typeface="Times New Roman" panose="02020603050405020304" pitchFamily="18" charset="0"/>
                <a:cs typeface="Times New Roman" panose="02020603050405020304" pitchFamily="18" charset="0"/>
              </a:rPr>
              <a:t> ChatGPT's assistant market share fell from ~60% in early 2025 to under 45% by Q1 2026. People move constantly, and the context does not move with them.</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What users now optimise for:</a:t>
            </a:r>
            <a:r>
              <a:rPr lang="en-US" sz="1150" b="0" dirty="0">
                <a:latin typeface="Times New Roman" panose="02020603050405020304" pitchFamily="18" charset="0"/>
                <a:cs typeface="Times New Roman" panose="02020603050405020304" pitchFamily="18" charset="0"/>
              </a:rPr>
              <a:t> the 2026 switching analysis found users prioritising governance and data portability over interface quality. Ownership is the deciding factor.</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Introduction - The Concrete Version</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4</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A real workflow, not a hypothetical.</a:t>
            </a:r>
            <a:r>
              <a:rPr lang="en-US" sz="1150" b="0" dirty="0">
                <a:latin typeface="Times New Roman" panose="02020603050405020304" pitchFamily="18" charset="0"/>
                <a:cs typeface="Times New Roman" panose="02020603050405020304" pitchFamily="18" charset="0"/>
              </a:rPr>
              <a:t> Your college details, background and career context live in ChatGPT. Everything about your final-year project - the stack, the bugs, the design decisions, the timeline - lives in Claude Code, spread across dozens of sessions.</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Neither can see the other.</a:t>
            </a:r>
            <a:r>
              <a:rPr lang="en-US" sz="1150" b="0" dirty="0">
                <a:latin typeface="Times New Roman" panose="02020603050405020304" pitchFamily="18" charset="0"/>
                <a:cs typeface="Times New Roman" panose="02020603050405020304" pitchFamily="18" charset="0"/>
              </a:rPr>
              <a:t> So when you need a 200-word project summary for an application form, neither one can write it. ChatGPT does not know the project. Claude Code does not know the form, and its knowledge is scattered across sessions it will not surface.</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You do the merge manually, in your head, every single time.</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The knowledge already existed.</a:t>
            </a:r>
            <a:r>
              <a:rPr lang="en-US" sz="1150" b="0" dirty="0">
                <a:latin typeface="Times New Roman" panose="02020603050405020304" pitchFamily="18" charset="0"/>
                <a:cs typeface="Times New Roman" panose="02020603050405020304" pitchFamily="18" charset="0"/>
              </a:rPr>
              <a:t> It was locked inside a session, in a product that will never share it. That is what PERCH exists to remove.</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Problem Statement</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5</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In one sentence:</a:t>
            </a:r>
            <a:r>
              <a:rPr lang="en-US" sz="1050" b="0" dirty="0">
                <a:latin typeface="Times New Roman" panose="02020603050405020304" pitchFamily="18" charset="0"/>
                <a:cs typeface="Times New Roman" panose="02020603050405020304" pitchFamily="18" charset="0"/>
              </a:rPr>
              <a:t> every assistant's memory of you is owned by the vendor of that assistant, so personal context cannot follow you across the tools you actually use.</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This is measured, not asserted.</a:t>
            </a:r>
            <a:r>
              <a:rPr lang="en-US" sz="1050" b="0" dirty="0">
                <a:latin typeface="Times New Roman" panose="02020603050405020304" pitchFamily="18" charset="0"/>
                <a:cs typeface="Times New Roman" panose="02020603050405020304" pitchFamily="18" charset="0"/>
              </a:rPr>
              <a:t> PAUSE (ACM SIGKDD 2026) found state-of-the-art proprietary models fail to reach 70% task completion on scenarios requiring stateful reasoning and configuration awareness.</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Read that carefully:</a:t>
            </a:r>
            <a:r>
              <a:rPr lang="en-US" sz="1050" b="0" dirty="0">
                <a:latin typeface="Times New Roman" panose="02020603050405020304" pitchFamily="18" charset="0"/>
                <a:cs typeface="Times New Roman" panose="02020603050405020304" pitchFamily="18" charset="0"/>
              </a:rPr>
              <a:t> the failure is not the model's reasoning. It is the state around the model - persistent knowledge of who the user is and what they are working on.</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The second half is location.</a:t>
            </a:r>
            <a:r>
              <a:rPr lang="en-US" sz="1050" b="0" dirty="0">
                <a:latin typeface="Times New Roman" panose="02020603050405020304" pitchFamily="18" charset="0"/>
                <a:cs typeface="Times New Roman" panose="02020603050405020304" pitchFamily="18" charset="0"/>
              </a:rPr>
              <a:t> Every assistant is a destination. You leave your document, your IDE or your PDF, go to a window, paste, read, and carry the answer back.</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So the problem is two-part:</a:t>
            </a:r>
            <a:r>
              <a:rPr lang="en-US" sz="1050" b="0" dirty="0">
                <a:latin typeface="Times New Roman" panose="02020603050405020304" pitchFamily="18" charset="0"/>
                <a:cs typeface="Times New Roman" panose="02020603050405020304" pitchFamily="18" charset="0"/>
              </a:rPr>
              <a:t> personal context is trapped per-vendor, and the assistant that would use it is trapped inside an application.</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Proof This Is Real - Measured, Not Asserted</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6</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ACM measurement.</a:t>
            </a:r>
            <a:r>
              <a:rPr lang="en-US" sz="950" b="0" dirty="0">
                <a:latin typeface="Times New Roman" panose="02020603050405020304" pitchFamily="18" charset="0"/>
                <a:cs typeface="Times New Roman" panose="02020603050405020304" pitchFamily="18" charset="0"/>
              </a:rPr>
              <a:t> PAUSE, KDD 2026: frontier models below 70% task completion when the task requires reasoning over persistent user state.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An established research category.</a:t>
            </a:r>
            <a:r>
              <a:rPr lang="en-US" sz="950" b="0" dirty="0">
                <a:latin typeface="Times New Roman" panose="02020603050405020304" pitchFamily="18" charset="0"/>
                <a:cs typeface="Times New Roman" panose="02020603050405020304" pitchFamily="18" charset="0"/>
              </a:rPr>
              <a:t> The Tsinghua AIR survey defines agents deeply integrated with personal data and devices, naming context sensing and memorization as fundamental unsolved capabilities. We flag it ourselves as a preprint - it carries vocabulary here, not authority.</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An IEEE forecast, for scale.</a:t>
            </a:r>
            <a:r>
              <a:rPr lang="en-US" sz="950" b="0" dirty="0">
                <a:latin typeface="Times New Roman" panose="02020603050405020304" pitchFamily="18" charset="0"/>
                <a:cs typeface="Times New Roman" panose="02020603050405020304" pitchFamily="18" charset="0"/>
              </a:rPr>
              <a:t> The IEEE Global Study of 400 technology leaders puts personal assistant and calendar management as the top expected mass-adoption use of agentic AI in 2026, at 52%.</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And a warning we take seriously.</a:t>
            </a:r>
            <a:r>
              <a:rPr lang="en-US" sz="950" b="0" dirty="0">
                <a:latin typeface="Times New Roman" panose="02020603050405020304" pitchFamily="18" charset="0"/>
                <a:cs typeface="Times New Roman" panose="02020603050405020304" pitchFamily="18" charset="0"/>
              </a:rPr>
              <a:t> OP-Bench (2026) measures over-personalisation and finds memory-augmented assistants score 26.2% to 61.1% WORSE than memory-free baselines. Naive memory injection makes an assistant worse than having no memory at all.</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Market behaviour.</a:t>
            </a:r>
            <a:r>
              <a:rPr lang="en-US" sz="950" b="0" dirty="0">
                <a:latin typeface="Times New Roman" panose="02020603050405020304" pitchFamily="18" charset="0"/>
                <a:cs typeface="Times New Roman" panose="02020603050405020304" pitchFamily="18" charset="0"/>
              </a:rPr>
              <a:t> $70-110/month across four assistants; 15-30 minutes lost per switch; market share moving 15 points in a year.</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Capability that did not exist in 2024.</a:t>
            </a:r>
            <a:r>
              <a:rPr lang="en-US" sz="950" b="0" dirty="0">
                <a:latin typeface="Times New Roman" panose="02020603050405020304" pitchFamily="18" charset="0"/>
                <a:cs typeface="Times New Roman" panose="02020603050405020304" pitchFamily="18" charset="0"/>
              </a:rPr>
              <a:t> Qwen3 4B runs in ~3 GB and Qwen3 8B in ~5-6 GB quantised, so a genuinely useful local model now fits on an ordinary student laptop.</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Can We Use the Subscriptions You Already Pay For?</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7</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The ideal design is impossible.</a:t>
            </a:r>
            <a:r>
              <a:rPr lang="en-US" sz="950" b="0" dirty="0">
                <a:latin typeface="Times New Roman" panose="02020603050405020304" pitchFamily="18" charset="0"/>
                <a:cs typeface="Times New Roman" panose="02020603050405020304" pitchFamily="18" charset="0"/>
              </a:rPr>
              <a:t> There is no cross-vendor memory API and there will not be one. Memory is the switching cost, so a vendor exposing it would be funding its own churn. There is no standard, and no company exports health or employment content to a third party.</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Routing our model calls through your ChatGPT Plus or Claude Pro subscription: NO.</a:t>
            </a:r>
            <a:r>
              <a:rPr lang="en-US" sz="950" b="0" dirty="0">
                <a:latin typeface="Times New Roman" panose="02020603050405020304" pitchFamily="18" charset="0"/>
                <a:cs typeface="Times New Roman" panose="02020603050405020304" pitchFamily="18" charset="0"/>
              </a:rPr>
              <a:t> Subscriptions cover the vendor's own client. API access is separately billed with a separate key. There is no supported path, and unsupported ones violate the terms.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Pulling your conversation history out of them: YES, officially, on every major platform.</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ChatGPT</a:t>
            </a:r>
            <a:r>
              <a:rPr lang="en-US" sz="950" b="0" dirty="0">
                <a:latin typeface="Times New Roman" panose="02020603050405020304" pitchFamily="18" charset="0"/>
                <a:cs typeface="Times New Roman" panose="02020603050405020304" pitchFamily="18" charset="0"/>
              </a:rPr>
              <a:t> - Settings, Data Controls, Export data. Emails a ZIP containing conversations.json.</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Claude</a:t>
            </a:r>
            <a:r>
              <a:rPr lang="en-US" sz="950" b="0" dirty="0">
                <a:latin typeface="Times New Roman" panose="02020603050405020304" pitchFamily="18" charset="0"/>
                <a:cs typeface="Times New Roman" panose="02020603050405020304" pitchFamily="18" charset="0"/>
              </a:rPr>
              <a:t> - Settings, Privacy, request data export. Emails a JSON archive.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Gemini</a:t>
            </a:r>
            <a:r>
              <a:rPr lang="en-US" sz="950" b="0" dirty="0">
                <a:latin typeface="Times New Roman" panose="02020603050405020304" pitchFamily="18" charset="0"/>
                <a:cs typeface="Times New Roman" panose="02020603050405020304" pitchFamily="18" charset="0"/>
              </a:rPr>
              <a:t> - Google Takeout, select Gemini only. Emails JSON within hours.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That export button is the bridge.</a:t>
            </a:r>
            <a:r>
              <a:rPr lang="en-US" sz="950" b="0" dirty="0">
                <a:latin typeface="Times New Roman" panose="02020603050405020304" pitchFamily="18" charset="0"/>
                <a:cs typeface="Times New Roman" panose="02020603050405020304" pitchFamily="18" charset="0"/>
              </a:rPr>
              <a:t> It is a feature of the subscription you already pay for, it is required by regulators, and it is the only ToS-legitimate way to move a vendor's memory of you into something you own. PERCH parses those archives locally.</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Why This Position Is Open - and the Microsoft Objection</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8</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A neutral context layer is against every model vendor's business model.</a:t>
            </a:r>
            <a:r>
              <a:rPr lang="en-US" sz="1000" b="0" dirty="0">
                <a:latin typeface="Times New Roman" panose="02020603050405020304" pitchFamily="18" charset="0"/>
                <a:cs typeface="Times New Roman" panose="02020603050405020304" pitchFamily="18" charset="0"/>
              </a:rPr>
              <a:t> OpenAI wants you in ChatGPT, Google in Gemini, Microsoft in Copilot, Apple on a Mac.</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real objection, stated first and honestly.</a:t>
            </a:r>
            <a:r>
              <a:rPr lang="en-US" sz="1000" b="0" dirty="0">
                <a:latin typeface="Times New Roman" panose="02020603050405020304" pitchFamily="18" charset="0"/>
                <a:cs typeface="Times New Roman" panose="02020603050405020304" pitchFamily="18" charset="0"/>
              </a:rPr>
              <a:t> At Build 2026 Microsoft announced the Windows AI Platform: a Copilot Runtime, an AI Orchestrator, and a Windows Semantic Index - a personal semantic index enabling persistent agent memory and context. That is our Layer 3, being built into the operating system.</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Four verifiable answers.</a:t>
            </a:r>
            <a:r>
              <a:rPr lang="en-US" sz="1000" b="0" dirty="0">
                <a:latin typeface="Times New Roman" panose="02020603050405020304" pitchFamily="18" charset="0"/>
                <a:cs typeface="Times New Roman" panose="02020603050405020304" pitchFamily="18" charset="0"/>
              </a:rPr>
              <a:t> It is unshipped - Copilot Runtime targets Windows 11 26H2. It is edition-gated - initial rollout targets 24H2 Enterprise and Pro with VBS and SLAT, not Home. It documents no third-party access, so you cannot point your own model at it. And Microsoft killed Copilot features and merged the Copilot apps in August 2026.</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So: Microsoft validates the architecture and closes it.</a:t>
            </a:r>
            <a:r>
              <a:rPr lang="en-US" sz="1000" b="0" dirty="0">
                <a:latin typeface="Times New Roman" panose="02020603050405020304" pitchFamily="18" charset="0"/>
                <a:cs typeface="Times New Roman" panose="02020603050405020304" pitchFamily="18" charset="0"/>
              </a:rPr>
              <a:t> We run on Home edition, today, on any model including one that never leaves the machine.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other near-competitor left.</a:t>
            </a:r>
            <a:r>
              <a:rPr lang="en-US" sz="1000" b="0" dirty="0">
                <a:latin typeface="Times New Roman" panose="02020603050405020304" pitchFamily="18" charset="0"/>
                <a:cs typeface="Times New Roman" panose="02020603050405020304" pitchFamily="18" charset="0"/>
              </a:rPr>
              <a:t> Highlight AI raised $40M Series A in March 2026 and repositioned as a shared intelligence layer for teams and enterprise.</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What the Expensive Failures Taught Us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9</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Humane AI Pin:</a:t>
            </a:r>
            <a:r>
              <a:rPr lang="en-US" sz="1150" b="0" dirty="0">
                <a:latin typeface="Times New Roman" panose="02020603050405020304" pitchFamily="18" charset="0"/>
                <a:cs typeface="Times New Roman" panose="02020603050405020304" pitchFamily="18" charset="0"/>
              </a:rPr>
              <a:t> raised $230M, shipped fewer than 10,000 units, sold to HP for $116M.</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Rabbit R1:</a:t>
            </a:r>
            <a:r>
              <a:rPr lang="en-US" sz="1150" b="0" dirty="0">
                <a:latin typeface="Times New Roman" panose="02020603050405020304" pitchFamily="18" charset="0"/>
                <a:cs typeface="Times New Roman" panose="02020603050405020304" pitchFamily="18" charset="0"/>
              </a:rPr>
              <a:t> sold 100,000 units, then took mass returns.</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Rewind AI:</a:t>
            </a:r>
            <a:r>
              <a:rPr lang="en-US" sz="1150" b="0" dirty="0">
                <a:latin typeface="Times New Roman" panose="02020603050405020304" pitchFamily="18" charset="0"/>
                <a:cs typeface="Times New Roman" panose="02020603050405020304" pitchFamily="18" charset="0"/>
              </a:rPr>
              <a:t> acquired by Meta as Limitless; the Mac app shut down 19 December 2025.</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Microsoft Recall:</a:t>
            </a:r>
            <a:r>
              <a:rPr lang="en-US" sz="1150" b="0" dirty="0">
                <a:latin typeface="Times New Roman" panose="02020603050405020304" pitchFamily="18" charset="0"/>
                <a:cs typeface="Times New Roman" panose="02020603050405020304" pitchFamily="18" charset="0"/>
              </a:rPr>
              <a:t> audits found an admin-rights attacker could exfiltrate the database.</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The published lesson, verbatim:</a:t>
            </a:r>
            <a:r>
              <a:rPr lang="en-US" sz="1150" b="0" dirty="0">
                <a:latin typeface="Times New Roman" panose="02020603050405020304" pitchFamily="18" charset="0"/>
                <a:cs typeface="Times New Roman" panose="02020603050405020304" pitchFamily="18" charset="0"/>
              </a:rPr>
              <a:t> "AI doesn't need a new gadget - it needs to improve the tools you already use."</a:t>
            </a:r>
          </a:p>
          <a:p>
            <a:pPr marL="171450" lvl="1" indent="-171450" algn="l">
              <a:buFont typeface="Arial" panose="020B0604020202020204" pitchFamily="34" charset="0"/>
              <a:buChar char="•"/>
            </a:pPr>
            <a:r>
              <a:rPr lang="en-US" sz="1150" b="1" dirty="0">
                <a:latin typeface="Times New Roman" panose="02020603050405020304" pitchFamily="18" charset="0"/>
                <a:cs typeface="Times New Roman" panose="02020603050405020304" pitchFamily="18" charset="0"/>
              </a:rPr>
              <a:t>Every stated cause maps to a design decision.</a:t>
            </a:r>
            <a:r>
              <a:rPr lang="en-US" sz="1150" b="0" dirty="0">
                <a:latin typeface="Times New Roman" panose="02020603050405020304" pitchFamily="18" charset="0"/>
                <a:cs typeface="Times New Roman" panose="02020603050405020304" pitchFamily="18" charset="0"/>
              </a:rPr>
              <a:t> No hardware. One primitive, not four. No destination - it appears where you are. Summoned only, never always-on capture. Opt-in by definition, because it is a shortcut you press.</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Scope &amp; Objectives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10</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Scope:</a:t>
            </a:r>
            <a:r>
              <a:rPr lang="en-US" sz="1000" b="0" dirty="0">
                <a:latin typeface="Times New Roman" panose="02020603050405020304" pitchFamily="18" charset="0"/>
                <a:cs typeface="Times New Roman" panose="02020603050405020304" pitchFamily="18" charset="0"/>
              </a:rPr>
              <a:t> a desktop-resident personal AI agent for Windows. Dormant in the background, summoned by a selection, screenshot or shortcut in any application, answering in a slim panel beside your work and writing back into the document you were in.</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O1 - Surface.</a:t>
            </a:r>
            <a:r>
              <a:rPr lang="en-US" sz="1000" b="0" dirty="0">
                <a:latin typeface="Times New Roman" panose="02020603050405020304" pitchFamily="18" charset="0"/>
                <a:cs typeface="Times New Roman" panose="02020603050405020304" pitchFamily="18" charset="0"/>
              </a:rPr>
              <a:t> Three triggers, panel placement beside the host window without stealing focus, and edit-in-place with no per-application plugin.</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O2 - Context assembly.</a:t>
            </a:r>
            <a:r>
              <a:rPr lang="en-US" sz="1000" b="0" dirty="0">
                <a:latin typeface="Times New Roman" panose="02020603050405020304" pitchFamily="18" charset="0"/>
                <a:cs typeface="Times New Roman" panose="02020603050405020304" pitchFamily="18" charset="0"/>
              </a:rPr>
              <a:t> Decide what enters the prompt under a hard ceiling set by whichever model is selected, from a 4B local model to a frontier API.</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O3 - Memory.</a:t>
            </a:r>
            <a:r>
              <a:rPr lang="en-US" sz="1000" b="0" dirty="0">
                <a:latin typeface="Times New Roman" panose="02020603050405020304" pitchFamily="18" charset="0"/>
                <a:cs typeface="Times New Roman" panose="02020603050405020304" pitchFamily="18" charset="0"/>
              </a:rPr>
              <a:t> Six typed classes, user-authored and importable, stored as files the user can open, edit, export or delete - with an admission gate that refuses to inject weak matches.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O4 - Execution.</a:t>
            </a:r>
            <a:r>
              <a:rPr lang="en-US" sz="1000" b="0" dirty="0">
                <a:latin typeface="Times New Roman" panose="02020603050405020304" pitchFamily="18" charset="0"/>
                <a:cs typeface="Times New Roman" panose="02020603050405020304" pitchFamily="18" charset="0"/>
              </a:rPr>
              <a:t> Model-agnostic routing, a full agent tool surface, and a private mode that provably sends nothing.</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Out of scope, and named as such:</a:t>
            </a:r>
            <a:r>
              <a:rPr lang="en-US" sz="1000" b="0" dirty="0">
                <a:latin typeface="Times New Roman" panose="02020603050405020304" pitchFamily="18" charset="0"/>
                <a:cs typeface="Times New Roman" panose="02020603050405020304" pitchFamily="18" charset="0"/>
              </a:rPr>
              <a:t> adaptive automatic model routing, multi-device sync, shell execution and app automation are all v2.</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Existing Work - Our Real Competition</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11</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Highlight AI</a:t>
            </a:r>
            <a:r>
              <a:rPr lang="en-US" sz="1050" b="0" dirty="0">
                <a:latin typeface="Times New Roman" panose="02020603050405020304" pitchFamily="18" charset="0"/>
                <a:cs typeface="Times New Roman" panose="02020603050405020304" pitchFamily="18" charset="0"/>
              </a:rPr>
              <a:t> - $50M, 500,000+ users, Mac and Windows, selection-triggered and screen-aware. Cloud-dependent, rate-limited, no model choice, closed source, repositioned to teams in March 2026.</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Microsoft Windows AI Platform</a:t>
            </a:r>
            <a:r>
              <a:rPr lang="en-US" sz="1050" b="0" dirty="0">
                <a:latin typeface="Times New Roman" panose="02020603050405020304" pitchFamily="18" charset="0"/>
                <a:cs typeface="Times New Roman" panose="02020603050405020304" pitchFamily="18" charset="0"/>
              </a:rPr>
              <a:t> - the same architecture from the OS vendor, but unshipped, Enterprise/Pro-gated, closed to third parties, and locked to their models.</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Raycast AI, Apple Intelligence, Dottie, BoltAI</a:t>
            </a:r>
            <a:r>
              <a:rPr lang="en-US" sz="1050" b="0" dirty="0">
                <a:latin typeface="Times New Roman" panose="02020603050405020304" pitchFamily="18" charset="0"/>
                <a:cs typeface="Times New Roman" panose="02020603050405020304" pitchFamily="18" charset="0"/>
              </a:rPr>
              <a:t> - the entire "best AI assistant" review category is a Mac category. None of these run on Windows.</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Jan.ai (5.3M downloads), AnythingLLM, Khoj, PyGPT, Chatbox</a:t>
            </a:r>
            <a:r>
              <a:rPr lang="en-US" sz="1050" b="0" dirty="0">
                <a:latin typeface="Times New Roman" panose="02020603050405020304" pitchFamily="18" charset="0"/>
                <a:cs typeface="Times New Roman" panose="02020603050405020304" pitchFamily="18" charset="0"/>
              </a:rPr>
              <a:t> - right philosophy, wrong shape. All local-capable and open, and every one is an application window you open.</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The pattern:</a:t>
            </a:r>
            <a:r>
              <a:rPr lang="en-US" sz="1050" b="0" dirty="0">
                <a:latin typeface="Times New Roman" panose="02020603050405020304" pitchFamily="18" charset="0"/>
                <a:cs typeface="Times New Roman" panose="02020603050405020304" pitchFamily="18" charset="0"/>
              </a:rPr>
              <a:t> tools that are OS-integrated are closed, cloud-only or hardware-gated. Tools that are local and open are destinations you have to visit.</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The Positioning Table - The Empty Row</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12</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graphicFrame>
        <p:nvGraphicFramePr>
          <p:cNvPr id="103" name="Table 102"/>
          <p:cNvGraphicFramePr>
            <a:graphicFrameLocks noGrp="1"/>
          </p:cNvGraphicFramePr>
          <p:nvPr/>
        </p:nvGraphicFramePr>
        <p:xfrm>
          <a:off x="109728" y="457200"/>
          <a:ext cx="4389114" cy="1463040"/>
        </p:xfrm>
        <a:graphic>
          <a:graphicData uri="http://schemas.openxmlformats.org/drawingml/2006/table">
            <a:tbl>
              <a:tblPr firstRow="1" bandRow="0">
                <a:tableStyleId>{5940675A-B579-460E-94D1-54222C63F5DA}</a:tableStyleId>
              </a:tblPr>
              <a:tblGrid>
                <a:gridCol w="969264"/>
                <a:gridCol w="488550"/>
                <a:gridCol w="488550"/>
                <a:gridCol w="488550"/>
                <a:gridCol w="488550"/>
                <a:gridCol w="488550"/>
                <a:gridCol w="488550"/>
                <a:gridCol w="488550"/>
              </a:tblGrid>
              <a:tr h="274320">
                <a:tc>
                  <a:txBody>
                    <a:bodyPr/>
                    <a:lstStyle/>
                    <a:p>
                      <a:pPr algn="l"/>
                    </a:p>
                  </a:txBody>
                  <a:tcPr marL="20000" marR="20000" marT="9000" marB="9000">
                    <a:solidFill>
                      <a:srgbClr val="1F2A44"/>
                    </a:solidFill>
                  </a:tcPr>
                </a:tc>
                <a:tc>
                  <a:txBody>
                    <a:bodyPr/>
                    <a:lstStyle/>
                    <a:p>
                      <a:pPr algn="ctr"/>
                      <a:r>
                        <a:rPr sz="750" b="1">
                          <a:solidFill>
                            <a:srgbClr val="FFFFFF"/>
                          </a:solidFill>
                          <a:latin typeface="Times New Roman"/>
                        </a:rPr>
                        <a:t>Windows</a:t>
                      </a:r>
                    </a:p>
                  </a:txBody>
                  <a:tcPr marL="20000" marR="20000" marT="9000" marB="9000">
                    <a:solidFill>
                      <a:srgbClr val="1F2A44"/>
                    </a:solidFill>
                  </a:tcPr>
                </a:tc>
                <a:tc>
                  <a:txBody>
                    <a:bodyPr/>
                    <a:lstStyle/>
                    <a:p>
                      <a:pPr algn="ctr"/>
                      <a:r>
                        <a:rPr sz="750" b="1">
                          <a:solidFill>
                            <a:srgbClr val="FFFFFF"/>
                          </a:solidFill>
                          <a:latin typeface="Times New Roman"/>
                        </a:rPr>
                        <a:t>No special</a:t>
                      </a:r>
                    </a:p>
                    <a:p>
                      <a:pPr algn="ctr"/>
                      <a:r>
                        <a:rPr sz="750" b="1">
                          <a:solidFill>
                            <a:srgbClr val="FFFFFF"/>
                          </a:solidFill>
                          <a:latin typeface="Times New Roman"/>
                        </a:rPr>
                        <a:t>hardware</a:t>
                      </a:r>
                    </a:p>
                  </a:txBody>
                  <a:tcPr marL="20000" marR="20000" marT="9000" marB="9000">
                    <a:solidFill>
                      <a:srgbClr val="1F2A44"/>
                    </a:solidFill>
                  </a:tcPr>
                </a:tc>
                <a:tc>
                  <a:txBody>
                    <a:bodyPr/>
                    <a:lstStyle/>
                    <a:p>
                      <a:pPr algn="ctr"/>
                      <a:r>
                        <a:rPr sz="750" b="1">
                          <a:solidFill>
                            <a:srgbClr val="FFFFFF"/>
                          </a:solidFill>
                          <a:latin typeface="Times New Roman"/>
                        </a:rPr>
                        <a:t>Local</a:t>
                      </a:r>
                    </a:p>
                    <a:p>
                      <a:pPr algn="ctr"/>
                      <a:r>
                        <a:rPr sz="750" b="1">
                          <a:solidFill>
                            <a:srgbClr val="FFFFFF"/>
                          </a:solidFill>
                          <a:latin typeface="Times New Roman"/>
                        </a:rPr>
                        <a:t>option</a:t>
                      </a:r>
                    </a:p>
                  </a:txBody>
                  <a:tcPr marL="20000" marR="20000" marT="9000" marB="9000">
                    <a:solidFill>
                      <a:srgbClr val="1F2A44"/>
                    </a:solidFill>
                  </a:tcPr>
                </a:tc>
                <a:tc>
                  <a:txBody>
                    <a:bodyPr/>
                    <a:lstStyle/>
                    <a:p>
                      <a:pPr algn="ctr"/>
                      <a:r>
                        <a:rPr sz="750" b="1">
                          <a:solidFill>
                            <a:srgbClr val="FFFFFF"/>
                          </a:solidFill>
                          <a:latin typeface="Times New Roman"/>
                        </a:rPr>
                        <a:t>Cloud</a:t>
                      </a:r>
                    </a:p>
                    <a:p>
                      <a:pPr algn="ctr"/>
                      <a:r>
                        <a:rPr sz="750" b="1">
                          <a:solidFill>
                            <a:srgbClr val="FFFFFF"/>
                          </a:solidFill>
                          <a:latin typeface="Times New Roman"/>
                        </a:rPr>
                        <a:t>choice</a:t>
                      </a:r>
                    </a:p>
                  </a:txBody>
                  <a:tcPr marL="20000" marR="20000" marT="9000" marB="9000">
                    <a:solidFill>
                      <a:srgbClr val="1F2A44"/>
                    </a:solidFill>
                  </a:tcPr>
                </a:tc>
                <a:tc>
                  <a:txBody>
                    <a:bodyPr/>
                    <a:lstStyle/>
                    <a:p>
                      <a:pPr algn="ctr"/>
                      <a:r>
                        <a:rPr sz="750" b="1">
                          <a:solidFill>
                            <a:srgbClr val="FFFFFF"/>
                          </a:solidFill>
                          <a:latin typeface="Times New Roman"/>
                        </a:rPr>
                        <a:t>Selection</a:t>
                      </a:r>
                    </a:p>
                    <a:p>
                      <a:pPr algn="ctr"/>
                      <a:r>
                        <a:rPr sz="750" b="1">
                          <a:solidFill>
                            <a:srgbClr val="FFFFFF"/>
                          </a:solidFill>
                          <a:latin typeface="Times New Roman"/>
                        </a:rPr>
                        <a:t>triggered</a:t>
                      </a:r>
                    </a:p>
                  </a:txBody>
                  <a:tcPr marL="20000" marR="20000" marT="9000" marB="9000">
                    <a:solidFill>
                      <a:srgbClr val="1F2A44"/>
                    </a:solidFill>
                  </a:tcPr>
                </a:tc>
                <a:tc>
                  <a:txBody>
                    <a:bodyPr/>
                    <a:lstStyle/>
                    <a:p>
                      <a:pPr algn="ctr"/>
                      <a:r>
                        <a:rPr sz="750" b="1">
                          <a:solidFill>
                            <a:srgbClr val="FFFFFF"/>
                          </a:solidFill>
                          <a:latin typeface="Times New Roman"/>
                        </a:rPr>
                        <a:t>Individual</a:t>
                      </a:r>
                    </a:p>
                    <a:p>
                      <a:pPr algn="ctr"/>
                      <a:r>
                        <a:rPr sz="750" b="1">
                          <a:solidFill>
                            <a:srgbClr val="FFFFFF"/>
                          </a:solidFill>
                          <a:latin typeface="Times New Roman"/>
                        </a:rPr>
                        <a:t>user</a:t>
                      </a:r>
                    </a:p>
                  </a:txBody>
                  <a:tcPr marL="20000" marR="20000" marT="9000" marB="9000">
                    <a:solidFill>
                      <a:srgbClr val="1F2A44"/>
                    </a:solidFill>
                  </a:tcPr>
                </a:tc>
                <a:tc>
                  <a:txBody>
                    <a:bodyPr/>
                    <a:lstStyle/>
                    <a:p>
                      <a:pPr algn="ctr"/>
                      <a:r>
                        <a:rPr sz="750" b="1">
                          <a:solidFill>
                            <a:srgbClr val="FFFFFF"/>
                          </a:solidFill>
                          <a:latin typeface="Times New Roman"/>
                        </a:rPr>
                        <a:t>Open</a:t>
                      </a:r>
                    </a:p>
                    <a:p>
                      <a:pPr algn="ctr"/>
                      <a:r>
                        <a:rPr sz="750" b="1">
                          <a:solidFill>
                            <a:srgbClr val="FFFFFF"/>
                          </a:solidFill>
                          <a:latin typeface="Times New Roman"/>
                        </a:rPr>
                        <a:t>source</a:t>
                      </a:r>
                    </a:p>
                  </a:txBody>
                  <a:tcPr marL="20000" marR="20000" marT="9000" marB="9000">
                    <a:solidFill>
                      <a:srgbClr val="1F2A44"/>
                    </a:solidFill>
                  </a:tcPr>
                </a:tc>
              </a:tr>
              <a:tr h="237744">
                <a:tc>
                  <a:txBody>
                    <a:bodyPr/>
                    <a:lstStyle/>
                    <a:p>
                      <a:pPr algn="l"/>
                      <a:r>
                        <a:rPr sz="850" b="1">
                          <a:solidFill>
                            <a:srgbClr val="1A1A1A"/>
                          </a:solidFill>
                          <a:latin typeface="Times New Roman"/>
                        </a:rPr>
                        <a:t>Highlight AI</a:t>
                      </a:r>
                    </a:p>
                  </a:txBody>
                  <a:tcPr marL="20000" marR="20000" marT="9000" marB="9000">
                    <a:solidFill>
                      <a:srgbClr val="F4F5F7"/>
                    </a:solidFill>
                  </a:tcPr>
                </a:tc>
                <a:tc>
                  <a:txBody>
                    <a:bodyPr/>
                    <a:lstStyle/>
                    <a:p>
                      <a:pPr algn="ctr"/>
                      <a:r>
                        <a:rPr sz="850" b="0">
                          <a:solidFill>
                            <a:srgbClr val="1B7F3B"/>
                          </a:solidFill>
                          <a:latin typeface="Times New Roman"/>
                        </a:rPr>
                        <a:t>Y</a:t>
                      </a:r>
                    </a:p>
                  </a:txBody>
                  <a:tcPr marL="20000" marR="20000" marT="9000" marB="9000">
                    <a:solidFill>
                      <a:srgbClr val="F4F5F7"/>
                    </a:solidFill>
                  </a:tcPr>
                </a:tc>
                <a:tc>
                  <a:txBody>
                    <a:bodyPr/>
                    <a:lstStyle/>
                    <a:p>
                      <a:pPr algn="ctr"/>
                      <a:r>
                        <a:rPr sz="850" b="0">
                          <a:solidFill>
                            <a:srgbClr val="1B7F3B"/>
                          </a:solidFill>
                          <a:latin typeface="Times New Roman"/>
                        </a:rPr>
                        <a:t>Y</a:t>
                      </a:r>
                    </a:p>
                  </a:txBody>
                  <a:tcPr marL="20000" marR="20000" marT="9000" marB="9000">
                    <a:solidFill>
                      <a:srgbClr val="F4F5F7"/>
                    </a:solidFill>
                  </a:tcPr>
                </a:tc>
                <a:tc>
                  <a:txBody>
                    <a:bodyPr/>
                    <a:lstStyle/>
                    <a:p>
                      <a:pPr algn="ctr"/>
                      <a:r>
                        <a:rPr sz="850" b="0">
                          <a:solidFill>
                            <a:srgbClr val="B02A2A"/>
                          </a:solidFill>
                          <a:latin typeface="Times New Roman"/>
                        </a:rPr>
                        <a:t>N</a:t>
                      </a:r>
                    </a:p>
                  </a:txBody>
                  <a:tcPr marL="20000" marR="20000" marT="9000" marB="9000">
                    <a:solidFill>
                      <a:srgbClr val="F4F5F7"/>
                    </a:solidFill>
                  </a:tcPr>
                </a:tc>
                <a:tc>
                  <a:txBody>
                    <a:bodyPr/>
                    <a:lstStyle/>
                    <a:p>
                      <a:pPr algn="ctr"/>
                      <a:r>
                        <a:rPr sz="850" b="0">
                          <a:solidFill>
                            <a:srgbClr val="B02A2A"/>
                          </a:solidFill>
                          <a:latin typeface="Times New Roman"/>
                        </a:rPr>
                        <a:t>N</a:t>
                      </a:r>
                    </a:p>
                  </a:txBody>
                  <a:tcPr marL="20000" marR="20000" marT="9000" marB="9000">
                    <a:solidFill>
                      <a:srgbClr val="F4F5F7"/>
                    </a:solidFill>
                  </a:tcPr>
                </a:tc>
                <a:tc>
                  <a:txBody>
                    <a:bodyPr/>
                    <a:lstStyle/>
                    <a:p>
                      <a:pPr algn="ctr"/>
                      <a:r>
                        <a:rPr sz="850" b="0">
                          <a:solidFill>
                            <a:srgbClr val="1B7F3B"/>
                          </a:solidFill>
                          <a:latin typeface="Times New Roman"/>
                        </a:rPr>
                        <a:t>Y</a:t>
                      </a:r>
                    </a:p>
                  </a:txBody>
                  <a:tcPr marL="20000" marR="20000" marT="9000" marB="9000">
                    <a:solidFill>
                      <a:srgbClr val="F4F5F7"/>
                    </a:solidFill>
                  </a:tcPr>
                </a:tc>
                <a:tc>
                  <a:txBody>
                    <a:bodyPr/>
                    <a:lstStyle/>
                    <a:p>
                      <a:pPr algn="ctr"/>
                      <a:r>
                        <a:rPr sz="850" b="0">
                          <a:solidFill>
                            <a:srgbClr val="B02A2A"/>
                          </a:solidFill>
                          <a:latin typeface="Times New Roman"/>
                        </a:rPr>
                        <a:t>N  teams</a:t>
                      </a:r>
                    </a:p>
                  </a:txBody>
                  <a:tcPr marL="20000" marR="20000" marT="9000" marB="9000">
                    <a:solidFill>
                      <a:srgbClr val="F4F5F7"/>
                    </a:solidFill>
                  </a:tcPr>
                </a:tc>
                <a:tc>
                  <a:txBody>
                    <a:bodyPr/>
                    <a:lstStyle/>
                    <a:p>
                      <a:pPr algn="ctr"/>
                      <a:r>
                        <a:rPr sz="850" b="0">
                          <a:solidFill>
                            <a:srgbClr val="B02A2A"/>
                          </a:solidFill>
                          <a:latin typeface="Times New Roman"/>
                        </a:rPr>
                        <a:t>N</a:t>
                      </a:r>
                    </a:p>
                  </a:txBody>
                  <a:tcPr marL="20000" marR="20000" marT="9000" marB="9000">
                    <a:solidFill>
                      <a:srgbClr val="F4F5F7"/>
                    </a:solidFill>
                  </a:tcPr>
                </a:tc>
              </a:tr>
              <a:tr h="237744">
                <a:tc>
                  <a:txBody>
                    <a:bodyPr/>
                    <a:lstStyle/>
                    <a:p>
                      <a:pPr algn="l"/>
                      <a:r>
                        <a:rPr sz="850" b="1">
                          <a:solidFill>
                            <a:srgbClr val="1A1A1A"/>
                          </a:solidFill>
                          <a:latin typeface="Times New Roman"/>
                        </a:rPr>
                        <a:t>Windows AI Platform</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B02A2A"/>
                          </a:solidFill>
                          <a:latin typeface="Times New Roman"/>
                        </a:rPr>
                        <a:t>N</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B02A2A"/>
                          </a:solidFill>
                          <a:latin typeface="Times New Roman"/>
                        </a:rPr>
                        <a:t>N  Pro</a:t>
                      </a:r>
                    </a:p>
                  </a:txBody>
                  <a:tcPr marL="20000" marR="20000" marT="9000" marB="9000">
                    <a:solidFill>
                      <a:srgbClr val="FFFFFF"/>
                    </a:solidFill>
                  </a:tcPr>
                </a:tc>
                <a:tc>
                  <a:txBody>
                    <a:bodyPr/>
                    <a:lstStyle/>
                    <a:p>
                      <a:pPr algn="ctr"/>
                      <a:r>
                        <a:rPr sz="850" b="0">
                          <a:solidFill>
                            <a:srgbClr val="B02A2A"/>
                          </a:solidFill>
                          <a:latin typeface="Times New Roman"/>
                        </a:rPr>
                        <a:t>N</a:t>
                      </a:r>
                    </a:p>
                  </a:txBody>
                  <a:tcPr marL="20000" marR="20000" marT="9000" marB="9000">
                    <a:solidFill>
                      <a:srgbClr val="FFFFFF"/>
                    </a:solidFill>
                  </a:tcPr>
                </a:tc>
              </a:tr>
              <a:tr h="237744">
                <a:tc>
                  <a:txBody>
                    <a:bodyPr/>
                    <a:lstStyle/>
                    <a:p>
                      <a:pPr algn="l"/>
                      <a:r>
                        <a:rPr sz="850" b="1">
                          <a:solidFill>
                            <a:srgbClr val="1A1A1A"/>
                          </a:solidFill>
                          <a:latin typeface="Times New Roman"/>
                        </a:rPr>
                        <a:t>Raycast / Apple</a:t>
                      </a:r>
                    </a:p>
                  </a:txBody>
                  <a:tcPr marL="20000" marR="20000" marT="9000" marB="9000">
                    <a:solidFill>
                      <a:srgbClr val="F4F5F7"/>
                    </a:solidFill>
                  </a:tcPr>
                </a:tc>
                <a:tc>
                  <a:txBody>
                    <a:bodyPr/>
                    <a:lstStyle/>
                    <a:p>
                      <a:pPr algn="ctr"/>
                      <a:r>
                        <a:rPr sz="850" b="0">
                          <a:solidFill>
                            <a:srgbClr val="B02A2A"/>
                          </a:solidFill>
                          <a:latin typeface="Times New Roman"/>
                        </a:rPr>
                        <a:t>N</a:t>
                      </a:r>
                    </a:p>
                  </a:txBody>
                  <a:tcPr marL="20000" marR="20000" marT="9000" marB="9000">
                    <a:solidFill>
                      <a:srgbClr val="F4F5F7"/>
                    </a:solidFill>
                  </a:tcPr>
                </a:tc>
                <a:tc>
                  <a:txBody>
                    <a:bodyPr/>
                    <a:lstStyle/>
                    <a:p>
                      <a:pPr algn="ctr"/>
                      <a:r>
                        <a:rPr sz="850" b="0">
                          <a:solidFill>
                            <a:srgbClr val="1A1A1A"/>
                          </a:solidFill>
                          <a:latin typeface="Times New Roman"/>
                        </a:rPr>
                        <a:t>-</a:t>
                      </a:r>
                    </a:p>
                  </a:txBody>
                  <a:tcPr marL="20000" marR="20000" marT="9000" marB="9000">
                    <a:solidFill>
                      <a:srgbClr val="F4F5F7"/>
                    </a:solidFill>
                  </a:tcPr>
                </a:tc>
                <a:tc>
                  <a:txBody>
                    <a:bodyPr/>
                    <a:lstStyle/>
                    <a:p>
                      <a:pPr algn="ctr"/>
                      <a:r>
                        <a:rPr sz="850" b="0">
                          <a:solidFill>
                            <a:srgbClr val="1A1A1A"/>
                          </a:solidFill>
                          <a:latin typeface="Times New Roman"/>
                        </a:rPr>
                        <a:t>partial</a:t>
                      </a:r>
                    </a:p>
                  </a:txBody>
                  <a:tcPr marL="20000" marR="20000" marT="9000" marB="9000">
                    <a:solidFill>
                      <a:srgbClr val="F4F5F7"/>
                    </a:solidFill>
                  </a:tcPr>
                </a:tc>
                <a:tc>
                  <a:txBody>
                    <a:bodyPr/>
                    <a:lstStyle/>
                    <a:p>
                      <a:pPr algn="ctr"/>
                      <a:r>
                        <a:rPr sz="850" b="0">
                          <a:solidFill>
                            <a:srgbClr val="1A1A1A"/>
                          </a:solidFill>
                          <a:latin typeface="Times New Roman"/>
                        </a:rPr>
                        <a:t>partial</a:t>
                      </a:r>
                    </a:p>
                  </a:txBody>
                  <a:tcPr marL="20000" marR="20000" marT="9000" marB="9000">
                    <a:solidFill>
                      <a:srgbClr val="F4F5F7"/>
                    </a:solidFill>
                  </a:tcPr>
                </a:tc>
                <a:tc>
                  <a:txBody>
                    <a:bodyPr/>
                    <a:lstStyle/>
                    <a:p>
                      <a:pPr algn="ctr"/>
                      <a:r>
                        <a:rPr sz="850" b="0">
                          <a:solidFill>
                            <a:srgbClr val="1B7F3B"/>
                          </a:solidFill>
                          <a:latin typeface="Times New Roman"/>
                        </a:rPr>
                        <a:t>Y</a:t>
                      </a:r>
                    </a:p>
                  </a:txBody>
                  <a:tcPr marL="20000" marR="20000" marT="9000" marB="9000">
                    <a:solidFill>
                      <a:srgbClr val="F4F5F7"/>
                    </a:solidFill>
                  </a:tcPr>
                </a:tc>
                <a:tc>
                  <a:txBody>
                    <a:bodyPr/>
                    <a:lstStyle/>
                    <a:p>
                      <a:pPr algn="ctr"/>
                      <a:r>
                        <a:rPr sz="850" b="0">
                          <a:solidFill>
                            <a:srgbClr val="1B7F3B"/>
                          </a:solidFill>
                          <a:latin typeface="Times New Roman"/>
                        </a:rPr>
                        <a:t>Y</a:t>
                      </a:r>
                    </a:p>
                  </a:txBody>
                  <a:tcPr marL="20000" marR="20000" marT="9000" marB="9000">
                    <a:solidFill>
                      <a:srgbClr val="F4F5F7"/>
                    </a:solidFill>
                  </a:tcPr>
                </a:tc>
                <a:tc>
                  <a:txBody>
                    <a:bodyPr/>
                    <a:lstStyle/>
                    <a:p>
                      <a:pPr algn="ctr"/>
                      <a:r>
                        <a:rPr sz="850" b="0">
                          <a:solidFill>
                            <a:srgbClr val="B02A2A"/>
                          </a:solidFill>
                          <a:latin typeface="Times New Roman"/>
                        </a:rPr>
                        <a:t>N</a:t>
                      </a:r>
                    </a:p>
                  </a:txBody>
                  <a:tcPr marL="20000" marR="20000" marT="9000" marB="9000">
                    <a:solidFill>
                      <a:srgbClr val="F4F5F7"/>
                    </a:solidFill>
                  </a:tcPr>
                </a:tc>
              </a:tr>
              <a:tr h="237744">
                <a:tc>
                  <a:txBody>
                    <a:bodyPr/>
                    <a:lstStyle/>
                    <a:p>
                      <a:pPr algn="l"/>
                      <a:r>
                        <a:rPr sz="850" b="1">
                          <a:solidFill>
                            <a:srgbClr val="1A1A1A"/>
                          </a:solidFill>
                          <a:latin typeface="Times New Roman"/>
                        </a:rPr>
                        <a:t>Jan.ai / PyGPT / Khoj</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B02A2A"/>
                          </a:solidFill>
                          <a:latin typeface="Times New Roman"/>
                        </a:rPr>
                        <a:t>N</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c>
                  <a:txBody>
                    <a:bodyPr/>
                    <a:lstStyle/>
                    <a:p>
                      <a:pPr algn="ctr"/>
                      <a:r>
                        <a:rPr sz="850" b="0">
                          <a:solidFill>
                            <a:srgbClr val="1B7F3B"/>
                          </a:solidFill>
                          <a:latin typeface="Times New Roman"/>
                        </a:rPr>
                        <a:t>Y</a:t>
                      </a:r>
                    </a:p>
                  </a:txBody>
                  <a:tcPr marL="20000" marR="20000" marT="9000" marB="9000">
                    <a:solidFill>
                      <a:srgbClr val="FFFFFF"/>
                    </a:solidFill>
                  </a:tcPr>
                </a:tc>
              </a:tr>
              <a:tr h="237744">
                <a:tc>
                  <a:txBody>
                    <a:bodyPr/>
                    <a:lstStyle/>
                    <a:p>
                      <a:pPr algn="l"/>
                      <a:r>
                        <a:rPr sz="850" b="1">
                          <a:solidFill>
                            <a:srgbClr val="1A1A1A"/>
                          </a:solidFill>
                          <a:latin typeface="Times New Roman"/>
                        </a:rPr>
                        <a:t>PERCH</a:t>
                      </a:r>
                    </a:p>
                  </a:txBody>
                  <a:tcPr marL="20000" marR="20000" marT="9000" marB="9000">
                    <a:solidFill>
                      <a:srgbClr val="E7F3EA"/>
                    </a:solidFill>
                  </a:tcPr>
                </a:tc>
                <a:tc>
                  <a:txBody>
                    <a:bodyPr/>
                    <a:lstStyle/>
                    <a:p>
                      <a:pPr algn="ctr"/>
                      <a:r>
                        <a:rPr sz="850" b="1">
                          <a:solidFill>
                            <a:srgbClr val="1B7F3B"/>
                          </a:solidFill>
                          <a:latin typeface="Times New Roman"/>
                        </a:rPr>
                        <a:t>Y</a:t>
                      </a:r>
                    </a:p>
                  </a:txBody>
                  <a:tcPr marL="20000" marR="20000" marT="9000" marB="9000">
                    <a:solidFill>
                      <a:srgbClr val="E7F3EA"/>
                    </a:solidFill>
                  </a:tcPr>
                </a:tc>
                <a:tc>
                  <a:txBody>
                    <a:bodyPr/>
                    <a:lstStyle/>
                    <a:p>
                      <a:pPr algn="ctr"/>
                      <a:r>
                        <a:rPr sz="850" b="1">
                          <a:solidFill>
                            <a:srgbClr val="1B7F3B"/>
                          </a:solidFill>
                          <a:latin typeface="Times New Roman"/>
                        </a:rPr>
                        <a:t>Y</a:t>
                      </a:r>
                    </a:p>
                  </a:txBody>
                  <a:tcPr marL="20000" marR="20000" marT="9000" marB="9000">
                    <a:solidFill>
                      <a:srgbClr val="E7F3EA"/>
                    </a:solidFill>
                  </a:tcPr>
                </a:tc>
                <a:tc>
                  <a:txBody>
                    <a:bodyPr/>
                    <a:lstStyle/>
                    <a:p>
                      <a:pPr algn="ctr"/>
                      <a:r>
                        <a:rPr sz="850" b="1">
                          <a:solidFill>
                            <a:srgbClr val="1B7F3B"/>
                          </a:solidFill>
                          <a:latin typeface="Times New Roman"/>
                        </a:rPr>
                        <a:t>Y</a:t>
                      </a:r>
                    </a:p>
                  </a:txBody>
                  <a:tcPr marL="20000" marR="20000" marT="9000" marB="9000">
                    <a:solidFill>
                      <a:srgbClr val="E7F3EA"/>
                    </a:solidFill>
                  </a:tcPr>
                </a:tc>
                <a:tc>
                  <a:txBody>
                    <a:bodyPr/>
                    <a:lstStyle/>
                    <a:p>
                      <a:pPr algn="ctr"/>
                      <a:r>
                        <a:rPr sz="850" b="1">
                          <a:solidFill>
                            <a:srgbClr val="1B7F3B"/>
                          </a:solidFill>
                          <a:latin typeface="Times New Roman"/>
                        </a:rPr>
                        <a:t>Y</a:t>
                      </a:r>
                    </a:p>
                  </a:txBody>
                  <a:tcPr marL="20000" marR="20000" marT="9000" marB="9000">
                    <a:solidFill>
                      <a:srgbClr val="E7F3EA"/>
                    </a:solidFill>
                  </a:tcPr>
                </a:tc>
                <a:tc>
                  <a:txBody>
                    <a:bodyPr/>
                    <a:lstStyle/>
                    <a:p>
                      <a:pPr algn="ctr"/>
                      <a:r>
                        <a:rPr sz="850" b="1">
                          <a:solidFill>
                            <a:srgbClr val="1B7F3B"/>
                          </a:solidFill>
                          <a:latin typeface="Times New Roman"/>
                        </a:rPr>
                        <a:t>Y</a:t>
                      </a:r>
                    </a:p>
                  </a:txBody>
                  <a:tcPr marL="20000" marR="20000" marT="9000" marB="9000">
                    <a:solidFill>
                      <a:srgbClr val="E7F3EA"/>
                    </a:solidFill>
                  </a:tcPr>
                </a:tc>
                <a:tc>
                  <a:txBody>
                    <a:bodyPr/>
                    <a:lstStyle/>
                    <a:p>
                      <a:pPr algn="ctr"/>
                      <a:r>
                        <a:rPr sz="850" b="1">
                          <a:solidFill>
                            <a:srgbClr val="1B7F3B"/>
                          </a:solidFill>
                          <a:latin typeface="Times New Roman"/>
                        </a:rPr>
                        <a:t>Y</a:t>
                      </a:r>
                    </a:p>
                  </a:txBody>
                  <a:tcPr marL="20000" marR="20000" marT="9000" marB="9000">
                    <a:solidFill>
                      <a:srgbClr val="E7F3EA"/>
                    </a:solidFill>
                  </a:tcPr>
                </a:tc>
                <a:tc>
                  <a:txBody>
                    <a:bodyPr/>
                    <a:lstStyle/>
                    <a:p>
                      <a:pPr algn="ctr"/>
                      <a:r>
                        <a:rPr sz="850" b="1">
                          <a:solidFill>
                            <a:srgbClr val="1B7F3B"/>
                          </a:solidFill>
                          <a:latin typeface="Times New Roman"/>
                        </a:rPr>
                        <a:t>Y</a:t>
                      </a:r>
                    </a:p>
                  </a:txBody>
                  <a:tcPr marL="20000" marR="20000" marT="9000" marB="9000">
                    <a:solidFill>
                      <a:srgbClr val="E7F3EA"/>
                    </a:solidFill>
                  </a:tcPr>
                </a:tc>
              </a:tr>
            </a:tbl>
          </a:graphicData>
        </a:graphic>
      </p:graphicFrame>
      <p:sp>
        <p:nvSpPr>
          <p:cNvPr id="104" name="TextBox 103"/>
          <p:cNvSpPr txBox="1"/>
          <p:nvPr/>
        </p:nvSpPr>
        <p:spPr>
          <a:xfrm>
            <a:off x="109728" y="2240280"/>
            <a:ext cx="4389120" cy="914400"/>
          </a:xfrm>
          <a:prstGeom prst="rect">
            <a:avLst/>
          </a:prstGeom>
          <a:noFill/>
        </p:spPr>
        <p:txBody>
          <a:bodyPr wrap="square">
            <a:spAutoFit/>
          </a:bodyPr>
          <a:lstStyle/>
          <a:p>
            <a:r>
              <a:rPr b="1" sz="900">
                <a:latin typeface="Times New Roman"/>
              </a:rPr>
              <a:t>Read the columns, not the rows.</a:t>
            </a:r>
            <a:r>
              <a:rPr b="0" sz="900">
                <a:latin typeface="Times New Roman"/>
              </a:rPr>
              <a:t> Every competitor fails at least one column that matters to an individual user on an ordinary Windows laptop.</a:t>
            </a:r>
          </a:p>
          <a:p>
            <a:r>
              <a:rPr b="1" sz="900">
                <a:latin typeface="Times New Roman"/>
              </a:rPr>
              <a:t>Highlight is closed and cloud-only and has moved to teams. Microsoft's platform is unshipped, Enterprise/Pro-gated and closed to third parties.</a:t>
            </a:r>
            <a:r>
              <a:rPr b="0" sz="900">
                <a:latin typeface="Times New Roman"/>
              </a:rPr>
              <a:t> The Mac tools do not run here, and the local open tools are all windows you have to go to.</a:t>
            </a:r>
          </a:p>
          <a:p>
            <a:r>
              <a:rPr b="1" sz="900">
                <a:latin typeface="Times New Roman"/>
              </a:rPr>
              <a:t>The bottom row is the project.</a:t>
            </a:r>
            <a:r>
              <a:rPr b="0" sz="900">
                <a:latin typeface="Times New Roman"/>
              </a:rPr>
              <a:t> Nothing in it is individually novel - the combination is the one nobody is shipping.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4" name="Google Shape;174;p14"/>
          <p:cNvSpPr/>
          <p:nvPr/>
        </p:nvSpPr>
        <p:spPr>
          <a:xfrm>
            <a:off x="0" y="-12"/>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75" name="Google Shape;175;p14"/>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dirty="0" b="0">
                <a:solidFill>
                  <a:srgbClr val="FFFFFF"/>
                </a:solidFill>
                <a:latin typeface="Times New Roman" panose="02020603050405020304" pitchFamily="18" charset="0"/>
                <a:cs typeface="Times New Roman" panose="02020603050405020304" pitchFamily="18" charset="0"/>
              </a:rPr>
              <a:t>System Architecture - Four Layers, One Request Path</a:t>
            </a:r>
          </a:p>
        </p:txBody>
      </p:sp>
      <p:grpSp>
        <p:nvGrpSpPr>
          <p:cNvPr id="177" name="Google Shape;177;p14"/>
          <p:cNvGrpSpPr/>
          <p:nvPr/>
        </p:nvGrpSpPr>
        <p:grpSpPr>
          <a:xfrm>
            <a:off x="0" y="3326968"/>
            <a:ext cx="4608017" cy="129539"/>
            <a:chOff x="0" y="3326968"/>
            <a:chExt cx="4608017" cy="129539"/>
          </a:xfrm>
        </p:grpSpPr>
        <p:sp>
          <p:nvSpPr>
            <p:cNvPr id="178" name="Google Shape;178;p14"/>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79" name="Google Shape;179;p14"/>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80" name="Google Shape;180;p14"/>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81" name="Google Shape;181;p14"/>
          <p:cNvSpPr txBox="1">
            <a:spLocks noGrp="1"/>
          </p:cNvSpPr>
          <p:nvPr>
            <p:ph type="ftr" idx="11"/>
          </p:nvPr>
        </p:nvSpPr>
        <p:spPr>
          <a:xfrm>
            <a:off x="421944" y="3331252"/>
            <a:ext cx="692150" cy="193628"/>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indent="0" algn="l" rtl="0">
              <a:lnSpc>
                <a:spcPct val="100000"/>
              </a:lnSpc>
              <a:spcBef>
                <a:spcPts val="0"/>
              </a:spcBef>
              <a:spcAft>
                <a:spcPts val="0"/>
              </a:spcAft>
              <a:buNone/>
            </a:pPr>
            <a:endParaRPr dirty="0"/>
          </a:p>
        </p:txBody>
      </p:sp>
      <p:sp>
        <p:nvSpPr>
          <p:cNvPr id="184" name="Google Shape;184;p14"/>
          <p:cNvSpPr txBox="1">
            <a:spLocks noGrp="1"/>
          </p:cNvSpPr>
          <p:nvPr>
            <p:ph type="sldNum" idx="12"/>
          </p:nvPr>
        </p:nvSpPr>
        <p:spPr>
          <a:xfrm>
            <a:off x="4275160" y="3331252"/>
            <a:ext cx="332767"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13</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4" name="Google Shape;85;p8">
            <a:extLst>
              <a:ext uri="{FF2B5EF4-FFF2-40B4-BE49-F238E27FC236}">
                <a16:creationId xmlns:a16="http://schemas.microsoft.com/office/drawing/2014/main" id="{68DD8F8F-AF3A-0712-A8A6-96A4B204E246}"/>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5" name="Google Shape;72;p7">
            <a:extLst>
              <a:ext uri="{FF2B5EF4-FFF2-40B4-BE49-F238E27FC236}">
                <a16:creationId xmlns:a16="http://schemas.microsoft.com/office/drawing/2014/main" id="{DE411B68-6E30-1CEA-C8AA-BB76173259F6}"/>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
        <p:nvSpPr>
          <p:cNvPr id="185" name="Rounded Rectangle 184"/>
          <p:cNvSpPr/>
          <p:nvPr/>
        </p:nvSpPr>
        <p:spPr>
          <a:xfrm>
            <a:off x="201168" y="365760"/>
            <a:ext cx="3246120" cy="228600"/>
          </a:xfrm>
          <a:prstGeom prst="roundRect">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USER   </a:t>
            </a:r>
            <a:r>
              <a:rPr sz="750" b="0">
                <a:solidFill>
                  <a:srgbClr val="FFFFFF"/>
                </a:solidFill>
                <a:latin typeface="Times New Roman"/>
              </a:rPr>
              <a:t>working in any Windows application - PDF, IDE, browser, email, form</a:t>
            </a:r>
          </a:p>
        </p:txBody>
      </p:sp>
      <p:sp>
        <p:nvSpPr>
          <p:cNvPr id="186" name="Down Arrow 185"/>
          <p:cNvSpPr/>
          <p:nvPr/>
        </p:nvSpPr>
        <p:spPr>
          <a:xfrm>
            <a:off x="1783080" y="605332"/>
            <a:ext cx="82296" cy="54864"/>
          </a:xfrm>
          <a:prstGeom prst="downArrow">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Rounded Rectangle 186"/>
          <p:cNvSpPr/>
          <p:nvPr/>
        </p:nvSpPr>
        <p:spPr>
          <a:xfrm>
            <a:off x="201168" y="672084"/>
            <a:ext cx="3246120" cy="228600"/>
          </a:xfrm>
          <a:prstGeom prst="roundRect">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TRIGGER   </a:t>
            </a:r>
            <a:r>
              <a:rPr sz="750" b="0">
                <a:solidFill>
                  <a:srgbClr val="FFFFFF"/>
                </a:solidFill>
                <a:latin typeface="Times New Roman"/>
              </a:rPr>
              <a:t>L1   hotkey, selection or screenshot - nothing is read until you press it</a:t>
            </a:r>
          </a:p>
        </p:txBody>
      </p:sp>
      <p:sp>
        <p:nvSpPr>
          <p:cNvPr id="188" name="Down Arrow 187"/>
          <p:cNvSpPr/>
          <p:nvPr/>
        </p:nvSpPr>
        <p:spPr>
          <a:xfrm>
            <a:off x="1783080" y="911656"/>
            <a:ext cx="82296" cy="54864"/>
          </a:xfrm>
          <a:prstGeom prst="downArrow">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ounded Rectangle 188"/>
          <p:cNvSpPr/>
          <p:nvPr/>
        </p:nvSpPr>
        <p:spPr>
          <a:xfrm>
            <a:off x="201168" y="978408"/>
            <a:ext cx="3246120" cy="228600"/>
          </a:xfrm>
          <a:prstGeom prst="roundRect">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CAPTURE   </a:t>
            </a:r>
            <a:r>
              <a:rPr sz="750" b="0">
                <a:solidFill>
                  <a:srgbClr val="FFFFFF"/>
                </a:solidFill>
                <a:latin typeface="Times New Roman"/>
              </a:rPr>
              <a:t>L1   UI Automation, clipboard fallback; the host window handle is saved</a:t>
            </a:r>
          </a:p>
        </p:txBody>
      </p:sp>
      <p:sp>
        <p:nvSpPr>
          <p:cNvPr id="190" name="Down Arrow 189"/>
          <p:cNvSpPr/>
          <p:nvPr/>
        </p:nvSpPr>
        <p:spPr>
          <a:xfrm>
            <a:off x="1783080" y="1217980"/>
            <a:ext cx="82296" cy="54864"/>
          </a:xfrm>
          <a:prstGeom prst="downArrow">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Rounded Rectangle 190"/>
          <p:cNvSpPr/>
          <p:nvPr/>
        </p:nvSpPr>
        <p:spPr>
          <a:xfrm>
            <a:off x="201168" y="1284732"/>
            <a:ext cx="3246120" cy="228600"/>
          </a:xfrm>
          <a:prstGeom prst="roundRect">
            <a:avLst/>
          </a:prstGeom>
          <a:solidFill>
            <a:srgbClr val="028090"/>
          </a:solidFill>
          <a:ln>
            <a:solidFill>
              <a:srgbClr val="028090"/>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PRIVACY   </a:t>
            </a:r>
            <a:r>
              <a:rPr sz="750" b="0">
                <a:solidFill>
                  <a:srgbClr val="FFFFFF"/>
                </a:solidFill>
                <a:latin typeface="Times New Roman"/>
              </a:rPr>
              <a:t>L2   source rules, toggle, global default - decided before any model sees it</a:t>
            </a:r>
          </a:p>
        </p:txBody>
      </p:sp>
      <p:sp>
        <p:nvSpPr>
          <p:cNvPr id="192" name="Down Arrow 191"/>
          <p:cNvSpPr/>
          <p:nvPr/>
        </p:nvSpPr>
        <p:spPr>
          <a:xfrm>
            <a:off x="1783080" y="1524304"/>
            <a:ext cx="82296" cy="54864"/>
          </a:xfrm>
          <a:prstGeom prst="downArrow">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Rounded Rectangle 192"/>
          <p:cNvSpPr/>
          <p:nvPr/>
        </p:nvSpPr>
        <p:spPr>
          <a:xfrm>
            <a:off x="201168" y="1591056"/>
            <a:ext cx="3246120" cy="228600"/>
          </a:xfrm>
          <a:prstGeom prst="roundRect">
            <a:avLst/>
          </a:prstGeom>
          <a:solidFill>
            <a:srgbClr val="028090"/>
          </a:solidFill>
          <a:ln>
            <a:solidFill>
              <a:srgbClr val="028090"/>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ROUTE   </a:t>
            </a:r>
            <a:r>
              <a:rPr sz="750" b="0">
                <a:solidFill>
                  <a:srgbClr val="FFFFFF"/>
                </a:solidFill>
                <a:latin typeface="Times New Roman"/>
              </a:rPr>
              <a:t>L2   intent, then which of the six memory classes are eligible</a:t>
            </a:r>
          </a:p>
        </p:txBody>
      </p:sp>
      <p:sp>
        <p:nvSpPr>
          <p:cNvPr id="194" name="Down Arrow 193"/>
          <p:cNvSpPr/>
          <p:nvPr/>
        </p:nvSpPr>
        <p:spPr>
          <a:xfrm>
            <a:off x="1783080" y="1830628"/>
            <a:ext cx="82296" cy="54864"/>
          </a:xfrm>
          <a:prstGeom prst="downArrow">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Rounded Rectangle 194"/>
          <p:cNvSpPr/>
          <p:nvPr/>
        </p:nvSpPr>
        <p:spPr>
          <a:xfrm>
            <a:off x="201168" y="1897380"/>
            <a:ext cx="3246120" cy="228600"/>
          </a:xfrm>
          <a:prstGeom prst="roundRect">
            <a:avLst/>
          </a:prstGeom>
          <a:solidFill>
            <a:srgbClr val="028090"/>
          </a:solidFill>
          <a:ln>
            <a:solidFill>
              <a:srgbClr val="028090"/>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RANK + ADMIT   </a:t>
            </a:r>
            <a:r>
              <a:rPr sz="750" b="0">
                <a:solidFill>
                  <a:srgbClr val="FFFFFF"/>
                </a:solidFill>
                <a:latin typeface="Times New Roman"/>
              </a:rPr>
              <a:t>L3   per-class floor and margin - or admit nothing and abstain</a:t>
            </a:r>
          </a:p>
        </p:txBody>
      </p:sp>
      <p:sp>
        <p:nvSpPr>
          <p:cNvPr id="196" name="Down Arrow 195"/>
          <p:cNvSpPr/>
          <p:nvPr/>
        </p:nvSpPr>
        <p:spPr>
          <a:xfrm>
            <a:off x="1783080" y="2136952"/>
            <a:ext cx="82296" cy="54864"/>
          </a:xfrm>
          <a:prstGeom prst="downArrow">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Rounded Rectangle 196"/>
          <p:cNvSpPr/>
          <p:nvPr/>
        </p:nvSpPr>
        <p:spPr>
          <a:xfrm>
            <a:off x="201168" y="2203704"/>
            <a:ext cx="3246120" cy="228600"/>
          </a:xfrm>
          <a:prstGeom prst="roundRect">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PACK   </a:t>
            </a:r>
            <a:r>
              <a:rPr sz="750" b="0">
                <a:solidFill>
                  <a:srgbClr val="FFFFFF"/>
                </a:solidFill>
                <a:latin typeface="Times New Roman"/>
              </a:rPr>
              <a:t>L2   budget = context_window(model) - response - system - tool schemas</a:t>
            </a:r>
          </a:p>
        </p:txBody>
      </p:sp>
      <p:sp>
        <p:nvSpPr>
          <p:cNvPr id="198" name="Down Arrow 197"/>
          <p:cNvSpPr/>
          <p:nvPr/>
        </p:nvSpPr>
        <p:spPr>
          <a:xfrm>
            <a:off x="1783080" y="2443276"/>
            <a:ext cx="82296" cy="54864"/>
          </a:xfrm>
          <a:prstGeom prst="downArrow">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Rounded Rectangle 198"/>
          <p:cNvSpPr/>
          <p:nvPr/>
        </p:nvSpPr>
        <p:spPr>
          <a:xfrm>
            <a:off x="201168" y="2510028"/>
            <a:ext cx="3246120" cy="228600"/>
          </a:xfrm>
          <a:prstGeom prst="roundRect">
            <a:avLst/>
          </a:prstGeom>
          <a:solidFill>
            <a:srgbClr val="1E2761"/>
          </a:solidFill>
          <a:ln>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EXECUTE   </a:t>
            </a:r>
            <a:r>
              <a:rPr sz="750" b="0">
                <a:solidFill>
                  <a:srgbClr val="FFFFFF"/>
                </a:solidFill>
                <a:latin typeface="Times New Roman"/>
              </a:rPr>
              <a:t>L4   local Ollama, free tier or your own key + the agent tool loop</a:t>
            </a:r>
          </a:p>
        </p:txBody>
      </p:sp>
      <p:sp>
        <p:nvSpPr>
          <p:cNvPr id="200" name="Down Arrow 199"/>
          <p:cNvSpPr/>
          <p:nvPr/>
        </p:nvSpPr>
        <p:spPr>
          <a:xfrm>
            <a:off x="1783080" y="2749600"/>
            <a:ext cx="82296" cy="54864"/>
          </a:xfrm>
          <a:prstGeom prst="downArrow">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Rounded Rectangle 200"/>
          <p:cNvSpPr/>
          <p:nvPr/>
        </p:nvSpPr>
        <p:spPr>
          <a:xfrm>
            <a:off x="201168" y="2816352"/>
            <a:ext cx="3246120" cy="228600"/>
          </a:xfrm>
          <a:prstGeom prst="roundRect">
            <a:avLst/>
          </a:prstGeom>
          <a:solidFill>
            <a:srgbClr val="36454F"/>
          </a:solidFill>
          <a:ln>
            <a:solidFill>
              <a:srgbClr val="36454F"/>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1">
                <a:solidFill>
                  <a:srgbClr val="FFFFFF"/>
                </a:solidFill>
                <a:latin typeface="Times New Roman"/>
              </a:rPr>
              <a:t>EDIT IN PLACE   </a:t>
            </a:r>
            <a:r>
              <a:rPr sz="750" b="0">
                <a:solidFill>
                  <a:srgbClr val="FFFFFF"/>
                </a:solidFill>
                <a:latin typeface="Times New Roman"/>
              </a:rPr>
              <a:t>L1   answer beside your work, then back into the app you came from</a:t>
            </a:r>
          </a:p>
        </p:txBody>
      </p:sp>
      <p:sp>
        <p:nvSpPr>
          <p:cNvPr id="202" name="TextBox 201"/>
          <p:cNvSpPr txBox="1"/>
          <p:nvPr/>
        </p:nvSpPr>
        <p:spPr>
          <a:xfrm>
            <a:off x="3529584" y="685800"/>
            <a:ext cx="1005840" cy="1920240"/>
          </a:xfrm>
          <a:prstGeom prst="rect">
            <a:avLst/>
          </a:prstGeom>
          <a:noFill/>
        </p:spPr>
        <p:txBody>
          <a:bodyPr wrap="square">
            <a:spAutoFit/>
          </a:bodyPr>
          <a:lstStyle/>
          <a:p>
            <a:r>
              <a:rPr sz="700" b="1">
                <a:solidFill>
                  <a:srgbClr val="028090"/>
                </a:solidFill>
                <a:latin typeface="Times New Roman"/>
              </a:rPr>
              <a:t>L2 and L3 are the contribution.</a:t>
            </a:r>
          </a:p>
          <a:p>
            <a:r>
              <a:rPr sz="700" b="0">
                <a:solidFill>
                  <a:srgbClr val="028090"/>
                </a:solidFill>
                <a:latin typeface="Times New Roman"/>
              </a:rPr>
              <a:t> </a:t>
            </a:r>
          </a:p>
          <a:p>
            <a:r>
              <a:rPr sz="700" b="0">
                <a:solidFill>
                  <a:srgbClr val="028090"/>
                </a:solidFill>
                <a:latin typeface="Times New Roman"/>
              </a:rPr>
              <a:t>L1 is already built and running.</a:t>
            </a:r>
          </a:p>
          <a:p>
            <a:r>
              <a:rPr sz="700" b="0">
                <a:solidFill>
                  <a:srgbClr val="028090"/>
                </a:solidFill>
                <a:latin typeface="Times New Roman"/>
              </a:rPr>
              <a:t> </a:t>
            </a:r>
          </a:p>
          <a:p>
            <a:r>
              <a:rPr sz="700" b="0">
                <a:solidFill>
                  <a:srgbClr val="028090"/>
                </a:solidFill>
                <a:latin typeface="Times New Roman"/>
              </a:rPr>
              <a:t>L4 is what makes it free.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Layer 1 - Three Triggers, Two Capture Paths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14</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T1 - Global hotkey.</a:t>
            </a:r>
            <a:r>
              <a:rPr lang="en-US" sz="1000" b="0" dirty="0">
                <a:latin typeface="Times New Roman" panose="02020603050405020304" pitchFamily="18" charset="0"/>
                <a:cs typeface="Times New Roman" panose="02020603050405020304" pitchFamily="18" charset="0"/>
              </a:rPr>
              <a:t> Win32 RegisterHotKey gives a system-wide shortcut that fires regardless of which application has focus. Rust: tauri-plugin-global-shortcut, a first-party Tauri v2 plugin.</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T2 - Read the current selection. The hard one, so it has two paths.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Path A - UI Automation.</a:t>
            </a:r>
            <a:r>
              <a:rPr lang="en-US" sz="1000" b="0" dirty="0">
                <a:latin typeface="Times New Roman" panose="02020603050405020304" pitchFamily="18" charset="0"/>
                <a:cs typeface="Times New Roman" panose="02020603050405020304" pitchFamily="18" charset="0"/>
              </a:rPr>
              <a:t> GetFocusedElement, TextPattern, GetSelection, GetText. This is the documented Windows accessibility framework that exists so screen readers can do exactly this. A supported path, not a hack.</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Path B - clipboard round-trip.</a:t>
            </a:r>
            <a:r>
              <a:rPr lang="en-US" sz="1000" b="0" dirty="0">
                <a:latin typeface="Times New Roman" panose="02020603050405020304" pitchFamily="18" charset="0"/>
                <a:cs typeface="Times New Roman" panose="02020603050405020304" pitchFamily="18" charset="0"/>
              </a:rPr>
              <a:t> Save the clipboard, write a unique sentinel, send Ctrl+C, poll until it changes, restore the original. Less elegant, works essentially everywhere.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Design rule:</a:t>
            </a:r>
            <a:r>
              <a:rPr lang="en-US" sz="1000" b="0" dirty="0">
                <a:latin typeface="Times New Roman" panose="02020603050405020304" pitchFamily="18" charset="0"/>
                <a:cs typeface="Times New Roman" panose="02020603050405020304" pitchFamily="18" charset="0"/>
              </a:rPr>
              <a:t> try A, fall back to B, and log which one worked per application. That per-app coverage table is a deliverable - no competitor publishes one.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T3 - Screenshot.</a:t>
            </a:r>
            <a:r>
              <a:rPr lang="en-US" sz="1000" b="0" dirty="0">
                <a:latin typeface="Times New Roman" panose="02020603050405020304" pitchFamily="18" charset="0"/>
                <a:cs typeface="Times New Roman" panose="02020603050405020304" pitchFamily="18" charset="0"/>
              </a:rPr>
              <a:t> Transparent full-screen overlay, drag a region, capture, optional OCR.</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Layer 1 - Edit In Place, and Why There Is No Plugin</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15</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This is what separates PERCH from a chat window.</a:t>
            </a:r>
            <a:r>
              <a:rPr lang="en-US" sz="1050" b="0" dirty="0">
                <a:latin typeface="Times New Roman" panose="02020603050405020304" pitchFamily="18" charset="0"/>
                <a:cs typeface="Times New Roman" panose="02020603050405020304" pitchFamily="18" charset="0"/>
              </a:rPr>
              <a:t> A chat window can only hand you text to copy. PERCH writes the answer back into the application you came from.</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The mechanism:</a:t>
            </a:r>
            <a:r>
              <a:rPr lang="en-US" sz="1050" b="0" dirty="0">
                <a:latin typeface="Times New Roman" panose="02020603050405020304" pitchFamily="18" charset="0"/>
                <a:cs typeface="Times New Roman" panose="02020603050405020304" pitchFamily="18" charset="0"/>
              </a:rPr>
              <a:t> put the answer on the clipboard, restore focus to the original window using the HWND saved at trigger time, send Ctrl+V, then restore the user's previous clipboard.</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Why replacement needs no app-specific integration:</a:t>
            </a:r>
            <a:r>
              <a:rPr lang="en-US" sz="1050" b="0" dirty="0">
                <a:latin typeface="Times New Roman" panose="02020603050405020304" pitchFamily="18" charset="0"/>
                <a:cs typeface="Times New Roman" panose="02020603050405020304" pitchFamily="18" charset="0"/>
              </a:rPr>
              <a:t> in every text field on Windows, pasting while text is selected replaces that text. We use behaviour every text field already has.</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Three actions:</a:t>
            </a:r>
            <a:r>
              <a:rPr lang="en-US" sz="1050" b="0" dirty="0">
                <a:latin typeface="Times New Roman" panose="02020603050405020304" pitchFamily="18" charset="0"/>
                <a:cs typeface="Times New Roman" panose="02020603050405020304" pitchFamily="18" charset="0"/>
              </a:rPr>
              <a:t> Replace overwrites the selection, Insert after appends below it, Copy only changes nothing. If Windows refuses the focus change we do not paste - landing in the wrong window is worse than not pasting.</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Rejected alternative - per-application plugins.</a:t>
            </a:r>
            <a:r>
              <a:rPr lang="en-US" sz="1050" b="0" dirty="0">
                <a:latin typeface="Times New Roman" panose="02020603050405020304" pitchFamily="18" charset="0"/>
                <a:cs typeface="Times New Roman" panose="02020603050405020304" pitchFamily="18" charset="0"/>
              </a:rPr>
              <a:t> An Office add-in, a VS Code extension and a browser extension mean N integrations, N review processes, and it only works where we shipped.</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What Already Runs - The Prototype</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16</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We built the risky layer first, then the pipeline on top of it.</a:t>
            </a:r>
            <a:r>
              <a:rPr lang="en-US" sz="1000" b="0" dirty="0">
                <a:latin typeface="Times New Roman" panose="02020603050405020304" pitchFamily="18" charset="0"/>
                <a:cs typeface="Times New Roman" panose="02020603050405020304" pitchFamily="18" charset="0"/>
              </a:rPr>
              <a:t> The application and agent layers are familiar work; whether a desktop app can genuinely reach into other applications was not. It can, and it is running.</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OS layer, verified:</a:t>
            </a:r>
            <a:r>
              <a:rPr lang="en-US" sz="1000" b="0" dirty="0">
                <a:latin typeface="Times New Roman" panose="02020603050405020304" pitchFamily="18" charset="0"/>
                <a:cs typeface="Times New Roman" panose="02020603050405020304" pitchFamily="18" charset="0"/>
              </a:rPr>
              <a:t> system-wide hotkey; selection read from other applications via UI Automation with clipboard fallback; region screenshot; panel docked beside the host window via GetForegroundWindow and GetWindowRect; focus restore and paste-back.</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Agent layer, running:</a:t>
            </a:r>
            <a:r>
              <a:rPr lang="en-US" sz="1000" b="0" dirty="0">
                <a:latin typeface="Times New Roman" panose="02020603050405020304" pitchFamily="18" charset="0"/>
                <a:cs typeface="Times New Roman" panose="02020603050405020304" pitchFamily="18" charset="0"/>
              </a:rPr>
              <a:t> six typed memory classes stored as Markdown with a SQLite index; intent and class routing; ranker; admission scorer; budget packer; model registry with local and cloud routes; and a tool surface covering web, files, documents, OCR and Python.</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Verification:</a:t>
            </a:r>
            <a:r>
              <a:rPr lang="en-US" sz="1000" b="0" dirty="0">
                <a:latin typeface="Times New Roman" panose="02020603050405020304" pitchFamily="18" charset="0"/>
                <a:cs typeface="Times New Roman" panose="02020603050405020304" pitchFamily="18" charset="0"/>
              </a:rPr>
              <a:t> 21 tests pass with no model, no GPU and no network. The ablation runs on a seeded memory set and prints every routing, ranking and admission decision.</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Nothing here needs a driver, a kernel hook, an OS modification or a special permission.</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Layer 3 - Six Memory Classes, Open Tags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17</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The design rule: few classes, many tags.</a:t>
            </a:r>
            <a:r>
              <a:rPr lang="en-US" sz="950" b="0" dirty="0">
                <a:latin typeface="Times New Roman" panose="02020603050405020304" pitchFamily="18" charset="0"/>
                <a:cs typeface="Times New Roman" panose="02020603050405020304" pitchFamily="18" charset="0"/>
              </a:rPr>
              <a:t> A class is a routing decision, and every class we add is another chance for the router to be wrong. Fine distinctions go in tags, which only refine ranking inside an already-chosen class and cannot cause a routing miss.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Identity</a:t>
            </a:r>
            <a:r>
              <a:rPr lang="en-US" sz="950" b="0" dirty="0">
                <a:latin typeface="Times New Roman" panose="02020603050405020304" pitchFamily="18" charset="0"/>
                <a:cs typeface="Times New Roman" panose="02020603050405020304" pitchFamily="18" charset="0"/>
              </a:rPr>
              <a:t> - who you are, how you want answers written, standing instructions. Small, cheap, and relevant to almost everything.</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Project</a:t>
            </a:r>
            <a:r>
              <a:rPr lang="en-US" sz="950" b="0" dirty="0">
                <a:latin typeface="Times New Roman" panose="02020603050405020304" pitchFamily="18" charset="0"/>
                <a:cs typeface="Times New Roman" panose="02020603050405020304" pitchFamily="18" charset="0"/>
              </a:rPr>
              <a:t> - purpose, stack, architecture decisions and why, problems and how each was fixed, timeline, results, open items.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Academic</a:t>
            </a:r>
            <a:r>
              <a:rPr lang="en-US" sz="950" b="0" dirty="0">
                <a:latin typeface="Times New Roman" panose="02020603050405020304" pitchFamily="18" charset="0"/>
                <a:cs typeface="Times New Roman" panose="02020603050405020304" pitchFamily="18" charset="0"/>
              </a:rPr>
              <a:t> - institution, semester, subjects, assessment format, conventions, deadlines.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Career</a:t>
            </a:r>
            <a:r>
              <a:rPr lang="en-US" sz="950" b="0" dirty="0">
                <a:latin typeface="Times New Roman" panose="02020603050405020304" pitchFamily="18" charset="0"/>
                <a:cs typeface="Times New Roman" panose="02020603050405020304" pitchFamily="18" charset="0"/>
              </a:rPr>
              <a:t> - roles, skills, applications, interviews, targets.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Health and Personal</a:t>
            </a:r>
            <a:r>
              <a:rPr lang="en-US" sz="950" b="0" dirty="0">
                <a:latin typeface="Times New Roman" panose="02020603050405020304" pitchFamily="18" charset="0"/>
                <a:cs typeface="Times New Roman" panose="02020603050405020304" pitchFamily="18" charset="0"/>
              </a:rPr>
              <a:t> - conditions, medications, allergies; relationships, preferences, commitments. Both are private by default, so the type system doubles as the privacy primitive.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Storage:</a:t>
            </a:r>
            <a:r>
              <a:rPr lang="en-US" sz="950" b="0" dirty="0">
                <a:latin typeface="Times New Roman" panose="02020603050405020304" pitchFamily="18" charset="0"/>
                <a:cs typeface="Times New Roman" panose="02020603050405020304" pitchFamily="18" charset="0"/>
              </a:rPr>
              <a:t> one Markdown file per item with YAML frontmatter. The files are the truth; the SQLite vector index is derived and rebuildable. Memory you cannot read is memory you cannot trust.</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Layer 3 - Importing What Is Stranded in Your Other AIs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18</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Three import paths, in order of value.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1. Platform export - the primary one.</a:t>
            </a:r>
            <a:r>
              <a:rPr lang="en-US" sz="950" b="0" dirty="0">
                <a:latin typeface="Times New Roman" panose="02020603050405020304" pitchFamily="18" charset="0"/>
                <a:cs typeface="Times New Roman" panose="02020603050405020304" pitchFamily="18" charset="0"/>
              </a:rPr>
              <a:t> Drop the emailed archive in. PERCH parses it locally, segments sessions, runs class-typed extraction, and presents proposed items for review. Nothing is stored until you accept it.</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2. Live</a:t>
            </a:r>
            <a:r>
              <a:rPr lang="en-US" sz="950" b="0" dirty="0">
                <a:latin typeface="Times New Roman" panose="02020603050405020304" pitchFamily="18" charset="0"/>
                <a:cs typeface="Times New Roman" panose="02020603050405020304" pitchFamily="18" charset="0"/>
              </a:rPr>
              <a:t> - you tell PERCH something and mark it worth keeping.</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3. Extraction prompt</a:t>
            </a:r>
            <a:r>
              <a:rPr lang="en-US" sz="950" b="0" dirty="0">
                <a:latin typeface="Times New Roman" panose="02020603050405020304" pitchFamily="18" charset="0"/>
                <a:cs typeface="Times New Roman" panose="02020603050405020304" pitchFamily="18" charset="0"/>
              </a:rPr>
              <a:t> - for one specific session, or a platform with no export. Paste the class prompt in, paste the structured block back.</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One contract, six schemas.</a:t>
            </a:r>
            <a:r>
              <a:rPr lang="en-US" sz="950" b="0" dirty="0">
                <a:latin typeface="Times New Roman" panose="02020603050405020304" pitchFamily="18" charset="0"/>
                <a:cs typeface="Times New Roman" panose="02020603050405020304" pitchFamily="18" charset="0"/>
              </a:rPr>
              <a:t> The output format is fixed and identical for every class so the importer can parse it; the schema - what the body must cover - is chosen by the user before extraction. One vague prompt returns prose that cannot be typed or gated; six unrelated prompts produce six incompatible formats.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The user picking the class is what makes the item typed at the source</a:t>
            </a:r>
            <a:r>
              <a:rPr lang="en-US" sz="950" b="0" dirty="0">
                <a:latin typeface="Times New Roman" panose="02020603050405020304" pitchFamily="18" charset="0"/>
                <a:cs typeface="Times New Roman" panose="02020603050405020304" pitchFamily="18" charset="0"/>
              </a:rPr>
              <a:t>, and typing at the source is what makes the admission gate auditable instead of learned.</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Scale is bounded by design:</a:t>
            </a:r>
            <a:r>
              <a:rPr lang="en-US" sz="950" b="0" dirty="0">
                <a:latin typeface="Times New Roman" panose="02020603050405020304" pitchFamily="18" charset="0"/>
                <a:cs typeface="Times New Roman" panose="02020603050405020304" pitchFamily="18" charset="0"/>
              </a:rPr>
              <a:t> near-duplicates merge above cosine 0.92 rather than accumulating, each class has an item ceiling, and nothing is stored silently.</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Where It Pays Off - One Example Per Class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19</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Identity</a:t>
            </a:r>
            <a:r>
              <a:rPr lang="en-US" sz="950" b="0" dirty="0">
                <a:latin typeface="Times New Roman" panose="02020603050405020304" pitchFamily="18" charset="0"/>
                <a:cs typeface="Times New Roman" panose="02020603050405020304" pitchFamily="18" charset="0"/>
              </a:rPr>
              <a:t> - every assistant must be told, every session, how you write. Stored once, applied in every application, including offline.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Academic</a:t>
            </a:r>
            <a:r>
              <a:rPr lang="en-US" sz="950" b="0" dirty="0">
                <a:latin typeface="Times New Roman" panose="02020603050405020304" pitchFamily="18" charset="0"/>
                <a:cs typeface="Times New Roman" panose="02020603050405020304" pitchFamily="18" charset="0"/>
              </a:rPr>
              <a:t> - select a dense paragraph in a course PDF and ask how it connects to the optimisation unit. PERCH knows your syllabus, semester and department. ChatGPT does not, and you would describe it again next week.</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Project</a:t>
            </a:r>
            <a:r>
              <a:rPr lang="en-US" sz="950" b="0" dirty="0">
                <a:latin typeface="Times New Roman" panose="02020603050405020304" pitchFamily="18" charset="0"/>
                <a:cs typeface="Times New Roman" panose="02020603050405020304" pitchFamily="18" charset="0"/>
              </a:rPr>
              <a:t> - select a stack trace in your IDE. PERCH knows the stack, the architecture decision that caused it, and that you fixed the same async-context problem in March.</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Career</a:t>
            </a:r>
            <a:r>
              <a:rPr lang="en-US" sz="950" b="0" dirty="0">
                <a:latin typeface="Times New Roman" panose="02020603050405020304" pitchFamily="18" charset="0"/>
                <a:cs typeface="Times New Roman" panose="02020603050405020304" pitchFamily="18" charset="0"/>
              </a:rPr>
              <a:t> - a recruiter emails. Trigger in the reply window: Career supplies target roles, Project supplies what you actually built, Identity supplies the tone.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Health</a:t>
            </a:r>
            <a:r>
              <a:rPr lang="en-US" sz="950" b="0" dirty="0">
                <a:latin typeface="Times New Roman" panose="02020603050405020304" pitchFamily="18" charset="0"/>
                <a:cs typeface="Times New Roman" panose="02020603050405020304" pitchFamily="18" charset="0"/>
              </a:rPr>
              <a:t> - a prescription changes and you want to prepare questions. This is answered by the local model with zero bytes leaving the machine. It is not a better-answer argument, it is the only version of this that is acceptable to run at all.</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The cross-class case no other AI can do:</a:t>
            </a:r>
            <a:r>
              <a:rPr lang="en-US" sz="950" b="0" dirty="0">
                <a:latin typeface="Times New Roman" panose="02020603050405020304" pitchFamily="18" charset="0"/>
                <a:cs typeface="Times New Roman" panose="02020603050405020304" pitchFamily="18" charset="0"/>
              </a:rPr>
              <a:t> a statement of purpose needs Identity, Academic, Project and Career at once. No other assistant has all four, because no other assistant is allowed to.</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The Failure Every Memory System Ships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20</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scenario.</a:t>
            </a:r>
            <a:r>
              <a:rPr lang="en-US" sz="1000" b="0" dirty="0">
                <a:latin typeface="Times New Roman" panose="02020603050405020304" pitchFamily="18" charset="0"/>
                <a:cs typeface="Times New Roman" panose="02020603050405020304" pitchFamily="18" charset="0"/>
              </a:rPr>
              <a:t> You ask a question about your medication. Your memory holds no health items at all - the only place the word medical appears is an academic note saying your engineering campus shares a road with the group's medical college.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What a naive system does.</a:t>
            </a:r>
            <a:r>
              <a:rPr lang="en-US" sz="1000" b="0" dirty="0">
                <a:latin typeface="Times New Roman" panose="02020603050405020304" pitchFamily="18" charset="0"/>
                <a:cs typeface="Times New Roman" panose="02020603050405020304" pitchFamily="18" charset="0"/>
              </a:rPr>
              <a:t> Semantic search returns the college item, the ranker makes it rank one because it is the best of what exists, and the assistant answers a medical question with your college details.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This is named and measured in the 2026 literature.</a:t>
            </a:r>
            <a:r>
              <a:rPr lang="en-US" sz="1000" b="0" dirty="0">
                <a:latin typeface="Times New Roman" panose="02020603050405020304" pitchFamily="18" charset="0"/>
                <a:cs typeface="Times New Roman" panose="02020603050405020304" pitchFamily="18" charset="0"/>
              </a:rPr>
              <a:t> MemGate calls it cross-domain leakage - a memory unit that satisfies the semantic ranking criteria but violates contextual admissibility - and reports it at 27.0% before mitigation.</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OP-Bench measures the damage.</a:t>
            </a:r>
            <a:r>
              <a:rPr lang="en-US" sz="1000" b="0" dirty="0">
                <a:latin typeface="Times New Roman" panose="02020603050405020304" pitchFamily="18" charset="0"/>
                <a:cs typeface="Times New Roman" panose="02020603050405020304" pitchFamily="18" charset="0"/>
              </a:rPr>
              <a:t> Systems retrieve at ~80% similarity even in deliberately baited cases, attend to memory tokens twice as much as to the user's own query, and score 26.2% to 61.1% worse than memory-free baselines.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consequence for this project:</a:t>
            </a:r>
            <a:r>
              <a:rPr lang="en-US" sz="1000" b="0" dirty="0">
                <a:latin typeface="Times New Roman" panose="02020603050405020304" pitchFamily="18" charset="0"/>
                <a:cs typeface="Times New Roman" panose="02020603050405020304" pitchFamily="18" charset="0"/>
              </a:rPr>
              <a:t> retrieval that does not know when to stay quiet is a liability, not a feature. An admission gate is not a refinement - it is what makes memory a net positive at all.</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Contribution 2 - The Ranker and the Admission Scorer</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21</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Ranking is relative. Injection must be absolute.</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The ranker</a:t>
            </a:r>
            <a:r>
              <a:rPr lang="en-US" sz="900" b="0" dirty="0">
                <a:latin typeface="Times New Roman" panose="02020603050405020304" pitchFamily="18" charset="0"/>
                <a:cs typeface="Times New Roman" panose="02020603050405020304" pitchFamily="18" charset="0"/>
              </a:rPr>
              <a:t> orders candidates by similarity to the question and selection, tag overlap, entity match, recency and use, and a per-class prior. Its output is an ORDER - and an order says nothing about whether the best item is any good.</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The admission scorer</a:t>
            </a:r>
            <a:r>
              <a:rPr lang="en-US" sz="900" b="0" dirty="0">
                <a:latin typeface="Times New Roman" panose="02020603050405020304" pitchFamily="18" charset="0"/>
                <a:cs typeface="Times New Roman" panose="02020603050405020304" pitchFamily="18" charset="0"/>
              </a:rPr>
              <a:t> then applies two different tests. An absolute floor per class: if a class's best candidate scores below its floor, that class contributes NOTHING, rather than the best of a bad lot. And a margin test inside an admitted class, because an item far below that class's best is filler, and filler is what burns budget.</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If no class is admitted, PERCH abstains</a:t>
            </a:r>
            <a:r>
              <a:rPr lang="en-US" sz="900" b="0" dirty="0">
                <a:latin typeface="Times New Roman" panose="02020603050405020304" pitchFamily="18" charset="0"/>
                <a:cs typeface="Times New Roman" panose="02020603050405020304" pitchFamily="18" charset="0"/>
              </a:rPr>
              <a:t> - it answers from general knowledge and says it has nothing stored. LongMemEval scores abstention as an ability, so this is measurable.</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Prior art, cited by us first.</a:t>
            </a:r>
            <a:r>
              <a:rPr lang="en-US" sz="900" b="0" dirty="0">
                <a:latin typeface="Times New Roman" panose="02020603050405020304" pitchFamily="18" charset="0"/>
                <a:cs typeface="Times New Roman" panose="02020603050405020304" pitchFamily="18" charset="0"/>
              </a:rPr>
              <a:t> MemGate does this with a learned neural gate; CRAG with a retrieval evaluator and threshold; Self-RAG with trained reflection tokens. We did not invent gating.</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What is ours:</a:t>
            </a:r>
            <a:r>
              <a:rPr lang="en-US" sz="900" b="0" dirty="0">
                <a:latin typeface="Times New Roman" panose="02020603050405020304" pitchFamily="18" charset="0"/>
                <a:cs typeface="Times New Roman" panose="02020603050405020304" pitchFamily="18" charset="0"/>
              </a:rPr>
              <a:t> the gate is declarative, not learned. The class is assigned at import time, the floor is per class, and every drop carries a reason. A learned gate cannot tell you why it dropped your memory; a personal agent has to be able to.</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The Ablation - What We Measured</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22</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graphicFrame>
        <p:nvGraphicFramePr>
          <p:cNvPr id="103" name="Table 102"/>
          <p:cNvGraphicFramePr>
            <a:graphicFrameLocks noGrp="1"/>
          </p:cNvGraphicFramePr>
          <p:nvPr/>
        </p:nvGraphicFramePr>
        <p:xfrm>
          <a:off x="109728" y="457200"/>
          <a:ext cx="4389120" cy="987552"/>
        </p:xfrm>
        <a:graphic>
          <a:graphicData uri="http://schemas.openxmlformats.org/drawingml/2006/table">
            <a:tbl>
              <a:tblPr firstRow="1" bandRow="0">
                <a:tableStyleId>{5940675A-B579-460E-94D1-54222C63F5DA}</a:tableStyleId>
              </a:tblPr>
              <a:tblGrid>
                <a:gridCol w="2103120"/>
                <a:gridCol w="1143000"/>
                <a:gridCol w="1143000"/>
              </a:tblGrid>
              <a:tr h="274320">
                <a:tc>
                  <a:txBody>
                    <a:bodyPr/>
                    <a:lstStyle/>
                    <a:p>
                      <a:pPr algn="l"/>
                      <a:r>
                        <a:rPr sz="750" b="1">
                          <a:solidFill>
                            <a:srgbClr val="FFFFFF"/>
                          </a:solidFill>
                          <a:latin typeface="Times New Roman"/>
                        </a:rPr>
                        <a:t>Configuration</a:t>
                      </a:r>
                    </a:p>
                  </a:txBody>
                  <a:tcPr marL="20000" marR="20000" marT="9000" marB="9000">
                    <a:solidFill>
                      <a:srgbClr val="1F2A44"/>
                    </a:solidFill>
                  </a:tcPr>
                </a:tc>
                <a:tc>
                  <a:txBody>
                    <a:bodyPr/>
                    <a:lstStyle/>
                    <a:p>
                      <a:pPr algn="ctr"/>
                      <a:r>
                        <a:rPr sz="750" b="1">
                          <a:solidFill>
                            <a:srgbClr val="FFFFFF"/>
                          </a:solidFill>
                          <a:latin typeface="Times New Roman"/>
                        </a:rPr>
                        <a:t>Leaked items</a:t>
                      </a:r>
                    </a:p>
                  </a:txBody>
                  <a:tcPr marL="20000" marR="20000" marT="9000" marB="9000">
                    <a:solidFill>
                      <a:srgbClr val="1F2A44"/>
                    </a:solidFill>
                  </a:tcPr>
                </a:tc>
                <a:tc>
                  <a:txBody>
                    <a:bodyPr/>
                    <a:lstStyle/>
                    <a:p>
                      <a:pPr algn="ctr"/>
                      <a:r>
                        <a:rPr sz="750" b="1">
                          <a:solidFill>
                            <a:srgbClr val="FFFFFF"/>
                          </a:solidFill>
                          <a:latin typeface="Times New Roman"/>
                        </a:rPr>
                        <a:t>Useful context kept</a:t>
                      </a:r>
                    </a:p>
                  </a:txBody>
                  <a:tcPr marL="20000" marR="20000" marT="9000" marB="9000">
                    <a:solidFill>
                      <a:srgbClr val="1F2A44"/>
                    </a:solidFill>
                  </a:tcPr>
                </a:tc>
              </a:tr>
              <a:tr h="237744">
                <a:tc>
                  <a:txBody>
                    <a:bodyPr/>
                    <a:lstStyle/>
                    <a:p>
                      <a:pPr algn="l"/>
                      <a:r>
                        <a:rPr sz="850" b="1">
                          <a:solidFill>
                            <a:srgbClr val="1A1A1A"/>
                          </a:solidFill>
                          <a:latin typeface="Times New Roman"/>
                        </a:rPr>
                        <a:t>A   naive global top-k, no gate</a:t>
                      </a:r>
                    </a:p>
                  </a:txBody>
                  <a:tcPr marL="20000" marR="20000" marT="9000" marB="9000">
                    <a:solidFill>
                      <a:srgbClr val="F4F5F7"/>
                    </a:solidFill>
                  </a:tcPr>
                </a:tc>
                <a:tc>
                  <a:txBody>
                    <a:bodyPr/>
                    <a:lstStyle/>
                    <a:p>
                      <a:pPr algn="ctr"/>
                      <a:r>
                        <a:rPr sz="850" b="0">
                          <a:solidFill>
                            <a:srgbClr val="1A1A1A"/>
                          </a:solidFill>
                          <a:latin typeface="Times New Roman"/>
                        </a:rPr>
                        <a:t>8</a:t>
                      </a:r>
                    </a:p>
                  </a:txBody>
                  <a:tcPr marL="20000" marR="20000" marT="9000" marB="9000">
                    <a:solidFill>
                      <a:srgbClr val="F4F5F7"/>
                    </a:solidFill>
                  </a:tcPr>
                </a:tc>
                <a:tc>
                  <a:txBody>
                    <a:bodyPr/>
                    <a:lstStyle/>
                    <a:p>
                      <a:pPr algn="ctr"/>
                      <a:r>
                        <a:rPr sz="850" b="0">
                          <a:solidFill>
                            <a:srgbClr val="1A1A1A"/>
                          </a:solidFill>
                          <a:latin typeface="Times New Roman"/>
                        </a:rPr>
                        <a:t>3 / 3</a:t>
                      </a:r>
                    </a:p>
                  </a:txBody>
                  <a:tcPr marL="20000" marR="20000" marT="9000" marB="9000">
                    <a:solidFill>
                      <a:srgbClr val="F4F5F7"/>
                    </a:solidFill>
                  </a:tcPr>
                </a:tc>
              </a:tr>
              <a:tr h="237744">
                <a:tc>
                  <a:txBody>
                    <a:bodyPr/>
                    <a:lstStyle/>
                    <a:p>
                      <a:pPr algn="l"/>
                      <a:r>
                        <a:rPr sz="850" b="1">
                          <a:solidFill>
                            <a:srgbClr val="1A1A1A"/>
                          </a:solidFill>
                          <a:latin typeface="Times New Roman"/>
                        </a:rPr>
                        <a:t>B   one global threshold</a:t>
                      </a:r>
                    </a:p>
                  </a:txBody>
                  <a:tcPr marL="20000" marR="20000" marT="9000" marB="9000">
                    <a:solidFill>
                      <a:srgbClr val="FFFFFF"/>
                    </a:solidFill>
                  </a:tcPr>
                </a:tc>
                <a:tc>
                  <a:txBody>
                    <a:bodyPr/>
                    <a:lstStyle/>
                    <a:p>
                      <a:pPr algn="ctr"/>
                      <a:r>
                        <a:rPr sz="850" b="0">
                          <a:solidFill>
                            <a:srgbClr val="1A1A1A"/>
                          </a:solidFill>
                          <a:latin typeface="Times New Roman"/>
                        </a:rPr>
                        <a:t>0</a:t>
                      </a:r>
                    </a:p>
                  </a:txBody>
                  <a:tcPr marL="20000" marR="20000" marT="9000" marB="9000">
                    <a:solidFill>
                      <a:srgbClr val="FFFFFF"/>
                    </a:solidFill>
                  </a:tcPr>
                </a:tc>
                <a:tc>
                  <a:txBody>
                    <a:bodyPr/>
                    <a:lstStyle/>
                    <a:p>
                      <a:pPr algn="ctr"/>
                      <a:r>
                        <a:rPr sz="850" b="0">
                          <a:solidFill>
                            <a:srgbClr val="1A1A1A"/>
                          </a:solidFill>
                          <a:latin typeface="Times New Roman"/>
                        </a:rPr>
                        <a:t>2 / 3</a:t>
                      </a:r>
                    </a:p>
                  </a:txBody>
                  <a:tcPr marL="20000" marR="20000" marT="9000" marB="9000">
                    <a:solidFill>
                      <a:srgbClr val="FFFFFF"/>
                    </a:solidFill>
                  </a:tcPr>
                </a:tc>
              </a:tr>
              <a:tr h="237744">
                <a:tc>
                  <a:txBody>
                    <a:bodyPr/>
                    <a:lstStyle/>
                    <a:p>
                      <a:pPr algn="l"/>
                      <a:r>
                        <a:rPr sz="850" b="1">
                          <a:solidFill>
                            <a:srgbClr val="1A1A1A"/>
                          </a:solidFill>
                          <a:latin typeface="Times New Roman"/>
                        </a:rPr>
                        <a:t>C   ours: class routing + per-class floors</a:t>
                      </a:r>
                    </a:p>
                  </a:txBody>
                  <a:tcPr marL="20000" marR="20000" marT="9000" marB="9000">
                    <a:solidFill>
                      <a:srgbClr val="E7F3EA"/>
                    </a:solidFill>
                  </a:tcPr>
                </a:tc>
                <a:tc>
                  <a:txBody>
                    <a:bodyPr/>
                    <a:lstStyle/>
                    <a:p>
                      <a:pPr algn="ctr"/>
                      <a:r>
                        <a:rPr sz="850" b="1">
                          <a:solidFill>
                            <a:srgbClr val="1A1A1A"/>
                          </a:solidFill>
                          <a:latin typeface="Times New Roman"/>
                        </a:rPr>
                        <a:t>0</a:t>
                      </a:r>
                    </a:p>
                  </a:txBody>
                  <a:tcPr marL="20000" marR="20000" marT="9000" marB="9000">
                    <a:solidFill>
                      <a:srgbClr val="E7F3EA"/>
                    </a:solidFill>
                  </a:tcPr>
                </a:tc>
                <a:tc>
                  <a:txBody>
                    <a:bodyPr/>
                    <a:lstStyle/>
                    <a:p>
                      <a:pPr algn="ctr"/>
                      <a:r>
                        <a:rPr sz="850" b="1">
                          <a:solidFill>
                            <a:srgbClr val="1A1A1A"/>
                          </a:solidFill>
                          <a:latin typeface="Times New Roman"/>
                        </a:rPr>
                        <a:t>3 / 3</a:t>
                      </a:r>
                    </a:p>
                  </a:txBody>
                  <a:tcPr marL="20000" marR="20000" marT="9000" marB="9000">
                    <a:solidFill>
                      <a:srgbClr val="E7F3EA"/>
                    </a:solidFill>
                  </a:tcPr>
                </a:tc>
              </a:tr>
            </a:tbl>
          </a:graphicData>
        </a:graphic>
      </p:graphicFrame>
      <p:sp>
        <p:nvSpPr>
          <p:cNvPr id="104" name="TextBox 103"/>
          <p:cNvSpPr txBox="1"/>
          <p:nvPr/>
        </p:nvSpPr>
        <p:spPr>
          <a:xfrm>
            <a:off x="109728" y="1554480"/>
            <a:ext cx="4389120" cy="914400"/>
          </a:xfrm>
          <a:prstGeom prst="rect">
            <a:avLst/>
          </a:prstGeom>
          <a:noFill/>
        </p:spPr>
        <p:txBody>
          <a:bodyPr wrap="square">
            <a:spAutoFit/>
          </a:bodyPr>
          <a:lstStyle/>
          <a:p>
            <a:r>
              <a:rPr b="1" sz="900">
                <a:latin typeface="Times New Roman"/>
              </a:rPr>
              <a:t>Run it yourself: python -m app ablate.</a:t>
            </a:r>
            <a:r>
              <a:rPr b="0" sz="900">
                <a:latin typeface="Times New Roman"/>
              </a:rPr>
              <a:t> Five queries against a seeded memory that contains no health items at all - the only mention of "medical" is an academic note about the campus.</a:t>
            </a:r>
          </a:p>
          <a:p>
            <a:r>
              <a:rPr b="1" sz="900">
                <a:latin typeface="Times New Roman"/>
              </a:rPr>
              <a:t>A is what most memory systems do.</a:t>
            </a:r>
            <a:r>
              <a:rPr b="0" sz="900">
                <a:latin typeface="Times New Roman"/>
              </a:rPr>
              <a:t> It answers a question about your medication with your college details - eight irrelevant items injected.</a:t>
            </a:r>
          </a:p>
          <a:p>
            <a:r>
              <a:rPr b="1" sz="900">
                <a:latin typeface="Times New Roman"/>
              </a:rPr>
              <a:t>B is the interesting one.</a:t>
            </a:r>
            <a:r>
              <a:rPr b="0" sz="900">
                <a:latin typeface="Times New Roman"/>
              </a:rPr>
              <a:t> One global threshold stops the leak, but a threshold high enough to keep health memory out is also high enough to throw identity away, so "rewrite this more formally" stops sounding like you.</a:t>
            </a:r>
          </a:p>
          <a:p>
            <a:r>
              <a:rPr b="1" sz="900">
                <a:latin typeface="Times New Roman"/>
              </a:rPr>
              <a:t>C keeps both.</a:t>
            </a:r>
            <a:r>
              <a:rPr b="0" sz="900">
                <a:latin typeface="Times New Roman"/>
              </a:rPr>
              <a:t> Per-class floors are the reason - and every drop prints its own reason, which a learned gate cannot 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Contribution 1 - Budget Assembly Across Models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23</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formula:</a:t>
            </a:r>
            <a:r>
              <a:rPr lang="en-US" sz="1000" b="0" dirty="0">
                <a:latin typeface="Times New Roman" panose="02020603050405020304" pitchFamily="18" charset="0"/>
                <a:cs typeface="Times New Roman" panose="02020603050405020304" pitchFamily="18" charset="0"/>
              </a:rPr>
              <a:t> budget = context_window(model) minus reserves for the response, the system prompt and the tool schemas.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Fill order is a strict priority</a:t>
            </a:r>
            <a:r>
              <a:rPr lang="en-US" sz="1000" b="0" dirty="0">
                <a:latin typeface="Times New Roman" panose="02020603050405020304" pitchFamily="18" charset="0"/>
                <a:cs typeface="Times New Roman" panose="02020603050405020304" pitchFamily="18" charset="0"/>
              </a:rPr>
              <a:t> - system and identity always; the selection always, because it is why the user summoned us; recent conversation with oldest truncated first; then admitted memory into whatever remains; then tool results claimed from the same allowance.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Items enter whole or not at all.</a:t>
            </a:r>
            <a:r>
              <a:rPr lang="en-US" sz="1000" b="0" dirty="0">
                <a:latin typeface="Times New Roman" panose="02020603050405020304" pitchFamily="18" charset="0"/>
                <a:cs typeface="Times New Roman" panose="02020603050405020304" pitchFamily="18" charset="0"/>
              </a:rPr>
              <a:t> Half a project decision is worse than none - it reads as a confident, incomplete fact.</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This is what makes model choice real.</a:t>
            </a:r>
            <a:r>
              <a:rPr lang="en-US" sz="1000" b="0" dirty="0">
                <a:latin typeface="Times New Roman" panose="02020603050405020304" pitchFamily="18" charset="0"/>
                <a:cs typeface="Times New Roman" panose="02020603050405020304" pitchFamily="18" charset="0"/>
              </a:rPr>
              <a:t> Swap a local Qwen3 4B for a frontier API and the budget recomputes. Nothing else changes. One memory layer serves a 3 GB local model and a 200,000-token frontier model.</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Why this is research and not engineering.</a:t>
            </a:r>
            <a:r>
              <a:rPr lang="en-US" sz="1000" b="0" dirty="0">
                <a:latin typeface="Times New Roman" panose="02020603050405020304" pitchFamily="18" charset="0"/>
                <a:cs typeface="Times New Roman" panose="02020603050405020304" pitchFamily="18" charset="0"/>
              </a:rPr>
              <a:t> The 2026 externalization survey states that the context window remains the scarcest shared resource, with memory, skills, tool schemas and reasoning traces all competing for one finite budget - and calls it a harness-level coordination problem. It names the problem and leaves it open for this span.</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Private Mode - Declared, Never Inferred</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24</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Classification is the wrong answer here.</a:t>
            </a:r>
            <a:r>
              <a:rPr lang="en-US" sz="950" b="0" dirty="0">
                <a:latin typeface="Times New Roman" panose="02020603050405020304" pitchFamily="18" charset="0"/>
                <a:cs typeface="Times New Roman" panose="02020603050405020304" pitchFamily="18" charset="0"/>
              </a:rPr>
              <a:t> Deciding what is private from the content itself means a classifier whose false-negative cost is leaking a company secret to a cloud API. No accuracy figure makes that acceptable.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1. Per-request toggle.</a:t>
            </a:r>
            <a:r>
              <a:rPr lang="en-US" sz="950" b="0" dirty="0">
                <a:latin typeface="Times New Roman" panose="02020603050405020304" pitchFamily="18" charset="0"/>
                <a:cs typeface="Times New Roman" panose="02020603050405020304" pitchFamily="18" charset="0"/>
              </a:rPr>
              <a:t> A Private switch on the panel, visible before you send.</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2. Source rules - the useful one.</a:t>
            </a:r>
            <a:r>
              <a:rPr lang="en-US" sz="950" b="0" dirty="0">
                <a:latin typeface="Times New Roman" panose="02020603050405020304" pitchFamily="18" charset="0"/>
                <a:cs typeface="Times New Roman" panose="02020603050405020304" pitchFamily="18" charset="0"/>
              </a:rPr>
              <a:t> Declare a source private once: this application, this folder, or this window-title pattern. PERCH knows the source at capture time, so it never needs to understand the text, only where it came from. Deterministic, auditable, no model involved.</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3. Global default.</a:t>
            </a:r>
            <a:r>
              <a:rPr lang="en-US" sz="950" b="0" dirty="0">
                <a:latin typeface="Times New Roman" panose="02020603050405020304" pitchFamily="18" charset="0"/>
                <a:cs typeface="Times New Roman" panose="02020603050405020304" pitchFamily="18" charset="0"/>
              </a:rPr>
              <a:t> Local by default, escalate to cloud explicitly.</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4. Class-driven, free from the type system.</a:t>
            </a:r>
            <a:r>
              <a:rPr lang="en-US" sz="950" b="0" dirty="0">
                <a:latin typeface="Times New Roman" panose="02020603050405020304" pitchFamily="18" charset="0"/>
                <a:cs typeface="Times New Roman" panose="02020603050405020304" pitchFamily="18" charset="0"/>
              </a:rPr>
              <a:t> Health and Personal are private classes, so any request that admits one is forced local automatically, with the panel saying why.</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And private mode does not merely refuse the network tools - it never declares them.</a:t>
            </a:r>
            <a:r>
              <a:rPr lang="en-US" sz="950" b="0" dirty="0">
                <a:latin typeface="Times New Roman" panose="02020603050405020304" pitchFamily="18" charset="0"/>
                <a:cs typeface="Times New Roman" panose="02020603050405020304" pitchFamily="18" charset="0"/>
              </a:rPr>
              <a:t> A privacy guarantee that leaks through a search query is not a guarantee.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The demonstrable claim:</a:t>
            </a:r>
            <a:r>
              <a:rPr lang="en-US" sz="950" b="0" dirty="0">
                <a:latin typeface="Times New Roman" panose="02020603050405020304" pitchFamily="18" charset="0"/>
                <a:cs typeface="Times New Roman" panose="02020603050405020304" pitchFamily="18" charset="0"/>
              </a:rPr>
              <a:t> zero bytes leave the machine, provable with a packet capture.</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Layer 4 - Execution, Tools and the Cost Floor</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25</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Model registry.</a:t>
            </a:r>
            <a:r>
              <a:rPr lang="en-US" sz="1000" b="0" dirty="0">
                <a:latin typeface="Times New Roman" panose="02020603050405020304" pitchFamily="18" charset="0"/>
                <a:cs typeface="Times New Roman" panose="02020603050405020304" pitchFamily="18" charset="0"/>
              </a:rPr>
              <a:t> Each entry holds provider, endpoint, model id, context window, tool support and whether it is local. Everything upstream reads context_window from here.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full agent tool surface:</a:t>
            </a:r>
            <a:r>
              <a:rPr lang="en-US" sz="1000" b="0" dirty="0">
                <a:latin typeface="Times New Roman" panose="02020603050405020304" pitchFamily="18" charset="0"/>
                <a:cs typeface="Times New Roman" panose="02020603050405020304" pitchFamily="18" charset="0"/>
              </a:rPr>
              <a:t> web search and fetch; memory search, write, update and forget; file read, write, list and search within declared roots; PDF, DOCX and PPTX parsing; OCR; region capture, selection read, clipboard and paste-back; open path, URL and window; and sandboxed Python for arithmetic and data work.</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Tool policy:</a:t>
            </a:r>
            <a:r>
              <a:rPr lang="en-US" sz="1000" b="0" dirty="0">
                <a:latin typeface="Times New Roman" panose="02020603050405020304" pitchFamily="18" charset="0"/>
                <a:cs typeface="Times New Roman" panose="02020603050405020304" pitchFamily="18" charset="0"/>
              </a:rPr>
              <a:t> read is free, write asks and shows what it will do, every call is logged in the panel, and private mode removes the network tools entirely.</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Routes.</a:t>
            </a:r>
            <a:r>
              <a:rPr lang="en-US" sz="1000" b="0" dirty="0">
                <a:latin typeface="Times New Roman" panose="02020603050405020304" pitchFamily="18" charset="0"/>
                <a:cs typeface="Times New Roman" panose="02020603050405020304" pitchFamily="18" charset="0"/>
              </a:rPr>
              <a:t> Ollama on localhost - free, no rate limit, Qwen3 4B in about 3 GB. NVIDIA NIM - free key, no credit card, 100+ models. Or your own key.</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A student can run PERCH for zero rupees.</a:t>
            </a:r>
            <a:r>
              <a:rPr lang="en-US" sz="1000" b="0" dirty="0">
                <a:latin typeface="Times New Roman" panose="02020603050405020304" pitchFamily="18" charset="0"/>
                <a:cs typeface="Times New Roman" panose="02020603050405020304" pitchFamily="18" charset="0"/>
              </a:rPr>
              <a:t> That is the one thing a $50M-funded competitor structurally cannot match. Automatic adaptive routing is explicitly v2.</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Technologies Used</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26</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Shell - Tauri v2.</a:t>
            </a:r>
            <a:r>
              <a:rPr lang="en-US" sz="1050" b="0" dirty="0">
                <a:latin typeface="Times New Roman" panose="02020603050405020304" pitchFamily="18" charset="0"/>
                <a:cs typeface="Times New Roman" panose="02020603050405020304" pitchFamily="18" charset="0"/>
              </a:rPr>
              <a:t> 30-50 MB idle against Electron's 150-300 MB, sub-10 MB installer against 100 MB+. PERCH is always running, so a background assistant idling at 250 MB is one users uninstall. Hoppscotch's migration went 165 MB to 8 MB with a 70% memory reduction.</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Core - Rust.</a:t>
            </a:r>
            <a:r>
              <a:rPr lang="en-US" sz="1050" b="0" dirty="0">
                <a:latin typeface="Times New Roman" panose="02020603050405020304" pitchFamily="18" charset="0"/>
                <a:cs typeface="Times New Roman" panose="02020603050405020304" pitchFamily="18" charset="0"/>
              </a:rPr>
              <a:t> Hotkeys, UI Automation, clipboard, window management, tray. Verified bindings: tauri-plugin-global-shortcut, the uiautomation crate, arboard, the official windows crate.</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Interface - React and TypeScript.</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AI/ML - Python sidecar.</a:t>
            </a:r>
            <a:r>
              <a:rPr lang="en-US" sz="1050" b="0" dirty="0">
                <a:latin typeface="Times New Roman" panose="02020603050405020304" pitchFamily="18" charset="0"/>
                <a:cs typeface="Times New Roman" panose="02020603050405020304" pitchFamily="18" charset="0"/>
              </a:rPr>
              <a:t> Embeddings, ranker, admission scorer and packer, in the language the team already knows.</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Storage - SQLite and Markdown files</a:t>
            </a:r>
            <a:r>
              <a:rPr lang="en-US" sz="1050" b="0" dirty="0">
                <a:latin typeface="Times New Roman" panose="02020603050405020304" pitchFamily="18" charset="0"/>
                <a:cs typeface="Times New Roman" panose="02020603050405020304" pitchFamily="18" charset="0"/>
              </a:rPr>
              <a:t>, with sqlite-vec for the vector index. No server.</a:t>
            </a:r>
          </a:p>
          <a:p>
            <a:pPr marL="171450" lvl="1" indent="-171450" algn="l">
              <a:buFont typeface="Arial" panose="020B0604020202020204" pitchFamily="34" charset="0"/>
              <a:buChar char="•"/>
            </a:pPr>
            <a:r>
              <a:rPr lang="en-US" sz="1050" b="1" dirty="0">
                <a:latin typeface="Times New Roman" panose="02020603050405020304" pitchFamily="18" charset="0"/>
                <a:cs typeface="Times New Roman" panose="02020603050405020304" pitchFamily="18" charset="0"/>
              </a:rPr>
              <a:t>Local inference - Ollama.</a:t>
            </a:r>
            <a:r>
              <a:rPr lang="en-US" sz="1050" b="0" dirty="0">
                <a:latin typeface="Times New Roman" panose="02020603050405020304" pitchFamily="18" charset="0"/>
                <a:cs typeface="Times New Roman" panose="02020603050405020304" pitchFamily="18" charset="0"/>
              </a:rPr>
              <a:t> Free, no rate limit.</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Datasets and Benchmarks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27</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OP-Bench - our primary target.</a:t>
            </a:r>
            <a:r>
              <a:rPr lang="en-US" sz="1000" b="0" dirty="0">
                <a:latin typeface="Times New Roman" panose="02020603050405020304" pitchFamily="18" charset="0"/>
                <a:cs typeface="Times New Roman" panose="02020603050405020304" pitchFamily="18" charset="0"/>
              </a:rPr>
              <a:t> 1,700 verified instances across 20 users, in three categories: irrelevance, repetition and sycophancy. It measures precisely the failure our admission gate prevents, and its baselines are bad on purpose.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LongMemEval</a:t>
            </a:r>
            <a:r>
              <a:rPr lang="en-US" sz="1000" b="0" dirty="0">
                <a:latin typeface="Times New Roman" panose="02020603050405020304" pitchFamily="18" charset="0"/>
                <a:cs typeface="Times New Roman" panose="02020603050405020304" pitchFamily="18" charset="0"/>
              </a:rPr>
              <a:t> - 500 questions across 6 categories, testing extraction, multi-session reasoning, temporal reasoning, knowledge updates and abstention. The abstention category validates the gate directly.</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LoCoMo</a:t>
            </a:r>
            <a:r>
              <a:rPr lang="en-US" sz="1000" b="0" dirty="0">
                <a:latin typeface="Times New Roman" panose="02020603050405020304" pitchFamily="18" charset="0"/>
                <a:cs typeface="Times New Roman" panose="02020603050405020304" pitchFamily="18" charset="0"/>
              </a:rPr>
              <a:t> - 1,540 questions across 4 categories, ~300 turns, up to 35 sessions. Used for comparability with Mem0 and MemGate.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PerMemBench</a:t>
            </a:r>
            <a:r>
              <a:rPr lang="en-US" sz="1000" b="0" dirty="0">
                <a:latin typeface="Times New Roman" panose="02020603050405020304" pitchFamily="18" charset="0"/>
                <a:cs typeface="Times New Roman" panose="02020603050405020304" pitchFamily="18" charset="0"/>
              </a:rPr>
              <a:t> - multi-year multi-domain personalized memory, for the write-side gating policy.</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Honest framing, stated up front:</a:t>
            </a:r>
            <a:r>
              <a:rPr lang="en-US" sz="1000" b="0" dirty="0">
                <a:latin typeface="Times New Roman" panose="02020603050405020304" pitchFamily="18" charset="0"/>
                <a:cs typeface="Times New Roman" panose="02020603050405020304" pitchFamily="18" charset="0"/>
              </a:rPr>
              <a:t> 2026 reference scores are LoCoMo 92.5% and LongMemEval 94.4%. These are near-saturated and we do not pitch beating them. OP-Bench is where a number can genuinely move, because memory systems there score 26-61% worse than no memory at all.</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Evaluation Plan</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28</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E1 - Over-personalisation, the headline.</a:t>
            </a:r>
            <a:r>
              <a:rPr lang="en-US" sz="1000" b="0" dirty="0">
                <a:latin typeface="Times New Roman" panose="02020603050405020304" pitchFamily="18" charset="0"/>
                <a:cs typeface="Times New Roman" panose="02020603050405020304" pitchFamily="18" charset="0"/>
              </a:rPr>
              <a:t> OP-Bench, against three baselines: no memory, naive top-k, and ours. We must beat both.</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E2 - Budget assembly ablation (C1).</a:t>
            </a:r>
            <a:r>
              <a:rPr lang="en-US" sz="1000" b="0" dirty="0">
                <a:latin typeface="Times New Roman" panose="02020603050405020304" pitchFamily="18" charset="0"/>
                <a:cs typeface="Times New Roman" panose="02020603050405020304" pitchFamily="18" charset="0"/>
              </a:rPr>
              <a:t> No memory, full profile always injected, and budget-aware selection, measured at three model sizes. The margin should be largest on the smallest model, because that is where the budget actually binds.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E3 - Retrieval quality.</a:t>
            </a:r>
            <a:r>
              <a:rPr lang="en-US" sz="1000" b="0" dirty="0">
                <a:latin typeface="Times New Roman" panose="02020603050405020304" pitchFamily="18" charset="0"/>
                <a:cs typeface="Times New Roman" panose="02020603050405020304" pitchFamily="18" charset="0"/>
              </a:rPr>
              <a:t> LongMemEval and LoCoMo, reported honestly against published 2026 baselines.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E4 - Admission gate ablation (C2).</a:t>
            </a:r>
            <a:r>
              <a:rPr lang="en-US" sz="1000" b="0" dirty="0">
                <a:latin typeface="Times New Roman" panose="02020603050405020304" pitchFamily="18" charset="0"/>
                <a:cs typeface="Times New Roman" panose="02020603050405020304" pitchFamily="18" charset="0"/>
              </a:rPr>
              <a:t> Cross-domain leakage with the gate off, with a single global threshold, and with per-class floors. MemGate's 27.0% to 3.5% is the reference point.</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E5 - Privacy.</a:t>
            </a:r>
            <a:r>
              <a:rPr lang="en-US" sz="1000" b="0" dirty="0">
                <a:latin typeface="Times New Roman" panose="02020603050405020304" pitchFamily="18" charset="0"/>
                <a:cs typeface="Times New Roman" panose="02020603050405020304" pitchFamily="18" charset="0"/>
              </a:rPr>
              <a:t> Bytes leaving the machine in private mode must be zero, by packet capture.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E6 - Latency.</a:t>
            </a:r>
            <a:r>
              <a:rPr lang="en-US" sz="1000" b="0" dirty="0">
                <a:latin typeface="Times New Roman" panose="02020603050405020304" pitchFamily="18" charset="0"/>
                <a:cs typeface="Times New Roman" panose="02020603050405020304" pitchFamily="18" charset="0"/>
              </a:rPr>
              <a:t> Trigger to first token, local versus cloud.</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E7 - UI Automation coverage per application.</a:t>
            </a:r>
            <a:r>
              <a:rPr lang="en-US" sz="1000" b="0" dirty="0">
                <a:latin typeface="Times New Roman" panose="02020603050405020304" pitchFamily="18" charset="0"/>
                <a:cs typeface="Times New Roman" panose="02020603050405020304" pitchFamily="18" charset="0"/>
              </a:rPr>
              <a:t> A measured table across common Windows apps. No competitor publishes one.</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Base Paper - PAUSE, ACM SIGKDD 2026</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29</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PAUSE: A User-Centric Benchmark for Personal AI Assistants in Unified Service Environments.</a:t>
            </a:r>
            <a:r>
              <a:rPr lang="en-US" sz="1000" b="0" dirty="0">
                <a:latin typeface="Times New Roman" panose="02020603050405020304" pitchFamily="18" charset="0"/>
                <a:cs typeface="Times New Roman" panose="02020603050405020304" pitchFamily="18" charset="0"/>
              </a:rPr>
              <a:t> ACM SIGKDD 2026, 9-13 August 2026, Jeju Island. Chen, Shi, Wang, Chen and Niu.</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Why this is the base paper:</a:t>
            </a:r>
            <a:r>
              <a:rPr lang="en-US" sz="1000" b="0" dirty="0">
                <a:latin typeface="Times New Roman" panose="02020603050405020304" pitchFamily="18" charset="0"/>
                <a:cs typeface="Times New Roman" panose="02020603050405020304" pitchFamily="18" charset="0"/>
              </a:rPr>
              <a:t> ACM and 2026, and its subject is literally personal AI assistants - so it cannot be misread as a memory-architecture project.</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Its definition is our specification.</a:t>
            </a:r>
            <a:r>
              <a:rPr lang="en-US" sz="1000" b="0" dirty="0">
                <a:latin typeface="Times New Roman" panose="02020603050405020304" pitchFamily="18" charset="0"/>
                <a:cs typeface="Times New Roman" panose="02020603050405020304" pitchFamily="18" charset="0"/>
              </a:rPr>
              <a:t> An assistant must reason over persistent user state, respect user-specific configurations and permissions, and sustain long-horizon, constraint-aware interactions across multiple services.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It hands us the gap, quantified:</a:t>
            </a:r>
            <a:r>
              <a:rPr lang="en-US" sz="1000" b="0" dirty="0">
                <a:latin typeface="Times New Roman" panose="02020603050405020304" pitchFamily="18" charset="0"/>
                <a:cs typeface="Times New Roman" panose="02020603050405020304" pitchFamily="18" charset="0"/>
              </a:rPr>
              <a:t> state-of-the-art proprietary models fail to reach 70% task completion on scenarios requiring stateful reasoning and configuration awareness.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Where it stops.</a:t>
            </a:r>
            <a:r>
              <a:rPr lang="en-US" sz="1000" b="0" dirty="0">
                <a:latin typeface="Times New Roman" panose="02020603050405020304" pitchFamily="18" charset="0"/>
                <a:cs typeface="Times New Roman" panose="02020603050405020304" pitchFamily="18" charset="0"/>
              </a:rPr>
              <a:t> PAUSE is a benchmark, evaluating assistants inside unified service environments that already have access and configuration. It does not build a system, does not address how a user supplies their own state, does not address OS-level capture, and does not address operating within a fixed token budget across heterogeneous models.</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Personal AI Is a Recognised Category, Not a Framing We Chose</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30</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concern this slide answers:</a:t>
            </a:r>
            <a:r>
              <a:rPr lang="en-US" sz="1000" b="0" dirty="0">
                <a:latin typeface="Times New Roman" panose="02020603050405020304" pitchFamily="18" charset="0"/>
                <a:cs typeface="Times New Roman" panose="02020603050405020304" pitchFamily="18" charset="0"/>
              </a:rPr>
              <a:t> if we do not explicitly separate ourselves, a reviewer maps any memory-carrying agent onto the nearest known project and stops looking further.</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SIGKDD 2026 itself runs a dedicated workshop on this.</a:t>
            </a:r>
            <a:r>
              <a:rPr lang="en-US" sz="1000" b="0" dirty="0">
                <a:latin typeface="Times New Roman" panose="02020603050405020304" pitchFamily="18" charset="0"/>
                <a:cs typeface="Times New Roman" panose="02020603050405020304" pitchFamily="18" charset="0"/>
              </a:rPr>
              <a:t> PILA 2026 - Personal Intelligence in the Agentic AI Era, co-located with SIGKDD, 10 August 2026. Its scope: personalized agents, user modeling, memory and retrieval, adaptive planning, privacy and deployment. The top venue in this space has already drawn this exact line.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And it is not just a workshop.</a:t>
            </a:r>
            <a:r>
              <a:rPr lang="en-US" sz="1000" b="0" dirty="0">
                <a:latin typeface="Times New Roman" panose="02020603050405020304" pitchFamily="18" charset="0"/>
                <a:cs typeface="Times New Roman" panose="02020603050405020304" pitchFamily="18" charset="0"/>
              </a:rPr>
              <a:t> A Scrutable Assistant for Time Management is a full peer- reviewed paper at ACM UMAP 2026 - a 34-year-old conference series dedicated to user modeling and personalization. It studies a personal assistant users can scrutinise, down to the model behind its suggestions - independently arrived at, published, and close enough to our own admission gate that the field already has a name for it: scrutability.</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So the line is not ours to defend alone.</a:t>
            </a:r>
            <a:r>
              <a:rPr lang="en-US" sz="1000" b="0" dirty="0">
                <a:latin typeface="Times New Roman" panose="02020603050405020304" pitchFamily="18" charset="0"/>
                <a:cs typeface="Times New Roman" panose="02020603050405020304" pitchFamily="18" charset="0"/>
              </a:rPr>
              <a:t> Personal AI assistants are a distinct, actively reviewed category at ACM's own venues in 2026, separate from memory-architecture research. We are answering a question the field already treats as its own.</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The Gap - What We Claim and What We Do Not</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31</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We do NOT claim inventing selection-triggered AI</a:t>
            </a:r>
            <a:r>
              <a:rPr lang="en-US" sz="950" b="0" dirty="0">
                <a:latin typeface="Times New Roman" panose="02020603050405020304" pitchFamily="18" charset="0"/>
                <a:cs typeface="Times New Roman" panose="02020603050405020304" pitchFamily="18" charset="0"/>
              </a:rPr>
              <a:t> - Highlight and Click to Do exist.</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We do NOT claim inventing agent memory</a:t>
            </a:r>
            <a:r>
              <a:rPr lang="en-US" sz="950" b="0" dirty="0">
                <a:latin typeface="Times New Roman" panose="02020603050405020304" pitchFamily="18" charset="0"/>
                <a:cs typeface="Times New Roman" panose="02020603050405020304" pitchFamily="18" charset="0"/>
              </a:rPr>
              <a:t> - Mem0, Zep and Letta are mature.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We do NOT claim inventing memory gating</a:t>
            </a:r>
            <a:r>
              <a:rPr lang="en-US" sz="950" b="0" dirty="0">
                <a:latin typeface="Times New Roman" panose="02020603050405020304" pitchFamily="18" charset="0"/>
                <a:cs typeface="Times New Roman" panose="02020603050405020304" pitchFamily="18" charset="0"/>
              </a:rPr>
              <a:t> - MemGate does exactly this, with a learned gate.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We do NOT claim inventing an OS-level personal index</a:t>
            </a:r>
            <a:r>
              <a:rPr lang="en-US" sz="950" b="0" dirty="0">
                <a:latin typeface="Times New Roman" panose="02020603050405020304" pitchFamily="18" charset="0"/>
                <a:cs typeface="Times New Roman" panose="02020603050405020304" pitchFamily="18" charset="0"/>
              </a:rPr>
              <a:t> - Microsoft's Windows Semantic Index.</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C1 - budget-aware assembly across heterogeneous models.</a:t>
            </a:r>
            <a:r>
              <a:rPr lang="en-US" sz="950" b="0" dirty="0">
                <a:latin typeface="Times New Roman" panose="02020603050405020304" pitchFamily="18" charset="0"/>
                <a:cs typeface="Times New Roman" panose="02020603050405020304" pitchFamily="18" charset="0"/>
              </a:rPr>
              <a:t> One memory layer serving a 4B local model and a frontier API, with an ablation at three model sizes. Named as an open coordination problem by the 2026 externalization survey.</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C2 - declarative, auditable admission on a user-owned type system</a:t>
            </a:r>
            <a:r>
              <a:rPr lang="en-US" sz="950" b="0" dirty="0">
                <a:latin typeface="Times New Roman" panose="02020603050405020304" pitchFamily="18" charset="0"/>
                <a:cs typeface="Times New Roman" panose="02020603050405020304" pitchFamily="18" charset="0"/>
              </a:rPr>
              <a:t> that also drives privacy routing. One primitive doing two jobs.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C3 - import from official platform exports</a:t>
            </a:r>
            <a:r>
              <a:rPr lang="en-US" sz="950" b="0" dirty="0">
                <a:latin typeface="Times New Roman" panose="02020603050405020304" pitchFamily="18" charset="0"/>
                <a:cs typeface="Times New Roman" panose="02020603050405020304" pitchFamily="18" charset="0"/>
              </a:rPr>
              <a:t> - the only ToS-legitimate cross-vendor bridge.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C4 - the first open-source, model-agnostic, OS-integrated personal assistant</a:t>
            </a:r>
            <a:r>
              <a:rPr lang="en-US" sz="950" b="0" dirty="0">
                <a:latin typeface="Times New Roman" panose="02020603050405020304" pitchFamily="18" charset="0"/>
                <a:cs typeface="Times New Roman" panose="02020603050405020304" pitchFamily="18" charset="0"/>
              </a:rPr>
              <a:t> that runs fully local on ordinary Windows Home hardware.</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Expected Results and Honest Limitations</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32</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What we expect to show.</a:t>
            </a:r>
            <a:r>
              <a:rPr lang="en-US" sz="950" b="0" dirty="0">
                <a:latin typeface="Times New Roman" panose="02020603050405020304" pitchFamily="18" charset="0"/>
                <a:cs typeface="Times New Roman" panose="02020603050405020304" pitchFamily="18" charset="0"/>
              </a:rPr>
              <a:t> Budget-aware assembly beating both naive conditions at every model size, with the largest margin on the smallest model. Zero leakage on OP-Bench irrelevance without losing identity context. Sub-second trigger-to-first-token locally. Zero bytes in private mode.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Known limitation - six classes is a design choice, not a derivation.</a:t>
            </a:r>
            <a:r>
              <a:rPr lang="en-US" sz="950" b="0" dirty="0">
                <a:latin typeface="Times New Roman" panose="02020603050405020304" pitchFamily="18" charset="0"/>
                <a:cs typeface="Times New Roman" panose="02020603050405020304" pitchFamily="18" charset="0"/>
              </a:rPr>
              <a:t> The defence is that classes are a routing device and each one is a new failure mode, so the burden is on adding a seventh. And it is testable: E1 measures whether routing helps or hurts.</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Known limitation - import depends on export formats we do not control.</a:t>
            </a:r>
            <a:r>
              <a:rPr lang="en-US" sz="950" b="0" dirty="0">
                <a:latin typeface="Times New Roman" panose="02020603050405020304" pitchFamily="18" charset="0"/>
                <a:cs typeface="Times New Roman" panose="02020603050405020304" pitchFamily="18" charset="0"/>
              </a:rPr>
              <a:t> They are undocumented JSON that can change without notice. Parsers are isolated per platform and fail loudly, the extraction-prompt path works with no export at all, and the review screen means a broken parser produces nothing rather than garbage.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Known limitation - UI Automation coverage varies by application.</a:t>
            </a:r>
            <a:r>
              <a:rPr lang="en-US" sz="950" b="0" dirty="0">
                <a:latin typeface="Times New Roman" panose="02020603050405020304" pitchFamily="18" charset="0"/>
                <a:cs typeface="Times New Roman" panose="02020603050405020304" pitchFamily="18" charset="0"/>
              </a:rPr>
              <a:t> That is why the clipboard fallback exists and why the coverage table is a documented deliverable.</a:t>
            </a:r>
          </a:p>
          <a:p>
            <a:pPr marL="171450" lvl="1" indent="-171450" algn="l">
              <a:buFont typeface="Arial" panose="020B0604020202020204" pitchFamily="34" charset="0"/>
              <a:buChar char="•"/>
            </a:pPr>
            <a:r>
              <a:rPr lang="en-US" sz="950" b="1" dirty="0">
                <a:latin typeface="Times New Roman" panose="02020603050405020304" pitchFamily="18" charset="0"/>
                <a:cs typeface="Times New Roman" panose="02020603050405020304" pitchFamily="18" charset="0"/>
              </a:rPr>
              <a:t>Practical risk:</a:t>
            </a:r>
            <a:r>
              <a:rPr lang="en-US" sz="950" b="0" dirty="0">
                <a:latin typeface="Times New Roman" panose="02020603050405020304" pitchFamily="18" charset="0"/>
                <a:cs typeface="Times New Roman" panose="02020603050405020304" pitchFamily="18" charset="0"/>
              </a:rPr>
              <a:t> screen-reading behaviour can trip antivirus heuristics, so the installer must be signed and all capture must stay user-initiated.</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Conclusion</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33</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problem is not which AI you use.</a:t>
            </a:r>
            <a:r>
              <a:rPr lang="en-US" sz="1000" b="0" dirty="0">
                <a:latin typeface="Times New Roman" panose="02020603050405020304" pitchFamily="18" charset="0"/>
                <a:cs typeface="Times New Roman" panose="02020603050405020304" pitchFamily="18" charset="0"/>
              </a:rPr>
              <a:t> It is that your context is trapped inside whichever one you typed it into, and the assistant that would use it is trapped inside an application window.</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measurement backs it.</a:t>
            </a:r>
            <a:r>
              <a:rPr lang="en-US" sz="1000" b="0" dirty="0">
                <a:latin typeface="Times New Roman" panose="02020603050405020304" pitchFamily="18" charset="0"/>
                <a:cs typeface="Times New Roman" panose="02020603050405020304" pitchFamily="18" charset="0"/>
              </a:rPr>
              <a:t> ACM SIGKDD 2026 found frontier models below 70% when a task needs persistent knowledge of the user. OP-Bench found that adding memory naively makes things worse.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PERCH is the layer above the applications.</a:t>
            </a:r>
            <a:r>
              <a:rPr lang="en-US" sz="1000" b="0" dirty="0">
                <a:latin typeface="Times New Roman" panose="02020603050405020304" pitchFamily="18" charset="0"/>
                <a:cs typeface="Times New Roman" panose="02020603050405020304" pitchFamily="18" charset="0"/>
              </a:rPr>
              <a:t> Summoned anywhere in Windows, answering beside your work, writing back into the document you were in, remembering what you told it once, and running on whichever model you choose - including one that never leaves your machine.</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risky part is already built.</a:t>
            </a:r>
            <a:r>
              <a:rPr lang="en-US" sz="1000" b="0" dirty="0">
                <a:latin typeface="Times New Roman" panose="02020603050405020304" pitchFamily="18" charset="0"/>
                <a:cs typeface="Times New Roman" panose="02020603050405020304" pitchFamily="18" charset="0"/>
              </a:rPr>
              <a:t> The OS layer runs. So does the pipeline: routing, ranking, admission, packing, tools, and 21 passing tests.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The technical core is the retrieval gate and the budget packer</a:t>
            </a:r>
            <a:r>
              <a:rPr lang="en-US" sz="1000" b="0" dirty="0">
                <a:latin typeface="Times New Roman" panose="02020603050405020304" pitchFamily="18" charset="0"/>
                <a:cs typeface="Times New Roman" panose="02020603050405020304" pitchFamily="18" charset="0"/>
              </a:rPr>
              <a:t> - a calibration problem and a constrained-allocation problem, evaluated with four ablations on public benchmarks.</a:t>
            </a:r>
          </a:p>
          <a:p>
            <a:pPr marL="171450" lvl="1" indent="-171450" algn="l">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You pay for four AI assistants. None of them know you, and none of them will tell each other. PERCH is the one that's yours.</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References - Peer-Reviewed Spine</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34</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[1] PAUSE: A User-Centric Benchmark for Personal AI Assistants in Unified Service Environments.</a:t>
            </a:r>
            <a:r>
              <a:rPr lang="en-US" sz="850" b="0" dirty="0">
                <a:latin typeface="Times New Roman" panose="02020603050405020304" pitchFamily="18" charset="0"/>
                <a:cs typeface="Times New Roman" panose="02020603050405020304" pitchFamily="18" charset="0"/>
              </a:rPr>
              <a:t> Chen, Shi, Wang, Chen, Niu. ACM SIGKDD 2026, Jeju Island. - BASE PAPER</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[1b] "...Exploring User Perspectives on a Scrutable Assistant for Time Management."</a:t>
            </a:r>
            <a:r>
              <a:rPr lang="en-US" sz="850" b="0" dirty="0">
                <a:latin typeface="Times New Roman" panose="02020603050405020304" pitchFamily="18" charset="0"/>
                <a:cs typeface="Times New Roman" panose="02020603050405020304" pitchFamily="18" charset="0"/>
              </a:rPr>
              <a:t> Landerberg, Flatmo, Said. ACM UMAP 2026, Full Paper. - second personal-AI anchor, non-benchmark</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[2] A Survey on the Memory Mechanism of LLM-based Agents.</a:t>
            </a:r>
            <a:r>
              <a:rPr lang="en-US" sz="850" b="0" dirty="0">
                <a:latin typeface="Times New Roman" panose="02020603050405020304" pitchFamily="18" charset="0"/>
                <a:cs typeface="Times New Roman" panose="02020603050405020304" pitchFamily="18" charset="0"/>
              </a:rPr>
              <a:t> ACM Transactions on Information Systems 43(6), 2025. DOI 10.1145/3748302</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[3] Evaluating Very Long-Term Conversational Memory of LLM Agents (LoCoMo).</a:t>
            </a:r>
            <a:r>
              <a:rPr lang="en-US" sz="850" b="0" dirty="0">
                <a:latin typeface="Times New Roman" panose="02020603050405020304" pitchFamily="18" charset="0"/>
                <a:cs typeface="Times New Roman" panose="02020603050405020304" pitchFamily="18" charset="0"/>
              </a:rPr>
              <a:t> ACL 2024, Long Papers. - evaluation benchmark</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[4] LongMemEval: Benchmarking Chat Assistants on Long-Term Interactive Memory.</a:t>
            </a:r>
            <a:r>
              <a:rPr lang="en-US" sz="850" b="0" dirty="0">
                <a:latin typeface="Times New Roman" panose="02020603050405020304" pitchFamily="18" charset="0"/>
                <a:cs typeface="Times New Roman" panose="02020603050405020304" pitchFamily="18" charset="0"/>
              </a:rPr>
              <a:t> ICLR 2025. - evaluation benchmark, includes abstention</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[5] Self-RAG: Learning to Retrieve, Generate and Critique through Self-Reflection.</a:t>
            </a:r>
            <a:r>
              <a:rPr lang="en-US" sz="850" b="0" dirty="0">
                <a:latin typeface="Times New Roman" panose="02020603050405020304" pitchFamily="18" charset="0"/>
                <a:cs typeface="Times New Roman" panose="02020603050405020304" pitchFamily="18" charset="0"/>
              </a:rPr>
              <a:t> Asai, Wu, Wang, Sil, Hajishirzi. ICLR 2024. - prior art for retrieve-or-not</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[6] Mem0: Building Production-Ready AI Agents with Scalable Long-Term Memory.</a:t>
            </a:r>
            <a:r>
              <a:rPr lang="en-US" sz="850" b="0" dirty="0">
                <a:latin typeface="Times New Roman" panose="02020603050405020304" pitchFamily="18" charset="0"/>
                <a:cs typeface="Times New Roman" panose="02020603050405020304" pitchFamily="18" charset="0"/>
              </a:rPr>
              <a:t> ECAI 2025.</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[7] From Storage to Experience: The Evolution of LLM Agent Memory Mechanisms.</a:t>
            </a:r>
            <a:r>
              <a:rPr lang="en-US" sz="850" b="0" dirty="0">
                <a:latin typeface="Times New Roman" panose="02020603050405020304" pitchFamily="18" charset="0"/>
                <a:cs typeface="Times New Roman" panose="02020603050405020304" pitchFamily="18" charset="0"/>
              </a:rPr>
              <a:t> Findings of ACL 2026.</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[8] Bridging Intuitive Associations and Deliberate Recall.</a:t>
            </a:r>
            <a:r>
              <a:rPr lang="en-US" sz="850" b="0" dirty="0">
                <a:latin typeface="Times New Roman" panose="02020603050405020304" pitchFamily="18" charset="0"/>
                <a:cs typeface="Times New Roman" panose="02020603050405020304" pitchFamily="18" charset="0"/>
              </a:rPr>
              <a:t> Findings of ACL 2025.</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[9] Memory in the LLM Era: Modular Architectures and Strategies.</a:t>
            </a:r>
            <a:r>
              <a:rPr lang="en-US" sz="850" b="0" dirty="0">
                <a:latin typeface="Times New Roman" panose="02020603050405020304" pitchFamily="18" charset="0"/>
                <a:cs typeface="Times New Roman" panose="02020603050405020304" pitchFamily="18" charset="0"/>
              </a:rPr>
              <a:t> VLDB 2026.</a:t>
            </a:r>
          </a:p>
          <a:p>
            <a:pPr marL="171450" lvl="1" indent="-171450" algn="l">
              <a:buFont typeface="Arial" panose="020B0604020202020204" pitchFamily="34" charset="0"/>
              <a:buChar char="•"/>
            </a:pPr>
            <a:r>
              <a:rPr lang="en-US" sz="850" b="1" dirty="0">
                <a:latin typeface="Times New Roman" panose="02020603050405020304" pitchFamily="18" charset="0"/>
                <a:cs typeface="Times New Roman" panose="02020603050405020304" pitchFamily="18" charset="0"/>
              </a:rPr>
              <a:t>[10] Microsoft.</a:t>
            </a:r>
            <a:r>
              <a:rPr lang="en-US" sz="850" b="0" dirty="0">
                <a:latin typeface="Times New Roman" panose="02020603050405020304" pitchFamily="18" charset="0"/>
                <a:cs typeface="Times New Roman" panose="02020603050405020304" pitchFamily="18" charset="0"/>
              </a:rPr>
              <a:t> UI Automation Overview and Win32 Accessibility documentation; Tauri v2 documentation; Windows AI Platform, Build 2026.</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3" name="Google Shape;93;p9"/>
          <p:cNvSpPr/>
          <p:nvPr/>
        </p:nvSpPr>
        <p:spPr>
          <a:xfrm>
            <a:off x="1905" y="0"/>
            <a:ext cx="4608195" cy="321945"/>
          </a:xfrm>
          <a:custGeom>
            <a:avLst/>
            <a:gdLst/>
            <a:ahLst/>
            <a:cxnLst/>
            <a:rect l="l" t="t" r="r" b="b"/>
            <a:pathLst>
              <a:path w="4608195" h="321945" extrusionOk="0">
                <a:moveTo>
                  <a:pt x="4608004" y="0"/>
                </a:moveTo>
                <a:lnTo>
                  <a:pt x="0" y="0"/>
                </a:lnTo>
                <a:lnTo>
                  <a:pt x="0" y="321500"/>
                </a:lnTo>
                <a:lnTo>
                  <a:pt x="4608004" y="321500"/>
                </a:lnTo>
                <a:lnTo>
                  <a:pt x="4608004"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4" name="Google Shape;94;p9"/>
          <p:cNvSpPr txBox="1"/>
          <p:nvPr/>
        </p:nvSpPr>
        <p:spPr>
          <a:xfrm>
            <a:off x="95300" y="45565"/>
            <a:ext cx="4297680" cy="232736"/>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endParaRPr sz="1400" dirty="0">
              <a:latin typeface="Times New Roman" panose="02020603050405020304" pitchFamily="18" charset="0"/>
              <a:cs typeface="Times New Roman" panose="02020603050405020304" pitchFamily="18" charset="0"/>
              <a:sym typeface="Arial"/>
            </a:endParaRPr>
            <a:r>
              <a:rPr lang="en-US" sz="1400" dirty="0" b="0">
                <a:solidFill>
                  <a:srgbClr val="FFFFFF"/>
                </a:solidFill>
                <a:latin typeface="Times New Roman" panose="02020603050405020304" pitchFamily="18" charset="0"/>
                <a:cs typeface="Times New Roman" panose="02020603050405020304" pitchFamily="18" charset="0"/>
                <a:sym typeface="Arial"/>
              </a:rPr>
              <a:t>References - Current Preprints (2026)</a:t>
            </a:r>
          </a:p>
        </p:txBody>
      </p:sp>
      <p:grpSp>
        <p:nvGrpSpPr>
          <p:cNvPr id="95" name="Google Shape;95;p9"/>
          <p:cNvGrpSpPr/>
          <p:nvPr/>
        </p:nvGrpSpPr>
        <p:grpSpPr>
          <a:xfrm>
            <a:off x="0" y="3326968"/>
            <a:ext cx="4608017" cy="129539"/>
            <a:chOff x="0" y="3326968"/>
            <a:chExt cx="4608017" cy="129539"/>
          </a:xfrm>
        </p:grpSpPr>
        <p:sp>
          <p:nvSpPr>
            <p:cNvPr id="96" name="Google Shape;96;p9"/>
            <p:cNvSpPr/>
            <p:nvPr/>
          </p:nvSpPr>
          <p:spPr>
            <a:xfrm>
              <a:off x="0" y="3326968"/>
              <a:ext cx="1536065" cy="129539"/>
            </a:xfrm>
            <a:custGeom>
              <a:avLst/>
              <a:gdLst/>
              <a:ahLst/>
              <a:cxnLst/>
              <a:rect l="l" t="t" r="r" b="b"/>
              <a:pathLst>
                <a:path w="1536065" h="129539" extrusionOk="0">
                  <a:moveTo>
                    <a:pt x="1535976" y="0"/>
                  </a:moveTo>
                  <a:lnTo>
                    <a:pt x="0" y="0"/>
                  </a:lnTo>
                  <a:lnTo>
                    <a:pt x="0" y="129032"/>
                  </a:lnTo>
                  <a:lnTo>
                    <a:pt x="1535976" y="129032"/>
                  </a:lnTo>
                  <a:lnTo>
                    <a:pt x="1535976" y="0"/>
                  </a:lnTo>
                  <a:close/>
                </a:path>
              </a:pathLst>
            </a:custGeom>
            <a:solidFill>
              <a:srgbClr val="19195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 name="Google Shape;97;p9"/>
            <p:cNvSpPr/>
            <p:nvPr/>
          </p:nvSpPr>
          <p:spPr>
            <a:xfrm>
              <a:off x="1535976"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26268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9"/>
            <p:cNvSpPr/>
            <p:nvPr/>
          </p:nvSpPr>
          <p:spPr>
            <a:xfrm>
              <a:off x="3071952" y="3326968"/>
              <a:ext cx="1536065" cy="129539"/>
            </a:xfrm>
            <a:custGeom>
              <a:avLst/>
              <a:gdLst/>
              <a:ahLst/>
              <a:cxnLst/>
              <a:rect l="l" t="t" r="r" b="b"/>
              <a:pathLst>
                <a:path w="1536064" h="129539" extrusionOk="0">
                  <a:moveTo>
                    <a:pt x="1535976" y="0"/>
                  </a:moveTo>
                  <a:lnTo>
                    <a:pt x="0" y="0"/>
                  </a:lnTo>
                  <a:lnTo>
                    <a:pt x="0" y="129032"/>
                  </a:lnTo>
                  <a:lnTo>
                    <a:pt x="1535976" y="129032"/>
                  </a:lnTo>
                  <a:lnTo>
                    <a:pt x="1535976" y="0"/>
                  </a:lnTo>
                  <a:close/>
                </a:path>
              </a:pathLst>
            </a:custGeom>
            <a:solidFill>
              <a:srgbClr val="3333B2"/>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 name="Google Shape;99;p9"/>
          <p:cNvSpPr txBox="1">
            <a:spLocks noGrp="1"/>
          </p:cNvSpPr>
          <p:nvPr>
            <p:ph type="ftr" idx="11"/>
          </p:nvPr>
        </p:nvSpPr>
        <p:spPr>
          <a:xfrm>
            <a:off x="421944" y="3331252"/>
            <a:ext cx="692150" cy="285961"/>
          </a:xfrm>
          <a:prstGeom prst="rect">
            <a:avLst/>
          </a:prstGeom>
          <a:noFill/>
          <a:ln>
            <a:noFill/>
          </a:ln>
        </p:spPr>
        <p:txBody>
          <a:bodyPr spcFirstLastPara="1" wrap="square" lIns="0" tIns="8875" rIns="0" bIns="0" anchor="t" anchorCtr="0">
            <a:spAutoFit/>
          </a:bodyPr>
          <a:lstStyle/>
          <a:p>
            <a:pPr marL="12700"/>
            <a:r>
              <a:rPr lang="en-US" dirty="0">
                <a:latin typeface="Times New Roman" panose="02020603050405020304" pitchFamily="18" charset="0"/>
                <a:cs typeface="Times New Roman" panose="02020603050405020304" pitchFamily="18" charset="0"/>
              </a:rPr>
              <a:t>Dept of Comp </a:t>
            </a:r>
            <a:r>
              <a:rPr lang="en-US" dirty="0" err="1">
                <a:latin typeface="Times New Roman" panose="02020603050405020304" pitchFamily="18" charset="0"/>
                <a:cs typeface="Times New Roman" panose="02020603050405020304" pitchFamily="18" charset="0"/>
              </a:rPr>
              <a:t>Engg</a:t>
            </a:r>
            <a:endParaRPr lang="en-US" dirty="0">
              <a:latin typeface="Times New Roman" panose="02020603050405020304" pitchFamily="18" charset="0"/>
              <a:cs typeface="Times New Roman" panose="02020603050405020304" pitchFamily="18" charset="0"/>
            </a:endParaRPr>
          </a:p>
          <a:p>
            <a:pPr marL="12700" lvl="0"/>
            <a:endParaRPr lang="en-US" dirty="0"/>
          </a:p>
          <a:p>
            <a:pPr marL="12700" lvl="0" indent="0" algn="l" rtl="0">
              <a:lnSpc>
                <a:spcPct val="100000"/>
              </a:lnSpc>
              <a:spcBef>
                <a:spcPts val="0"/>
              </a:spcBef>
              <a:spcAft>
                <a:spcPts val="0"/>
              </a:spcAft>
              <a:buNone/>
            </a:pPr>
            <a:endParaRPr dirty="0"/>
          </a:p>
        </p:txBody>
      </p:sp>
      <p:sp>
        <p:nvSpPr>
          <p:cNvPr id="102" name="Google Shape;102;p9"/>
          <p:cNvSpPr txBox="1">
            <a:spLocks noGrp="1"/>
          </p:cNvSpPr>
          <p:nvPr>
            <p:ph type="sldNum" idx="12"/>
          </p:nvPr>
        </p:nvSpPr>
        <p:spPr>
          <a:xfrm>
            <a:off x="4275161" y="3331252"/>
            <a:ext cx="266700" cy="101295"/>
          </a:xfrm>
          <a:prstGeom prst="rect">
            <a:avLst/>
          </a:prstGeom>
          <a:noFill/>
          <a:ln>
            <a:noFill/>
          </a:ln>
        </p:spPr>
        <p:txBody>
          <a:bodyPr spcFirstLastPara="1" wrap="square" lIns="0" tIns="8875" rIns="0" bIns="0" anchor="t" anchorCtr="0">
            <a:spAutoFit/>
          </a:bodyPr>
          <a:lstStyle/>
          <a:p>
            <a:pPr marL="38100" lvl="0" indent="0" algn="l" rtl="0">
              <a:lnSpc>
                <a:spcPct val="100000"/>
              </a:lnSpc>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35</a:t>
            </a:fld>
            <a:r>
              <a:rPr lang="en-US" dirty="0">
                <a:latin typeface="Times New Roman" panose="02020603050405020304" pitchFamily="18" charset="0"/>
                <a:cs typeface="Times New Roman" panose="02020603050405020304" pitchFamily="18" charset="0"/>
              </a:rPr>
              <a:t> / 35</a:t>
            </a:r>
            <a:endParaRPr dirty="0">
              <a:latin typeface="Times New Roman" panose="02020603050405020304" pitchFamily="18" charset="0"/>
              <a:cs typeface="Times New Roman" panose="02020603050405020304" pitchFamily="18" charset="0"/>
            </a:endParaRPr>
          </a:p>
        </p:txBody>
      </p:sp>
      <p:sp>
        <p:nvSpPr>
          <p:cNvPr id="103" name="Google Shape;103;p9"/>
          <p:cNvSpPr txBox="1"/>
          <p:nvPr/>
        </p:nvSpPr>
        <p:spPr>
          <a:xfrm>
            <a:off x="91440" y="246888"/>
            <a:ext cx="4425696" cy="3017520"/>
          </a:xfrm>
          <a:prstGeom prst="rect">
            <a:avLst/>
          </a:prstGeom>
          <a:noFill/>
          <a:ln>
            <a:noFill/>
          </a:ln>
        </p:spPr>
        <p:txBody>
          <a:bodyPr spcFirstLastPara="1" wrap="square" lIns="91425" tIns="91425" rIns="91425" bIns="91425" anchor="t" anchorCtr="0">
            <a:noAutofit/>
          </a:bodyPr>
          <a:lstStyle/>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Cited as current state of the art, not as settled results.</a:t>
            </a:r>
            <a:r>
              <a:rPr lang="en-US" sz="900" b="0" dirty="0">
                <a:latin typeface="Times New Roman" panose="02020603050405020304" pitchFamily="18" charset="0"/>
                <a:cs typeface="Times New Roman" panose="02020603050405020304" pitchFamily="18" charset="0"/>
              </a:rPr>
              <a:t> Each is two to seven months old, so nothing at that age has cleared peer review in any venue. None of them carries a claim on its own, and none is load-bearing for the base paper or the evaluation plan.</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[11] Beyond Similarity: Trustworthy Memory Search for Personal AI Agents (MemGate).</a:t>
            </a:r>
            <a:r>
              <a:rPr lang="en-US" sz="900" b="0" dirty="0">
                <a:latin typeface="Times New Roman" panose="02020603050405020304" pitchFamily="18" charset="0"/>
                <a:cs typeface="Times New Roman" panose="02020603050405020304" pitchFamily="18" charset="0"/>
              </a:rPr>
              <a:t> arXiv:2606.06054, June 2026. - closest prior art to Contribution 2</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[12] OP-Bench: Benchmarking Over-Personalization for Memory-Augmented Personalized Conversational Agents.</a:t>
            </a:r>
            <a:r>
              <a:rPr lang="en-US" sz="900" b="0" dirty="0">
                <a:latin typeface="Times New Roman" panose="02020603050405020304" pitchFamily="18" charset="0"/>
                <a:cs typeface="Times New Roman" panose="02020603050405020304" pitchFamily="18" charset="0"/>
              </a:rPr>
              <a:t> arXiv:2601.13722, January 2026. - our primary evaluation target</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[13] Personalize-then-Store: Benchmarking and Learning Personalized Memory for Long-horizon Agents.</a:t>
            </a:r>
            <a:r>
              <a:rPr lang="en-US" sz="900" b="0" dirty="0">
                <a:latin typeface="Times New Roman" panose="02020603050405020304" pitchFamily="18" charset="0"/>
                <a:cs typeface="Times New Roman" panose="02020603050405020304" pitchFamily="18" charset="0"/>
              </a:rPr>
              <a:t> KAIST. arXiv:2605.25535, May 2026. - write-side gating</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[14] Externalization in LLM Agents: A Unified Review of Memory, Skills, Protocols and Harness Engineering.</a:t>
            </a:r>
            <a:r>
              <a:rPr lang="en-US" sz="900" b="0" dirty="0">
                <a:latin typeface="Times New Roman" panose="02020603050405020304" pitchFamily="18" charset="0"/>
                <a:cs typeface="Times New Roman" panose="02020603050405020304" pitchFamily="18" charset="0"/>
              </a:rPr>
              <a:t> arXiv:2604.08224, April 2026. - names our Contribution 1 as an open problem</a:t>
            </a:r>
          </a:p>
          <a:p>
            <a:pPr marL="171450" lvl="1" indent="-171450" algn="l">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Two we flag ourselves, because age does not explain them.</a:t>
            </a:r>
            <a:r>
              <a:rPr lang="en-US" sz="900" b="0" dirty="0">
                <a:latin typeface="Times New Roman" panose="02020603050405020304" pitchFamily="18" charset="0"/>
                <a:cs typeface="Times New Roman" panose="02020603050405020304" pitchFamily="18" charset="0"/>
              </a:rPr>
              <a:t> Personal LLM Agents (Tsinghua AIR, arXiv:2401.05459) has been a preprint since January 2024 with no venue - we use its vocabulary only, never as an authority. And CRAG (arXiv:2401.15884) was submitted to ICLR 2025 and withdrawn, so it is cited as an approach, not as a published result.</a:t>
            </a:r>
          </a:p>
        </p:txBody>
      </p:sp>
      <p:sp>
        <p:nvSpPr>
          <p:cNvPr id="8" name="Google Shape;85;p8">
            <a:extLst>
              <a:ext uri="{FF2B5EF4-FFF2-40B4-BE49-F238E27FC236}">
                <a16:creationId xmlns:a16="http://schemas.microsoft.com/office/drawing/2014/main" id="{B445AC1F-8D42-9224-714E-741A4A81DCCA}"/>
              </a:ext>
            </a:extLst>
          </p:cNvPr>
          <p:cNvSpPr txBox="1"/>
          <p:nvPr/>
        </p:nvSpPr>
        <p:spPr>
          <a:xfrm>
            <a:off x="1773059" y="3331250"/>
            <a:ext cx="1211100" cy="101295"/>
          </a:xfrm>
          <a:prstGeom prst="rect">
            <a:avLst/>
          </a:prstGeom>
          <a:noFill/>
          <a:ln>
            <a:noFill/>
          </a:ln>
        </p:spPr>
        <p:txBody>
          <a:bodyPr spcFirstLastPara="1" wrap="square" lIns="0" tIns="8875" rIns="0" bIns="0" anchor="t" anchorCtr="0">
            <a:spAutoFit/>
          </a:bodyPr>
          <a:lstStyle/>
          <a:p>
            <a:pPr marL="12700" lvl="0"/>
            <a:endParaRPr lang="en-US" sz="600" dirty="0">
              <a:latin typeface="Times New Roman" panose="02020603050405020304" pitchFamily="18" charset="0"/>
              <a:cs typeface="Times New Roman" panose="02020603050405020304" pitchFamily="18" charset="0"/>
            </a:endParaRPr>
            <a:r>
              <a:rPr lang="en-US" sz="600" dirty="0" b="0">
                <a:solidFill>
                  <a:srgbClr val="FFFFFF"/>
                </a:solidFill>
                <a:latin typeface="Times New Roman" panose="02020603050405020304" pitchFamily="18" charset="0"/>
                <a:cs typeface="Times New Roman" panose="02020603050405020304" pitchFamily="18" charset="0"/>
              </a:rPr>
              <a:t>PERCH</a:t>
            </a:r>
          </a:p>
        </p:txBody>
      </p:sp>
      <p:sp>
        <p:nvSpPr>
          <p:cNvPr id="9" name="Google Shape;72;p7">
            <a:extLst>
              <a:ext uri="{FF2B5EF4-FFF2-40B4-BE49-F238E27FC236}">
                <a16:creationId xmlns:a16="http://schemas.microsoft.com/office/drawing/2014/main" id="{AD0AEF20-4852-6A69-5088-EB2B0F643C44}"/>
              </a:ext>
            </a:extLst>
          </p:cNvPr>
          <p:cNvSpPr txBox="1">
            <a:spLocks noGrp="1"/>
          </p:cNvSpPr>
          <p:nvPr>
            <p:ph type="dt" idx="10"/>
          </p:nvPr>
        </p:nvSpPr>
        <p:spPr>
          <a:xfrm>
            <a:off x="3442063" y="3331251"/>
            <a:ext cx="746093" cy="101295"/>
          </a:xfrm>
          <a:prstGeom prst="rect">
            <a:avLst/>
          </a:prstGeom>
          <a:noFill/>
          <a:ln>
            <a:noFill/>
          </a:ln>
        </p:spPr>
        <p:txBody>
          <a:bodyPr spcFirstLastPara="1" wrap="square" lIns="0" tIns="8875" rIns="0" bIns="0" anchor="t" anchorCtr="0">
            <a:spAutoFit/>
          </a:bodyPr>
          <a:lstStyle/>
          <a:p>
            <a:pPr marL="12700" lvl="0" indent="0" algn="l"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August-2026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1155</TotalTime>
  <Words>6273</Words>
  <Application>Microsoft Office PowerPoint</Application>
  <PresentationFormat>Custom</PresentationFormat>
  <Paragraphs>409</Paragraphs>
  <Slides>26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Times New Roman</vt:lpstr>
      <vt:lpstr>Arial</vt:lpstr>
      <vt:lpstr>Office Theme</vt:lpstr>
      <vt:lpstr>SENTINEL – Stateful Trust and Consensus Scoring for Federated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Deepfake and AI-Powered Attack Detection</dc:title>
  <dc:creator>Yash</dc:creator>
  <cp:lastModifiedBy>Yash Doke</cp:lastModifiedBy>
  <cp:revision>89</cp:revision>
  <dcterms:modified xsi:type="dcterms:W3CDTF">2026-08-11T08:42:00Z</dcterms:modified>
</cp:coreProperties>
</file>